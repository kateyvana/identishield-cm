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1.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0"/>
        </a:solidFill>
      </p:bgPr>
    </p:bg>
    <p:spTree>
      <p:nvGrpSpPr>
        <p:cNvPr id="1" name=""/>
        <p:cNvGrpSpPr/>
        <p:nvPr/>
      </p:nvGrpSpPr>
      <p:grpSpPr>
        <a:xfrm>
          <a:off x="0" y="0"/>
          <a:ext cx="0" cy="0"/>
          <a:chOff x="0" y="0"/>
          <a:chExt cx="0" cy="0"/>
        </a:xfrm>
      </p:grpSpPr>
      <p:pic>
        <p:nvPicPr>
          <p:cNvPr id="2" name="Image 0" descr="/home/claude/design/out/logo_dark.png">    </p:cNvPr>
          <p:cNvPicPr>
            <a:picLocks noChangeAspect="1"/>
          </p:cNvPicPr>
          <p:nvPr/>
        </p:nvPicPr>
        <p:blipFill>
          <a:blip r:embed="rId1"/>
          <a:stretch>
            <a:fillRect/>
          </a:stretch>
        </p:blipFill>
        <p:spPr>
          <a:xfrm>
            <a:off x="640080" y="1097280"/>
            <a:ext cx="6583680" cy="978408"/>
          </a:xfrm>
          <a:prstGeom prst="rect">
            <a:avLst/>
          </a:prstGeom>
        </p:spPr>
      </p:pic>
      <p:sp>
        <p:nvSpPr>
          <p:cNvPr id="3" name="Text 0"/>
          <p:cNvSpPr txBox="1"/>
          <p:nvPr/>
        </p:nvSpPr>
        <p:spPr>
          <a:xfrm>
            <a:off x="640080" y="2468880"/>
            <a:ext cx="8595360" cy="82296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Application mobile — dossier de design</a:t>
            </a:r>
            <a:endParaRPr lang="en-US" sz="4000" dirty="0"/>
          </a:p>
        </p:txBody>
      </p:sp>
      <p:sp>
        <p:nvSpPr>
          <p:cNvPr id="4" name="Text 1"/>
          <p:cNvSpPr txBox="1"/>
          <p:nvPr/>
        </p:nvSpPr>
        <p:spPr>
          <a:xfrm>
            <a:off x="640080" y="3291840"/>
            <a:ext cx="8503920" cy="914400"/>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Enrôlement, réenrôlement, envoi d'argent, alertes : tous les cas, tous les écrans, tous les déroulés</a:t>
            </a:r>
            <a:endParaRPr lang="en-US" sz="1800" dirty="0"/>
          </a:p>
        </p:txBody>
      </p:sp>
      <p:sp>
        <p:nvSpPr>
          <p:cNvPr id="5" name="Text 2"/>
          <p:cNvSpPr txBox="1"/>
          <p:nvPr/>
        </p:nvSpPr>
        <p:spPr>
          <a:xfrm>
            <a:off x="640080" y="4937760"/>
            <a:ext cx="8503920" cy="1188720"/>
          </a:xfrm>
          <a:prstGeom prst="rect">
            <a:avLst/>
          </a:prstGeom>
          <a:noFill/>
          <a:ln/>
        </p:spPr>
        <p:txBody>
          <a:bodyPr wrap="square" lIns="0" tIns="0" rIns="0" bIns="0" rtlCol="0" anchor="ctr"/>
          <a:lstStyle/>
          <a:p>
            <a:pPr indent="0" marL="0">
              <a:spcAft>
                <a:spcPts val="400"/>
              </a:spcAft>
              <a:buNone/>
            </a:pPr>
            <a:r>
              <a:rPr lang="en-US" sz="1300" dirty="0">
                <a:solidFill>
                  <a:srgbClr val="A9BCD6"/>
                </a:solidFill>
                <a:latin typeface="Calibri" pitchFamily="34" charset="0"/>
                <a:ea typeface="Calibri" pitchFamily="34" charset="-122"/>
                <a:cs typeface="Calibri" pitchFamily="34" charset="-120"/>
              </a:rPr>
              <a:t>IdentiShield-CM — Projet de fin d'études, B.Sc. Cyber Security, The ICT University</a:t>
            </a:r>
            <a:endParaRPr lang="en-US" sz="1300" dirty="0"/>
          </a:p>
          <a:p>
            <a:pPr indent="0" marL="0">
              <a:spcAft>
                <a:spcPts val="400"/>
              </a:spcAft>
              <a:buNone/>
            </a:pPr>
            <a:r>
              <a:rPr lang="en-US" sz="1300" dirty="0">
                <a:solidFill>
                  <a:srgbClr val="A9BCD6"/>
                </a:solidFill>
                <a:latin typeface="Calibri" pitchFamily="34" charset="0"/>
                <a:ea typeface="Calibri" pitchFamily="34" charset="-122"/>
                <a:cs typeface="Calibri" pitchFamily="34" charset="-120"/>
              </a:rPr>
              <a:t>YENGUE MESSAH KATE YVANA · ICTU20234409 · Encadreur : Engr. Moune Daniel</a:t>
            </a:r>
            <a:endParaRPr lang="en-US" sz="1300" dirty="0"/>
          </a:p>
          <a:p>
            <a:pPr indent="0" marL="0">
              <a:spcAft>
                <a:spcPts val="400"/>
              </a:spcAft>
              <a:buNone/>
            </a:pPr>
            <a:r>
              <a:rPr lang="en-US" sz="1300" dirty="0">
                <a:solidFill>
                  <a:srgbClr val="A9BCD6"/>
                </a:solidFill>
                <a:latin typeface="Calibri" pitchFamily="34" charset="0"/>
                <a:ea typeface="Calibri" pitchFamily="34" charset="-122"/>
                <a:cs typeface="Calibri" pitchFamily="34" charset="-120"/>
              </a:rPr>
              <a:t>Version 1.0 · 25 septembre 2026 · Données fictives, plage 677 000 000 – 677 009 999</a:t>
            </a:r>
            <a:endParaRPr lang="en-US" sz="1300" dirty="0"/>
          </a:p>
        </p:txBody>
      </p:sp>
      <p:pic>
        <p:nvPicPr>
          <p:cNvPr id="6" name="Image 1" descr="/home/claude/design/out/E11.png">    </p:cNvPr>
          <p:cNvPicPr>
            <a:picLocks noChangeAspect="1"/>
          </p:cNvPicPr>
          <p:nvPr/>
        </p:nvPicPr>
        <p:blipFill>
          <a:blip r:embed="rId2"/>
          <a:stretch>
            <a:fillRect/>
          </a:stretch>
        </p:blipFill>
        <p:spPr>
          <a:xfrm>
            <a:off x="9418320" y="548640"/>
            <a:ext cx="2194560" cy="4507992"/>
          </a:xfrm>
          <a:prstGeom prst="rect">
            <a:avLst/>
          </a:prstGeom>
        </p:spPr>
      </p:pic>
      <p:sp>
        <p:nvSpPr>
          <p:cNvPr id="7" name="Text 3"/>
          <p:cNvSpPr txBox="1"/>
          <p:nvPr/>
        </p:nvSpPr>
        <p:spPr>
          <a:xfrm>
            <a:off x="457200" y="6446520"/>
            <a:ext cx="8229600" cy="274320"/>
          </a:xfrm>
          <a:prstGeom prst="rect">
            <a:avLst/>
          </a:prstGeom>
          <a:noFill/>
          <a:ln/>
        </p:spPr>
        <p:txBody>
          <a:bodyPr wrap="square" lIns="0" tIns="0" rIns="0" bIns="0" rtlCol="0" anchor="ctr"/>
          <a:lstStyle/>
          <a:p>
            <a:pPr indent="0" marL="0">
              <a:buNone/>
            </a:pPr>
            <a:r>
              <a:rPr lang="en-US" sz="900" dirty="0">
                <a:solidFill>
                  <a:srgbClr val="A9BCD6"/>
                </a:solidFill>
                <a:latin typeface="Calibri" pitchFamily="34" charset="0"/>
                <a:ea typeface="Calibri" pitchFamily="34" charset="-122"/>
                <a:cs typeface="Calibri" pitchFamily="34" charset="-120"/>
              </a:rPr>
              <a:t>IdentiShield-CM · Dossier de design de l'application mobile · v1.0 · 25/09/2026</a:t>
            </a:r>
            <a:endParaRPr lang="en-US" sz="900" dirty="0"/>
          </a:p>
        </p:txBody>
      </p:sp>
      <p:sp>
        <p:nvSpPr>
          <p:cNvPr id="8" name="Text 4"/>
          <p:cNvSpPr txBox="1"/>
          <p:nvPr/>
        </p:nvSpPr>
        <p:spPr>
          <a:xfrm>
            <a:off x="11247120" y="6446520"/>
            <a:ext cx="548640" cy="274320"/>
          </a:xfrm>
          <a:prstGeom prst="rect">
            <a:avLst/>
          </a:prstGeom>
          <a:noFill/>
          <a:ln/>
        </p:spPr>
        <p:txBody>
          <a:bodyPr wrap="square" lIns="0" tIns="0" rIns="0" bIns="0" rtlCol="0" anchor="ctr"/>
          <a:lstStyle/>
          <a:p>
            <a:pPr algn="r" indent="0" marL="0">
              <a:buNone/>
            </a:pPr>
            <a:r>
              <a:rPr lang="en-US" sz="900" dirty="0">
                <a:solidFill>
                  <a:srgbClr val="A9BCD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3000" b="1" dirty="0">
                <a:solidFill>
                  <a:srgbClr val="10375C"/>
                </a:solidFill>
                <a:latin typeface="Calibri" pitchFamily="34" charset="0"/>
                <a:ea typeface="Calibri" pitchFamily="34" charset="-122"/>
                <a:cs typeface="Calibri" pitchFamily="34" charset="-120"/>
              </a:rPr>
              <a:t>Ce que contient ce dossier</a:t>
            </a:r>
            <a:endParaRPr lang="en-US" sz="3000" dirty="0"/>
          </a:p>
        </p:txBody>
      </p:sp>
      <p:sp>
        <p:nvSpPr>
          <p:cNvPr id="3" name="Text 1"/>
          <p:cNvSpPr txBox="1"/>
          <p:nvPr/>
        </p:nvSpPr>
        <p:spPr>
          <a:xfrm>
            <a:off x="457200" y="914400"/>
            <a:ext cx="11247120" cy="365760"/>
          </a:xfrm>
          <a:prstGeom prst="rect">
            <a:avLst/>
          </a:prstGeom>
          <a:noFill/>
          <a:ln/>
        </p:spPr>
        <p:txBody>
          <a:bodyPr wrap="square" lIns="0" tIns="0" rIns="0" bIns="0" rtlCol="0" anchor="ctr"/>
          <a:lstStyle/>
          <a:p>
            <a:pPr indent="0" marL="0">
              <a:buNone/>
            </a:pPr>
            <a:r>
              <a:rPr lang="en-US" sz="1400" dirty="0">
                <a:solidFill>
                  <a:srgbClr val="5C6B7A"/>
                </a:solidFill>
                <a:latin typeface="Calibri" pitchFamily="34" charset="0"/>
                <a:ea typeface="Calibri" pitchFamily="34" charset="-122"/>
                <a:cs typeface="Calibri" pitchFamily="34" charset="-120"/>
              </a:rPr>
              <a:t>Le design suit la conception fixée le 25 septembre 2026 : numéro, PIN, le serveur décide ; OTP au premier enrôlement seulement ; liaison après validation.</a:t>
            </a:r>
            <a:endParaRPr lang="en-US" sz="1400" dirty="0"/>
          </a:p>
        </p:txBody>
      </p:sp>
      <p:sp>
        <p:nvSpPr>
          <p:cNvPr id="4" name="Shape 2"/>
          <p:cNvSpPr/>
          <p:nvPr/>
        </p:nvSpPr>
        <p:spPr>
          <a:xfrm>
            <a:off x="457200" y="1554480"/>
            <a:ext cx="3566160" cy="1325880"/>
          </a:xfrm>
          <a:prstGeom prst="roundRect">
            <a:avLst>
              <a:gd name="adj" fmla="val 8276"/>
            </a:avLst>
          </a:prstGeom>
          <a:solidFill>
            <a:srgbClr val="F4F7FB"/>
          </a:solidFill>
          <a:ln w="9525">
            <a:solidFill>
              <a:srgbClr val="DCE3EC"/>
            </a:solidFill>
            <a:prstDash val="solid"/>
          </a:ln>
        </p:spPr>
      </p:sp>
      <p:sp>
        <p:nvSpPr>
          <p:cNvPr id="5" name="Shape 3"/>
          <p:cNvSpPr/>
          <p:nvPr/>
        </p:nvSpPr>
        <p:spPr>
          <a:xfrm>
            <a:off x="640080" y="1874520"/>
            <a:ext cx="640080" cy="640080"/>
          </a:xfrm>
          <a:prstGeom prst="ellipse">
            <a:avLst/>
          </a:prstGeom>
          <a:solidFill>
            <a:srgbClr val="10375C"/>
          </a:solidFill>
          <a:ln w="12700">
            <a:solidFill>
              <a:srgbClr val="10375C"/>
            </a:solidFill>
            <a:prstDash val="solid"/>
          </a:ln>
        </p:spPr>
      </p:sp>
      <p:sp>
        <p:nvSpPr>
          <p:cNvPr id="6" name="Text 4"/>
          <p:cNvSpPr txBox="1"/>
          <p:nvPr/>
        </p:nvSpPr>
        <p:spPr>
          <a:xfrm>
            <a:off x="640080" y="187452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txBox="1"/>
          <p:nvPr/>
        </p:nvSpPr>
        <p:spPr>
          <a:xfrm>
            <a:off x="1417320" y="1810512"/>
            <a:ext cx="2514600" cy="45720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Le problème et le rôle de l'application</a:t>
            </a:r>
            <a:endParaRPr lang="en-US" sz="1400" dirty="0"/>
          </a:p>
        </p:txBody>
      </p:sp>
      <p:sp>
        <p:nvSpPr>
          <p:cNvPr id="8" name="Text 6"/>
          <p:cNvSpPr txBox="1"/>
          <p:nvPr/>
        </p:nvSpPr>
        <p:spPr>
          <a:xfrm>
            <a:off x="1417320" y="2267712"/>
            <a:ext cx="2514600" cy="457200"/>
          </a:xfrm>
          <a:prstGeom prst="rect">
            <a:avLst/>
          </a:prstGeom>
          <a:noFill/>
          <a:ln/>
        </p:spPr>
        <p:txBody>
          <a:bodyPr wrap="square" lIns="0" tIns="0" rIns="0" bIns="0" rtlCol="0" anchor="ctr"/>
          <a:lstStyle/>
          <a:p>
            <a:pPr indent="0" marL="0">
              <a:buNone/>
            </a:pPr>
            <a:r>
              <a:rPr lang="en-US" sz="1150" dirty="0">
                <a:solidFill>
                  <a:srgbClr val="5C6B7A"/>
                </a:solidFill>
                <a:latin typeface="Calibri" pitchFamily="34" charset="0"/>
                <a:ea typeface="Calibri" pitchFamily="34" charset="-122"/>
                <a:cs typeface="Calibri" pitchFamily="34" charset="-120"/>
              </a:rPr>
              <a:t>Ancre, verrou, témoin</a:t>
            </a:r>
            <a:endParaRPr lang="en-US" sz="1150" dirty="0"/>
          </a:p>
        </p:txBody>
      </p:sp>
      <p:sp>
        <p:nvSpPr>
          <p:cNvPr id="9" name="Shape 7"/>
          <p:cNvSpPr/>
          <p:nvPr/>
        </p:nvSpPr>
        <p:spPr>
          <a:xfrm>
            <a:off x="4297680" y="1554480"/>
            <a:ext cx="3566160" cy="1325880"/>
          </a:xfrm>
          <a:prstGeom prst="roundRect">
            <a:avLst>
              <a:gd name="adj" fmla="val 8276"/>
            </a:avLst>
          </a:prstGeom>
          <a:solidFill>
            <a:srgbClr val="F4F7FB"/>
          </a:solidFill>
          <a:ln w="9525">
            <a:solidFill>
              <a:srgbClr val="DCE3EC"/>
            </a:solidFill>
            <a:prstDash val="solid"/>
          </a:ln>
        </p:spPr>
      </p:sp>
      <p:sp>
        <p:nvSpPr>
          <p:cNvPr id="10" name="Shape 8"/>
          <p:cNvSpPr/>
          <p:nvPr/>
        </p:nvSpPr>
        <p:spPr>
          <a:xfrm>
            <a:off x="4480560" y="1874520"/>
            <a:ext cx="640080" cy="640080"/>
          </a:xfrm>
          <a:prstGeom prst="ellipse">
            <a:avLst/>
          </a:prstGeom>
          <a:solidFill>
            <a:srgbClr val="10375C"/>
          </a:solidFill>
          <a:ln w="12700">
            <a:solidFill>
              <a:srgbClr val="10375C"/>
            </a:solidFill>
            <a:prstDash val="solid"/>
          </a:ln>
        </p:spPr>
      </p:sp>
      <p:sp>
        <p:nvSpPr>
          <p:cNvPr id="11" name="Text 9"/>
          <p:cNvSpPr txBox="1"/>
          <p:nvPr/>
        </p:nvSpPr>
        <p:spPr>
          <a:xfrm>
            <a:off x="4480560" y="187452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txBox="1"/>
          <p:nvPr/>
        </p:nvSpPr>
        <p:spPr>
          <a:xfrm>
            <a:off x="5257800" y="1810512"/>
            <a:ext cx="2514600" cy="45720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Principes et périmètre</a:t>
            </a:r>
            <a:endParaRPr lang="en-US" sz="1400" dirty="0"/>
          </a:p>
        </p:txBody>
      </p:sp>
      <p:sp>
        <p:nvSpPr>
          <p:cNvPr id="13" name="Text 11"/>
          <p:cNvSpPr txBox="1"/>
          <p:nvPr/>
        </p:nvSpPr>
        <p:spPr>
          <a:xfrm>
            <a:off x="5257800" y="2267712"/>
            <a:ext cx="2514600" cy="457200"/>
          </a:xfrm>
          <a:prstGeom prst="rect">
            <a:avLst/>
          </a:prstGeom>
          <a:noFill/>
          <a:ln/>
        </p:spPr>
        <p:txBody>
          <a:bodyPr wrap="square" lIns="0" tIns="0" rIns="0" bIns="0" rtlCol="0" anchor="ctr"/>
          <a:lstStyle/>
          <a:p>
            <a:pPr indent="0" marL="0">
              <a:buNone/>
            </a:pPr>
            <a:r>
              <a:rPr lang="en-US" sz="1150" dirty="0">
                <a:solidFill>
                  <a:srgbClr val="5C6B7A"/>
                </a:solidFill>
                <a:latin typeface="Calibri" pitchFamily="34" charset="0"/>
                <a:ea typeface="Calibri" pitchFamily="34" charset="-122"/>
                <a:cs typeface="Calibri" pitchFamily="34" charset="-120"/>
              </a:rPr>
              <a:t>Ce que l'app fait, ce qu'elle ne fait pas</a:t>
            </a:r>
            <a:endParaRPr lang="en-US" sz="1150" dirty="0"/>
          </a:p>
        </p:txBody>
      </p:sp>
      <p:sp>
        <p:nvSpPr>
          <p:cNvPr id="14" name="Shape 12"/>
          <p:cNvSpPr/>
          <p:nvPr/>
        </p:nvSpPr>
        <p:spPr>
          <a:xfrm>
            <a:off x="8138160" y="1554480"/>
            <a:ext cx="3566160" cy="1325880"/>
          </a:xfrm>
          <a:prstGeom prst="roundRect">
            <a:avLst>
              <a:gd name="adj" fmla="val 8276"/>
            </a:avLst>
          </a:prstGeom>
          <a:solidFill>
            <a:srgbClr val="F4F7FB"/>
          </a:solidFill>
          <a:ln w="9525">
            <a:solidFill>
              <a:srgbClr val="DCE3EC"/>
            </a:solidFill>
            <a:prstDash val="solid"/>
          </a:ln>
        </p:spPr>
      </p:sp>
      <p:sp>
        <p:nvSpPr>
          <p:cNvPr id="15" name="Shape 13"/>
          <p:cNvSpPr/>
          <p:nvPr/>
        </p:nvSpPr>
        <p:spPr>
          <a:xfrm>
            <a:off x="8321040" y="1874520"/>
            <a:ext cx="640080" cy="640080"/>
          </a:xfrm>
          <a:prstGeom prst="ellipse">
            <a:avLst/>
          </a:prstGeom>
          <a:solidFill>
            <a:srgbClr val="10375C"/>
          </a:solidFill>
          <a:ln w="12700">
            <a:solidFill>
              <a:srgbClr val="10375C"/>
            </a:solidFill>
            <a:prstDash val="solid"/>
          </a:ln>
        </p:spPr>
      </p:sp>
      <p:sp>
        <p:nvSpPr>
          <p:cNvPr id="16" name="Text 14"/>
          <p:cNvSpPr txBox="1"/>
          <p:nvPr/>
        </p:nvSpPr>
        <p:spPr>
          <a:xfrm>
            <a:off x="8321040" y="187452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txBox="1"/>
          <p:nvPr/>
        </p:nvSpPr>
        <p:spPr>
          <a:xfrm>
            <a:off x="9098280" y="1810512"/>
            <a:ext cx="2514600" cy="45720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Identité visuelle</a:t>
            </a:r>
            <a:endParaRPr lang="en-US" sz="1400" dirty="0"/>
          </a:p>
        </p:txBody>
      </p:sp>
      <p:sp>
        <p:nvSpPr>
          <p:cNvPr id="18" name="Text 16"/>
          <p:cNvSpPr txBox="1"/>
          <p:nvPr/>
        </p:nvSpPr>
        <p:spPr>
          <a:xfrm>
            <a:off x="9098280" y="2267712"/>
            <a:ext cx="2514600" cy="457200"/>
          </a:xfrm>
          <a:prstGeom prst="rect">
            <a:avLst/>
          </a:prstGeom>
          <a:noFill/>
          <a:ln/>
        </p:spPr>
        <p:txBody>
          <a:bodyPr wrap="square" lIns="0" tIns="0" rIns="0" bIns="0" rtlCol="0" anchor="ctr"/>
          <a:lstStyle/>
          <a:p>
            <a:pPr indent="0" marL="0">
              <a:buNone/>
            </a:pPr>
            <a:r>
              <a:rPr lang="en-US" sz="1150" dirty="0">
                <a:solidFill>
                  <a:srgbClr val="5C6B7A"/>
                </a:solidFill>
                <a:latin typeface="Calibri" pitchFamily="34" charset="0"/>
                <a:ea typeface="Calibri" pitchFamily="34" charset="-122"/>
                <a:cs typeface="Calibri" pitchFamily="34" charset="-120"/>
              </a:rPr>
              <a:t>Logo, couleurs, typographie, composants</a:t>
            </a:r>
            <a:endParaRPr lang="en-US" sz="1150" dirty="0"/>
          </a:p>
        </p:txBody>
      </p:sp>
      <p:sp>
        <p:nvSpPr>
          <p:cNvPr id="19" name="Shape 17"/>
          <p:cNvSpPr/>
          <p:nvPr/>
        </p:nvSpPr>
        <p:spPr>
          <a:xfrm>
            <a:off x="457200" y="3108960"/>
            <a:ext cx="3566160" cy="1325880"/>
          </a:xfrm>
          <a:prstGeom prst="roundRect">
            <a:avLst>
              <a:gd name="adj" fmla="val 8276"/>
            </a:avLst>
          </a:prstGeom>
          <a:solidFill>
            <a:srgbClr val="F4F7FB"/>
          </a:solidFill>
          <a:ln w="9525">
            <a:solidFill>
              <a:srgbClr val="DCE3EC"/>
            </a:solidFill>
            <a:prstDash val="solid"/>
          </a:ln>
        </p:spPr>
      </p:sp>
      <p:sp>
        <p:nvSpPr>
          <p:cNvPr id="20" name="Shape 18"/>
          <p:cNvSpPr/>
          <p:nvPr/>
        </p:nvSpPr>
        <p:spPr>
          <a:xfrm>
            <a:off x="640080" y="3429000"/>
            <a:ext cx="640080" cy="640080"/>
          </a:xfrm>
          <a:prstGeom prst="ellipse">
            <a:avLst/>
          </a:prstGeom>
          <a:solidFill>
            <a:srgbClr val="10375C"/>
          </a:solidFill>
          <a:ln w="12700">
            <a:solidFill>
              <a:srgbClr val="10375C"/>
            </a:solidFill>
            <a:prstDash val="solid"/>
          </a:ln>
        </p:spPr>
      </p:sp>
      <p:sp>
        <p:nvSpPr>
          <p:cNvPr id="21" name="Text 19"/>
          <p:cNvSpPr txBox="1"/>
          <p:nvPr/>
        </p:nvSpPr>
        <p:spPr>
          <a:xfrm>
            <a:off x="640080" y="34290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2" name="Text 20"/>
          <p:cNvSpPr txBox="1"/>
          <p:nvPr/>
        </p:nvSpPr>
        <p:spPr>
          <a:xfrm>
            <a:off x="1417320" y="3364992"/>
            <a:ext cx="2514600" cy="45720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Flux A — Premier enrôlement</a:t>
            </a:r>
            <a:endParaRPr lang="en-US" sz="1400" dirty="0"/>
          </a:p>
        </p:txBody>
      </p:sp>
      <p:sp>
        <p:nvSpPr>
          <p:cNvPr id="23" name="Text 21"/>
          <p:cNvSpPr txBox="1"/>
          <p:nvPr/>
        </p:nvSpPr>
        <p:spPr>
          <a:xfrm>
            <a:off x="1417320" y="3822192"/>
            <a:ext cx="2514600" cy="457200"/>
          </a:xfrm>
          <a:prstGeom prst="rect">
            <a:avLst/>
          </a:prstGeom>
          <a:noFill/>
          <a:ln/>
        </p:spPr>
        <p:txBody>
          <a:bodyPr wrap="square" lIns="0" tIns="0" rIns="0" bIns="0" rtlCol="0" anchor="ctr"/>
          <a:lstStyle/>
          <a:p>
            <a:pPr indent="0" marL="0">
              <a:buNone/>
            </a:pPr>
            <a:r>
              <a:rPr lang="en-US" sz="1150" dirty="0">
                <a:solidFill>
                  <a:srgbClr val="5C6B7A"/>
                </a:solidFill>
                <a:latin typeface="Calibri" pitchFamily="34" charset="0"/>
                <a:ea typeface="Calibri" pitchFamily="34" charset="-122"/>
                <a:cs typeface="Calibri" pitchFamily="34" charset="-120"/>
              </a:rPr>
              <a:t>Écrans, séquence, cas d'échec</a:t>
            </a:r>
            <a:endParaRPr lang="en-US" sz="1150" dirty="0"/>
          </a:p>
        </p:txBody>
      </p:sp>
      <p:sp>
        <p:nvSpPr>
          <p:cNvPr id="24" name="Shape 22"/>
          <p:cNvSpPr/>
          <p:nvPr/>
        </p:nvSpPr>
        <p:spPr>
          <a:xfrm>
            <a:off x="4297680" y="3108960"/>
            <a:ext cx="3566160" cy="1325880"/>
          </a:xfrm>
          <a:prstGeom prst="roundRect">
            <a:avLst>
              <a:gd name="adj" fmla="val 8276"/>
            </a:avLst>
          </a:prstGeom>
          <a:solidFill>
            <a:srgbClr val="F4F7FB"/>
          </a:solidFill>
          <a:ln w="9525">
            <a:solidFill>
              <a:srgbClr val="DCE3EC"/>
            </a:solidFill>
            <a:prstDash val="solid"/>
          </a:ln>
        </p:spPr>
      </p:sp>
      <p:sp>
        <p:nvSpPr>
          <p:cNvPr id="25" name="Shape 23"/>
          <p:cNvSpPr/>
          <p:nvPr/>
        </p:nvSpPr>
        <p:spPr>
          <a:xfrm>
            <a:off x="4480560" y="3429000"/>
            <a:ext cx="640080" cy="640080"/>
          </a:xfrm>
          <a:prstGeom prst="ellipse">
            <a:avLst/>
          </a:prstGeom>
          <a:solidFill>
            <a:srgbClr val="10375C"/>
          </a:solidFill>
          <a:ln w="12700">
            <a:solidFill>
              <a:srgbClr val="10375C"/>
            </a:solidFill>
            <a:prstDash val="solid"/>
          </a:ln>
        </p:spPr>
      </p:sp>
      <p:sp>
        <p:nvSpPr>
          <p:cNvPr id="26" name="Text 24"/>
          <p:cNvSpPr txBox="1"/>
          <p:nvPr/>
        </p:nvSpPr>
        <p:spPr>
          <a:xfrm>
            <a:off x="4480560" y="34290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7" name="Text 25"/>
          <p:cNvSpPr txBox="1"/>
          <p:nvPr/>
        </p:nvSpPr>
        <p:spPr>
          <a:xfrm>
            <a:off x="5257800" y="3364992"/>
            <a:ext cx="2514600" cy="45720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Flux B — Quotidien</a:t>
            </a:r>
            <a:endParaRPr lang="en-US" sz="1400" dirty="0"/>
          </a:p>
        </p:txBody>
      </p:sp>
      <p:sp>
        <p:nvSpPr>
          <p:cNvPr id="28" name="Text 26"/>
          <p:cNvSpPr txBox="1"/>
          <p:nvPr/>
        </p:nvSpPr>
        <p:spPr>
          <a:xfrm>
            <a:off x="5257800" y="3822192"/>
            <a:ext cx="2514600" cy="457200"/>
          </a:xfrm>
          <a:prstGeom prst="rect">
            <a:avLst/>
          </a:prstGeom>
          <a:noFill/>
          <a:ln/>
        </p:spPr>
        <p:txBody>
          <a:bodyPr wrap="square" lIns="0" tIns="0" rIns="0" bIns="0" rtlCol="0" anchor="ctr"/>
          <a:lstStyle/>
          <a:p>
            <a:pPr indent="0" marL="0">
              <a:buNone/>
            </a:pPr>
            <a:r>
              <a:rPr lang="en-US" sz="1150" dirty="0">
                <a:solidFill>
                  <a:srgbClr val="5C6B7A"/>
                </a:solidFill>
                <a:latin typeface="Calibri" pitchFamily="34" charset="0"/>
                <a:ea typeface="Calibri" pitchFamily="34" charset="-122"/>
                <a:cs typeface="Calibri" pitchFamily="34" charset="-120"/>
              </a:rPr>
              <a:t>Ouverture de session sans OTP</a:t>
            </a:r>
            <a:endParaRPr lang="en-US" sz="1150" dirty="0"/>
          </a:p>
        </p:txBody>
      </p:sp>
      <p:sp>
        <p:nvSpPr>
          <p:cNvPr id="29" name="Shape 27"/>
          <p:cNvSpPr/>
          <p:nvPr/>
        </p:nvSpPr>
        <p:spPr>
          <a:xfrm>
            <a:off x="8138160" y="3108960"/>
            <a:ext cx="3566160" cy="1325880"/>
          </a:xfrm>
          <a:prstGeom prst="roundRect">
            <a:avLst>
              <a:gd name="adj" fmla="val 8276"/>
            </a:avLst>
          </a:prstGeom>
          <a:solidFill>
            <a:srgbClr val="F4F7FB"/>
          </a:solidFill>
          <a:ln w="9525">
            <a:solidFill>
              <a:srgbClr val="DCE3EC"/>
            </a:solidFill>
            <a:prstDash val="solid"/>
          </a:ln>
        </p:spPr>
      </p:sp>
      <p:sp>
        <p:nvSpPr>
          <p:cNvPr id="30" name="Shape 28"/>
          <p:cNvSpPr/>
          <p:nvPr/>
        </p:nvSpPr>
        <p:spPr>
          <a:xfrm>
            <a:off x="8321040" y="3429000"/>
            <a:ext cx="640080" cy="640080"/>
          </a:xfrm>
          <a:prstGeom prst="ellipse">
            <a:avLst/>
          </a:prstGeom>
          <a:solidFill>
            <a:srgbClr val="10375C"/>
          </a:solidFill>
          <a:ln w="12700">
            <a:solidFill>
              <a:srgbClr val="10375C"/>
            </a:solidFill>
            <a:prstDash val="solid"/>
          </a:ln>
        </p:spPr>
      </p:sp>
      <p:sp>
        <p:nvSpPr>
          <p:cNvPr id="31" name="Text 29"/>
          <p:cNvSpPr txBox="1"/>
          <p:nvPr/>
        </p:nvSpPr>
        <p:spPr>
          <a:xfrm>
            <a:off x="8321040" y="34290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32" name="Text 30"/>
          <p:cNvSpPr txBox="1"/>
          <p:nvPr/>
        </p:nvSpPr>
        <p:spPr>
          <a:xfrm>
            <a:off x="9098280" y="3364992"/>
            <a:ext cx="2514600" cy="45720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Flux C — Envoyer de l'argent</a:t>
            </a:r>
            <a:endParaRPr lang="en-US" sz="1400" dirty="0"/>
          </a:p>
        </p:txBody>
      </p:sp>
      <p:sp>
        <p:nvSpPr>
          <p:cNvPr id="33" name="Text 31"/>
          <p:cNvSpPr txBox="1"/>
          <p:nvPr/>
        </p:nvSpPr>
        <p:spPr>
          <a:xfrm>
            <a:off x="9098280" y="3822192"/>
            <a:ext cx="2514600" cy="457200"/>
          </a:xfrm>
          <a:prstGeom prst="rect">
            <a:avLst/>
          </a:prstGeom>
          <a:noFill/>
          <a:ln/>
        </p:spPr>
        <p:txBody>
          <a:bodyPr wrap="square" lIns="0" tIns="0" rIns="0" bIns="0" rtlCol="0" anchor="ctr"/>
          <a:lstStyle/>
          <a:p>
            <a:pPr indent="0" marL="0">
              <a:buNone/>
            </a:pPr>
            <a:r>
              <a:rPr lang="en-US" sz="1150" dirty="0">
                <a:solidFill>
                  <a:srgbClr val="5C6B7A"/>
                </a:solidFill>
                <a:latin typeface="Calibri" pitchFamily="34" charset="0"/>
                <a:ea typeface="Calibri" pitchFamily="34" charset="-122"/>
                <a:cs typeface="Calibri" pitchFamily="34" charset="-120"/>
              </a:rPr>
              <a:t>Signature, quatre décisions</a:t>
            </a:r>
            <a:endParaRPr lang="en-US" sz="1150" dirty="0"/>
          </a:p>
        </p:txBody>
      </p:sp>
      <p:sp>
        <p:nvSpPr>
          <p:cNvPr id="34" name="Shape 32"/>
          <p:cNvSpPr/>
          <p:nvPr/>
        </p:nvSpPr>
        <p:spPr>
          <a:xfrm>
            <a:off x="457200" y="4663440"/>
            <a:ext cx="3566160" cy="1325880"/>
          </a:xfrm>
          <a:prstGeom prst="roundRect">
            <a:avLst>
              <a:gd name="adj" fmla="val 8276"/>
            </a:avLst>
          </a:prstGeom>
          <a:solidFill>
            <a:srgbClr val="F4F7FB"/>
          </a:solidFill>
          <a:ln w="9525">
            <a:solidFill>
              <a:srgbClr val="DCE3EC"/>
            </a:solidFill>
            <a:prstDash val="solid"/>
          </a:ln>
        </p:spPr>
      </p:sp>
      <p:sp>
        <p:nvSpPr>
          <p:cNvPr id="35" name="Shape 33"/>
          <p:cNvSpPr/>
          <p:nvPr/>
        </p:nvSpPr>
        <p:spPr>
          <a:xfrm>
            <a:off x="640080" y="4983480"/>
            <a:ext cx="640080" cy="640080"/>
          </a:xfrm>
          <a:prstGeom prst="ellipse">
            <a:avLst/>
          </a:prstGeom>
          <a:solidFill>
            <a:srgbClr val="10375C"/>
          </a:solidFill>
          <a:ln w="12700">
            <a:solidFill>
              <a:srgbClr val="10375C"/>
            </a:solidFill>
            <a:prstDash val="solid"/>
          </a:ln>
        </p:spPr>
      </p:sp>
      <p:sp>
        <p:nvSpPr>
          <p:cNvPr id="36" name="Text 34"/>
          <p:cNvSpPr txBox="1"/>
          <p:nvPr/>
        </p:nvSpPr>
        <p:spPr>
          <a:xfrm>
            <a:off x="640080" y="498348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7</a:t>
            </a:r>
            <a:endParaRPr lang="en-US" sz="1800" dirty="0"/>
          </a:p>
        </p:txBody>
      </p:sp>
      <p:sp>
        <p:nvSpPr>
          <p:cNvPr id="37" name="Text 35"/>
          <p:cNvSpPr txBox="1"/>
          <p:nvPr/>
        </p:nvSpPr>
        <p:spPr>
          <a:xfrm>
            <a:off x="1417320" y="4919472"/>
            <a:ext cx="2514600" cy="45720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Flux D — Réenrôlement</a:t>
            </a:r>
            <a:endParaRPr lang="en-US" sz="1400" dirty="0"/>
          </a:p>
        </p:txBody>
      </p:sp>
      <p:sp>
        <p:nvSpPr>
          <p:cNvPr id="38" name="Text 36"/>
          <p:cNvSpPr txBox="1"/>
          <p:nvPr/>
        </p:nvSpPr>
        <p:spPr>
          <a:xfrm>
            <a:off x="1417320" y="5376672"/>
            <a:ext cx="2514600" cy="457200"/>
          </a:xfrm>
          <a:prstGeom prst="rect">
            <a:avLst/>
          </a:prstGeom>
          <a:noFill/>
          <a:ln/>
        </p:spPr>
        <p:txBody>
          <a:bodyPr wrap="square" lIns="0" tIns="0" rIns="0" bIns="0" rtlCol="0" anchor="ctr"/>
          <a:lstStyle/>
          <a:p>
            <a:pPr indent="0" marL="0">
              <a:buNone/>
            </a:pPr>
            <a:r>
              <a:rPr lang="en-US" sz="1150" dirty="0">
                <a:solidFill>
                  <a:srgbClr val="5C6B7A"/>
                </a:solidFill>
                <a:latin typeface="Calibri" pitchFamily="34" charset="0"/>
                <a:ea typeface="Calibri" pitchFamily="34" charset="-122"/>
                <a:cs typeface="Calibri" pitchFamily="34" charset="-120"/>
              </a:rPr>
              <a:t>Titulaire honnête et attaquant</a:t>
            </a:r>
            <a:endParaRPr lang="en-US" sz="1150" dirty="0"/>
          </a:p>
        </p:txBody>
      </p:sp>
      <p:sp>
        <p:nvSpPr>
          <p:cNvPr id="39" name="Shape 37"/>
          <p:cNvSpPr/>
          <p:nvPr/>
        </p:nvSpPr>
        <p:spPr>
          <a:xfrm>
            <a:off x="4297680" y="4663440"/>
            <a:ext cx="3566160" cy="1325880"/>
          </a:xfrm>
          <a:prstGeom prst="roundRect">
            <a:avLst>
              <a:gd name="adj" fmla="val 8276"/>
            </a:avLst>
          </a:prstGeom>
          <a:solidFill>
            <a:srgbClr val="F4F7FB"/>
          </a:solidFill>
          <a:ln w="9525">
            <a:solidFill>
              <a:srgbClr val="DCE3EC"/>
            </a:solidFill>
            <a:prstDash val="solid"/>
          </a:ln>
        </p:spPr>
      </p:sp>
      <p:sp>
        <p:nvSpPr>
          <p:cNvPr id="40" name="Shape 38"/>
          <p:cNvSpPr/>
          <p:nvPr/>
        </p:nvSpPr>
        <p:spPr>
          <a:xfrm>
            <a:off x="4480560" y="4983480"/>
            <a:ext cx="640080" cy="640080"/>
          </a:xfrm>
          <a:prstGeom prst="ellipse">
            <a:avLst/>
          </a:prstGeom>
          <a:solidFill>
            <a:srgbClr val="10375C"/>
          </a:solidFill>
          <a:ln w="12700">
            <a:solidFill>
              <a:srgbClr val="10375C"/>
            </a:solidFill>
            <a:prstDash val="solid"/>
          </a:ln>
        </p:spPr>
      </p:sp>
      <p:sp>
        <p:nvSpPr>
          <p:cNvPr id="41" name="Text 39"/>
          <p:cNvSpPr txBox="1"/>
          <p:nvPr/>
        </p:nvSpPr>
        <p:spPr>
          <a:xfrm>
            <a:off x="4480560" y="498348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8</a:t>
            </a:r>
            <a:endParaRPr lang="en-US" sz="1800" dirty="0"/>
          </a:p>
        </p:txBody>
      </p:sp>
      <p:sp>
        <p:nvSpPr>
          <p:cNvPr id="42" name="Text 40"/>
          <p:cNvSpPr txBox="1"/>
          <p:nvPr/>
        </p:nvSpPr>
        <p:spPr>
          <a:xfrm>
            <a:off x="5257800" y="4919472"/>
            <a:ext cx="2514600" cy="45720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Flux F — Alertes</a:t>
            </a:r>
            <a:endParaRPr lang="en-US" sz="1400" dirty="0"/>
          </a:p>
        </p:txBody>
      </p:sp>
      <p:sp>
        <p:nvSpPr>
          <p:cNvPr id="43" name="Text 41"/>
          <p:cNvSpPr txBox="1"/>
          <p:nvPr/>
        </p:nvSpPr>
        <p:spPr>
          <a:xfrm>
            <a:off x="5257800" y="5376672"/>
            <a:ext cx="2514600" cy="457200"/>
          </a:xfrm>
          <a:prstGeom prst="rect">
            <a:avLst/>
          </a:prstGeom>
          <a:noFill/>
          <a:ln/>
        </p:spPr>
        <p:txBody>
          <a:bodyPr wrap="square" lIns="0" tIns="0" rIns="0" bIns="0" rtlCol="0" anchor="ctr"/>
          <a:lstStyle/>
          <a:p>
            <a:pPr indent="0" marL="0">
              <a:buNone/>
            </a:pPr>
            <a:r>
              <a:rPr lang="en-US" sz="1150" dirty="0">
                <a:solidFill>
                  <a:srgbClr val="5C6B7A"/>
                </a:solidFill>
                <a:latin typeface="Calibri" pitchFamily="34" charset="0"/>
                <a:ea typeface="Calibri" pitchFamily="34" charset="-122"/>
                <a:cs typeface="Calibri" pitchFamily="34" charset="-120"/>
              </a:rPr>
              <a:t>« C'est moi / ce n'est pas moi »</a:t>
            </a:r>
            <a:endParaRPr lang="en-US" sz="1150" dirty="0"/>
          </a:p>
        </p:txBody>
      </p:sp>
      <p:sp>
        <p:nvSpPr>
          <p:cNvPr id="44" name="Shape 42"/>
          <p:cNvSpPr/>
          <p:nvPr/>
        </p:nvSpPr>
        <p:spPr>
          <a:xfrm>
            <a:off x="8138160" y="4663440"/>
            <a:ext cx="3566160" cy="1325880"/>
          </a:xfrm>
          <a:prstGeom prst="roundRect">
            <a:avLst>
              <a:gd name="adj" fmla="val 8276"/>
            </a:avLst>
          </a:prstGeom>
          <a:solidFill>
            <a:srgbClr val="F4F7FB"/>
          </a:solidFill>
          <a:ln w="9525">
            <a:solidFill>
              <a:srgbClr val="DCE3EC"/>
            </a:solidFill>
            <a:prstDash val="solid"/>
          </a:ln>
        </p:spPr>
      </p:sp>
      <p:sp>
        <p:nvSpPr>
          <p:cNvPr id="45" name="Shape 43"/>
          <p:cNvSpPr/>
          <p:nvPr/>
        </p:nvSpPr>
        <p:spPr>
          <a:xfrm>
            <a:off x="8321040" y="4983480"/>
            <a:ext cx="640080" cy="640080"/>
          </a:xfrm>
          <a:prstGeom prst="ellipse">
            <a:avLst/>
          </a:prstGeom>
          <a:solidFill>
            <a:srgbClr val="10375C"/>
          </a:solidFill>
          <a:ln w="12700">
            <a:solidFill>
              <a:srgbClr val="10375C"/>
            </a:solidFill>
            <a:prstDash val="solid"/>
          </a:ln>
        </p:spPr>
      </p:sp>
      <p:sp>
        <p:nvSpPr>
          <p:cNvPr id="46" name="Text 44"/>
          <p:cNvSpPr txBox="1"/>
          <p:nvPr/>
        </p:nvSpPr>
        <p:spPr>
          <a:xfrm>
            <a:off x="8321040" y="498348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9</a:t>
            </a:r>
            <a:endParaRPr lang="en-US" sz="1800" dirty="0"/>
          </a:p>
        </p:txBody>
      </p:sp>
      <p:sp>
        <p:nvSpPr>
          <p:cNvPr id="47" name="Text 45"/>
          <p:cNvSpPr txBox="1"/>
          <p:nvPr/>
        </p:nvSpPr>
        <p:spPr>
          <a:xfrm>
            <a:off x="9098280" y="4919472"/>
            <a:ext cx="2514600" cy="45720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Sécurité, accessibilité, décisions</a:t>
            </a:r>
            <a:endParaRPr lang="en-US" sz="1400" dirty="0"/>
          </a:p>
        </p:txBody>
      </p:sp>
      <p:sp>
        <p:nvSpPr>
          <p:cNvPr id="48" name="Text 46"/>
          <p:cNvSpPr txBox="1"/>
          <p:nvPr/>
        </p:nvSpPr>
        <p:spPr>
          <a:xfrm>
            <a:off x="9098280" y="5376672"/>
            <a:ext cx="2514600" cy="457200"/>
          </a:xfrm>
          <a:prstGeom prst="rect">
            <a:avLst/>
          </a:prstGeom>
          <a:noFill/>
          <a:ln/>
        </p:spPr>
        <p:txBody>
          <a:bodyPr wrap="square" lIns="0" tIns="0" rIns="0" bIns="0" rtlCol="0" anchor="ctr"/>
          <a:lstStyle/>
          <a:p>
            <a:pPr indent="0" marL="0">
              <a:buNone/>
            </a:pPr>
            <a:r>
              <a:rPr lang="en-US" sz="1150" dirty="0">
                <a:solidFill>
                  <a:srgbClr val="5C6B7A"/>
                </a:solidFill>
                <a:latin typeface="Calibri" pitchFamily="34" charset="0"/>
                <a:ea typeface="Calibri" pitchFamily="34" charset="-122"/>
                <a:cs typeface="Calibri" pitchFamily="34" charset="-120"/>
              </a:rPr>
              <a:t>Et la suite : du design au code</a:t>
            </a:r>
            <a:endParaRPr lang="en-US" sz="1150" dirty="0"/>
          </a:p>
        </p:txBody>
      </p:sp>
      <p:sp>
        <p:nvSpPr>
          <p:cNvPr id="49" name="Text 47"/>
          <p:cNvSpPr txBox="1"/>
          <p:nvPr/>
        </p:nvSpPr>
        <p:spPr>
          <a:xfrm>
            <a:off x="457200" y="6446520"/>
            <a:ext cx="8229600" cy="274320"/>
          </a:xfrm>
          <a:prstGeom prst="rect">
            <a:avLst/>
          </a:prstGeom>
          <a:noFill/>
          <a:ln/>
        </p:spPr>
        <p:txBody>
          <a:bodyPr wrap="square" lIns="0" tIns="0" rIns="0" bIns="0" rtlCol="0" anchor="ctr"/>
          <a:lstStyle/>
          <a:p>
            <a:pPr indent="0" marL="0">
              <a:buNone/>
            </a:pPr>
            <a:r>
              <a:rPr lang="en-US" sz="900" dirty="0">
                <a:solidFill>
                  <a:srgbClr val="5C6B7A"/>
                </a:solidFill>
                <a:latin typeface="Calibri" pitchFamily="34" charset="0"/>
                <a:ea typeface="Calibri" pitchFamily="34" charset="-122"/>
                <a:cs typeface="Calibri" pitchFamily="34" charset="-120"/>
              </a:rPr>
              <a:t>IdentiShield-CM · Dossier de design de l'application mobile · v1.0 · 25/09/2026</a:t>
            </a:r>
            <a:endParaRPr lang="en-US" sz="900" dirty="0"/>
          </a:p>
        </p:txBody>
      </p:sp>
      <p:sp>
        <p:nvSpPr>
          <p:cNvPr id="50" name="Text 48"/>
          <p:cNvSpPr txBox="1"/>
          <p:nvPr/>
        </p:nvSpPr>
        <p:spPr>
          <a:xfrm>
            <a:off x="11247120" y="6446520"/>
            <a:ext cx="548640" cy="274320"/>
          </a:xfrm>
          <a:prstGeom prst="rect">
            <a:avLst/>
          </a:prstGeom>
          <a:noFill/>
          <a:ln/>
        </p:spPr>
        <p:txBody>
          <a:bodyPr wrap="square" lIns="0" tIns="0" rIns="0" bIns="0"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3000" b="1" dirty="0">
                <a:solidFill>
                  <a:srgbClr val="10375C"/>
                </a:solidFill>
                <a:latin typeface="Calibri" pitchFamily="34" charset="0"/>
                <a:ea typeface="Calibri" pitchFamily="34" charset="-122"/>
                <a:cs typeface="Calibri" pitchFamily="34" charset="-120"/>
              </a:rPr>
              <a:t>Le problème : aujourd'hui, le numéro suffit pour vider un compte</a:t>
            </a:r>
            <a:endParaRPr lang="en-US" sz="3000" dirty="0"/>
          </a:p>
        </p:txBody>
      </p:sp>
      <p:sp>
        <p:nvSpPr>
          <p:cNvPr id="3" name="Text 1"/>
          <p:cNvSpPr txBox="1"/>
          <p:nvPr/>
        </p:nvSpPr>
        <p:spPr>
          <a:xfrm>
            <a:off x="457200" y="914400"/>
            <a:ext cx="11247120" cy="365760"/>
          </a:xfrm>
          <a:prstGeom prst="rect">
            <a:avLst/>
          </a:prstGeom>
          <a:noFill/>
          <a:ln/>
        </p:spPr>
        <p:txBody>
          <a:bodyPr wrap="square" lIns="0" tIns="0" rIns="0" bIns="0" rtlCol="0" anchor="ctr"/>
          <a:lstStyle/>
          <a:p>
            <a:pPr indent="0" marL="0">
              <a:buNone/>
            </a:pPr>
            <a:r>
              <a:rPr lang="en-US" sz="1400" dirty="0">
                <a:solidFill>
                  <a:srgbClr val="5C6B7A"/>
                </a:solidFill>
                <a:latin typeface="Calibri" pitchFamily="34" charset="0"/>
                <a:ea typeface="Calibri" pitchFamily="34" charset="-122"/>
                <a:cs typeface="Calibri" pitchFamily="34" charset="-120"/>
              </a:rPr>
              <a:t>Constat reproduit dans le bac à sable du projet au Mois 2 (scénario AC-02), sur des données fictives.</a:t>
            </a:r>
            <a:endParaRPr lang="en-US" sz="1400" dirty="0"/>
          </a:p>
        </p:txBody>
      </p:sp>
      <p:sp>
        <p:nvSpPr>
          <p:cNvPr id="4" name="Shape 2"/>
          <p:cNvSpPr/>
          <p:nvPr/>
        </p:nvSpPr>
        <p:spPr>
          <a:xfrm>
            <a:off x="457200" y="1554480"/>
            <a:ext cx="3566160" cy="2194560"/>
          </a:xfrm>
          <a:prstGeom prst="roundRect">
            <a:avLst>
              <a:gd name="adj" fmla="val 5000"/>
            </a:avLst>
          </a:prstGeom>
          <a:solidFill>
            <a:srgbClr val="FFFFFF"/>
          </a:solidFill>
          <a:ln w="9525">
            <a:solidFill>
              <a:srgbClr val="DCE3EC"/>
            </a:solidFill>
            <a:prstDash val="solid"/>
          </a:ln>
        </p:spPr>
      </p:sp>
      <p:sp>
        <p:nvSpPr>
          <p:cNvPr id="5" name="Text 3"/>
          <p:cNvSpPr txBox="1"/>
          <p:nvPr/>
        </p:nvSpPr>
        <p:spPr>
          <a:xfrm>
            <a:off x="731520" y="1691640"/>
            <a:ext cx="3017520" cy="1005840"/>
          </a:xfrm>
          <a:prstGeom prst="rect">
            <a:avLst/>
          </a:prstGeom>
          <a:noFill/>
          <a:ln/>
        </p:spPr>
        <p:txBody>
          <a:bodyPr wrap="square" lIns="0" tIns="0" rIns="0" bIns="0" rtlCol="0" anchor="ctr"/>
          <a:lstStyle/>
          <a:p>
            <a:pPr indent="0" marL="0">
              <a:buNone/>
            </a:pPr>
            <a:r>
              <a:rPr lang="en-US" sz="5400" b="1" dirty="0">
                <a:solidFill>
                  <a:srgbClr val="D7263D"/>
                </a:solidFill>
                <a:latin typeface="Calibri" pitchFamily="34" charset="0"/>
                <a:ea typeface="Calibri" pitchFamily="34" charset="-122"/>
                <a:cs typeface="Calibri" pitchFamily="34" charset="-120"/>
              </a:rPr>
              <a:t>3,25 s</a:t>
            </a:r>
            <a:endParaRPr lang="en-US" sz="5400" dirty="0"/>
          </a:p>
        </p:txBody>
      </p:sp>
      <p:sp>
        <p:nvSpPr>
          <p:cNvPr id="6" name="Text 4"/>
          <p:cNvSpPr txBox="1"/>
          <p:nvPr/>
        </p:nvSpPr>
        <p:spPr>
          <a:xfrm>
            <a:off x="731520" y="2697480"/>
            <a:ext cx="3017520" cy="914400"/>
          </a:xfrm>
          <a:prstGeom prst="rect">
            <a:avLst/>
          </a:prstGeom>
          <a:noFill/>
          <a:ln/>
        </p:spPr>
        <p:txBody>
          <a:bodyPr wrap="square" lIns="0" tIns="0" rIns="0" bIns="0" rtlCol="0" anchor="ctr"/>
          <a:lstStyle/>
          <a:p>
            <a:pPr indent="0" marL="0">
              <a:buNone/>
            </a:pPr>
            <a:r>
              <a:rPr lang="en-US" sz="1300" dirty="0">
                <a:solidFill>
                  <a:srgbClr val="14213D"/>
                </a:solidFill>
                <a:latin typeface="Calibri" pitchFamily="34" charset="0"/>
                <a:ea typeface="Calibri" pitchFamily="34" charset="-122"/>
                <a:cs typeface="Calibri" pitchFamily="34" charset="-120"/>
              </a:rPr>
              <a:t>pour vider 500 000 FCFA après une réattribution de SIM, par USSD</a:t>
            </a:r>
            <a:endParaRPr lang="en-US" sz="1300" dirty="0"/>
          </a:p>
        </p:txBody>
      </p:sp>
      <p:sp>
        <p:nvSpPr>
          <p:cNvPr id="7" name="Shape 5"/>
          <p:cNvSpPr/>
          <p:nvPr/>
        </p:nvSpPr>
        <p:spPr>
          <a:xfrm>
            <a:off x="4297680" y="1554480"/>
            <a:ext cx="3566160" cy="2194560"/>
          </a:xfrm>
          <a:prstGeom prst="roundRect">
            <a:avLst>
              <a:gd name="adj" fmla="val 5000"/>
            </a:avLst>
          </a:prstGeom>
          <a:solidFill>
            <a:srgbClr val="FFFFFF"/>
          </a:solidFill>
          <a:ln w="9525">
            <a:solidFill>
              <a:srgbClr val="DCE3EC"/>
            </a:solidFill>
            <a:prstDash val="solid"/>
          </a:ln>
        </p:spPr>
      </p:sp>
      <p:sp>
        <p:nvSpPr>
          <p:cNvPr id="8" name="Text 6"/>
          <p:cNvSpPr txBox="1"/>
          <p:nvPr/>
        </p:nvSpPr>
        <p:spPr>
          <a:xfrm>
            <a:off x="4572000" y="1691640"/>
            <a:ext cx="3017520" cy="1005840"/>
          </a:xfrm>
          <a:prstGeom prst="rect">
            <a:avLst/>
          </a:prstGeom>
          <a:noFill/>
          <a:ln/>
        </p:spPr>
        <p:txBody>
          <a:bodyPr wrap="square" lIns="0" tIns="0" rIns="0" bIns="0" rtlCol="0" anchor="ctr"/>
          <a:lstStyle/>
          <a:p>
            <a:pPr indent="0" marL="0">
              <a:buNone/>
            </a:pPr>
            <a:r>
              <a:rPr lang="en-US" sz="5400" b="1" dirty="0">
                <a:solidFill>
                  <a:srgbClr val="F2A93B"/>
                </a:solidFill>
                <a:latin typeface="Calibri" pitchFamily="34" charset="0"/>
                <a:ea typeface="Calibri" pitchFamily="34" charset="-122"/>
                <a:cs typeface="Calibri" pitchFamily="34" charset="-120"/>
              </a:rPr>
              <a:t>0</a:t>
            </a:r>
            <a:endParaRPr lang="en-US" sz="5400" dirty="0"/>
          </a:p>
        </p:txBody>
      </p:sp>
      <p:sp>
        <p:nvSpPr>
          <p:cNvPr id="9" name="Text 7"/>
          <p:cNvSpPr txBox="1"/>
          <p:nvPr/>
        </p:nvSpPr>
        <p:spPr>
          <a:xfrm>
            <a:off x="4572000" y="2697480"/>
            <a:ext cx="3017520" cy="914400"/>
          </a:xfrm>
          <a:prstGeom prst="rect">
            <a:avLst/>
          </a:prstGeom>
          <a:noFill/>
          <a:ln/>
        </p:spPr>
        <p:txBody>
          <a:bodyPr wrap="square" lIns="0" tIns="0" rIns="0" bIns="0" rtlCol="0" anchor="ctr"/>
          <a:lstStyle/>
          <a:p>
            <a:pPr indent="0" marL="0">
              <a:buNone/>
            </a:pPr>
            <a:r>
              <a:rPr lang="en-US" sz="1300" dirty="0">
                <a:solidFill>
                  <a:srgbClr val="14213D"/>
                </a:solidFill>
                <a:latin typeface="Calibri" pitchFamily="34" charset="0"/>
                <a:ea typeface="Calibri" pitchFamily="34" charset="-122"/>
                <a:cs typeface="Calibri" pitchFamily="34" charset="-120"/>
              </a:rPr>
              <a:t>notification reçue par la victime sur son téléphone</a:t>
            </a:r>
            <a:endParaRPr lang="en-US" sz="1300" dirty="0"/>
          </a:p>
        </p:txBody>
      </p:sp>
      <p:sp>
        <p:nvSpPr>
          <p:cNvPr id="10" name="Shape 8"/>
          <p:cNvSpPr/>
          <p:nvPr/>
        </p:nvSpPr>
        <p:spPr>
          <a:xfrm>
            <a:off x="8138160" y="1554480"/>
            <a:ext cx="3566160" cy="2194560"/>
          </a:xfrm>
          <a:prstGeom prst="roundRect">
            <a:avLst>
              <a:gd name="adj" fmla="val 5000"/>
            </a:avLst>
          </a:prstGeom>
          <a:solidFill>
            <a:srgbClr val="FFFFFF"/>
          </a:solidFill>
          <a:ln w="9525">
            <a:solidFill>
              <a:srgbClr val="DCE3EC"/>
            </a:solidFill>
            <a:prstDash val="solid"/>
          </a:ln>
        </p:spPr>
      </p:sp>
      <p:sp>
        <p:nvSpPr>
          <p:cNvPr id="11" name="Text 9"/>
          <p:cNvSpPr txBox="1"/>
          <p:nvPr/>
        </p:nvSpPr>
        <p:spPr>
          <a:xfrm>
            <a:off x="8412480" y="1691640"/>
            <a:ext cx="3017520" cy="1005840"/>
          </a:xfrm>
          <a:prstGeom prst="rect">
            <a:avLst/>
          </a:prstGeom>
          <a:noFill/>
          <a:ln/>
        </p:spPr>
        <p:txBody>
          <a:bodyPr wrap="square" lIns="0" tIns="0" rIns="0" bIns="0" rtlCol="0" anchor="ctr"/>
          <a:lstStyle/>
          <a:p>
            <a:pPr indent="0" marL="0">
              <a:buNone/>
            </a:pPr>
            <a:r>
              <a:rPr lang="en-US" sz="5400" b="1" dirty="0">
                <a:solidFill>
                  <a:srgbClr val="10375C"/>
                </a:solidFill>
                <a:latin typeface="Calibri" pitchFamily="34" charset="0"/>
                <a:ea typeface="Calibri" pitchFamily="34" charset="-122"/>
                <a:cs typeface="Calibri" pitchFamily="34" charset="-120"/>
              </a:rPr>
              <a:t>0</a:t>
            </a:r>
            <a:endParaRPr lang="en-US" sz="5400" dirty="0"/>
          </a:p>
        </p:txBody>
      </p:sp>
      <p:sp>
        <p:nvSpPr>
          <p:cNvPr id="12" name="Text 10"/>
          <p:cNvSpPr txBox="1"/>
          <p:nvPr/>
        </p:nvSpPr>
        <p:spPr>
          <a:xfrm>
            <a:off x="8412480" y="2697480"/>
            <a:ext cx="3017520" cy="914400"/>
          </a:xfrm>
          <a:prstGeom prst="rect">
            <a:avLst/>
          </a:prstGeom>
          <a:noFill/>
          <a:ln/>
        </p:spPr>
        <p:txBody>
          <a:bodyPr wrap="square" lIns="0" tIns="0" rIns="0" bIns="0" rtlCol="0" anchor="ctr"/>
          <a:lstStyle/>
          <a:p>
            <a:pPr indent="0" marL="0">
              <a:buNone/>
            </a:pPr>
            <a:r>
              <a:rPr lang="en-US" sz="1300" dirty="0">
                <a:solidFill>
                  <a:srgbClr val="14213D"/>
                </a:solidFill>
                <a:latin typeface="Calibri" pitchFamily="34" charset="0"/>
                <a:ea typeface="Calibri" pitchFamily="34" charset="-122"/>
                <a:cs typeface="Calibri" pitchFamily="34" charset="-120"/>
              </a:rPr>
              <a:t>décision de sécurité dans le journal : aucun gardien devant le débit</a:t>
            </a:r>
            <a:endParaRPr lang="en-US" sz="1300" dirty="0"/>
          </a:p>
        </p:txBody>
      </p:sp>
      <p:sp>
        <p:nvSpPr>
          <p:cNvPr id="13" name="Shape 11"/>
          <p:cNvSpPr/>
          <p:nvPr/>
        </p:nvSpPr>
        <p:spPr>
          <a:xfrm>
            <a:off x="457200" y="4023360"/>
            <a:ext cx="11247120" cy="2103120"/>
          </a:xfrm>
          <a:prstGeom prst="roundRect">
            <a:avLst>
              <a:gd name="adj" fmla="val 5217"/>
            </a:avLst>
          </a:prstGeom>
          <a:solidFill>
            <a:srgbClr val="E8F1F8"/>
          </a:solidFill>
          <a:ln w="9525">
            <a:solidFill>
              <a:srgbClr val="DCE3EC"/>
            </a:solidFill>
            <a:prstDash val="solid"/>
          </a:ln>
        </p:spPr>
      </p:sp>
      <p:sp>
        <p:nvSpPr>
          <p:cNvPr id="14" name="Text 12"/>
          <p:cNvSpPr txBox="1"/>
          <p:nvPr/>
        </p:nvSpPr>
        <p:spPr>
          <a:xfrm>
            <a:off x="731520" y="4206240"/>
            <a:ext cx="10698480" cy="1828800"/>
          </a:xfrm>
          <a:prstGeom prst="rect">
            <a:avLst/>
          </a:prstGeom>
          <a:noFill/>
          <a:ln/>
        </p:spPr>
        <p:txBody>
          <a:bodyPr wrap="square" lIns="0" tIns="0" rIns="0" bIns="0" rtlCol="0" anchor="t"/>
          <a:lstStyle/>
          <a:p>
            <a:pPr indent="0" marL="0">
              <a:spcAft>
                <a:spcPts val="1000"/>
              </a:spcAft>
              <a:buNone/>
            </a:pPr>
            <a:r>
              <a:rPr lang="en-US" sz="1400" b="1" dirty="0">
                <a:solidFill>
                  <a:srgbClr val="14213D"/>
                </a:solidFill>
                <a:latin typeface="Calibri" pitchFamily="34" charset="0"/>
                <a:ea typeface="Calibri" pitchFamily="34" charset="-122"/>
                <a:cs typeface="Calibri" pitchFamily="34" charset="-120"/>
              </a:rPr>
              <a:t>Pourquoi : </a:t>
            </a:r>
            <a:pPr indent="0" marL="0">
              <a:spcAft>
                <a:spcPts val="1000"/>
              </a:spcAft>
              <a:buNone/>
            </a:pPr>
            <a:r>
              <a:rPr lang="en-US" sz="1400" dirty="0">
                <a:solidFill>
                  <a:srgbClr val="14213D"/>
                </a:solidFill>
                <a:latin typeface="Calibri" pitchFamily="34" charset="0"/>
                <a:ea typeface="Calibri" pitchFamily="34" charset="-122"/>
                <a:cs typeface="Calibri" pitchFamily="34" charset="-120"/>
              </a:rPr>
              <a:t>le code envoyé par SMS (OTP) prouve que l'on possède la carte SIM, pas que l'on est le titulaire. Un SIM-swap, obtenu par ingénierie sociale ou avec un agent complice, transfère à l'attaquant tout ce que le numéro permet : recevoir les OTP, réinitialiser le PIN, vider le compte.</a:t>
            </a:r>
            <a:endParaRPr lang="en-US" sz="1400" dirty="0"/>
          </a:p>
          <a:p>
            <a:pPr indent="0" marL="0">
              <a:spcAft>
                <a:spcPts val="1000"/>
              </a:spcAft>
              <a:buNone/>
            </a:pPr>
            <a:r>
              <a:rPr lang="en-US" sz="1400" b="1" dirty="0">
                <a:solidFill>
                  <a:srgbClr val="14213D"/>
                </a:solidFill>
                <a:latin typeface="Calibri" pitchFamily="34" charset="0"/>
                <a:ea typeface="Calibri" pitchFamily="34" charset="-122"/>
                <a:cs typeface="Calibri" pitchFamily="34" charset="-120"/>
              </a:rPr>
              <a:t>La réponse : </a:t>
            </a:r>
            <a:pPr indent="0" marL="0">
              <a:spcAft>
                <a:spcPts val="1000"/>
              </a:spcAft>
              <a:buNone/>
            </a:pPr>
            <a:r>
              <a:rPr lang="en-US" sz="1400" dirty="0">
                <a:solidFill>
                  <a:srgbClr val="14213D"/>
                </a:solidFill>
                <a:latin typeface="Calibri" pitchFamily="34" charset="0"/>
                <a:ea typeface="Calibri" pitchFamily="34" charset="-122"/>
                <a:cs typeface="Calibri" pitchFamily="34" charset="-120"/>
              </a:rPr>
              <a:t>rendre le numéro insuffisant. Pour opérer, il faut aussi le téléphone physique du titulaire, qui garde une clé que personne ne peut copier. C'est l'application qui porte cette clé.</a:t>
            </a:r>
            <a:endParaRPr lang="en-US" sz="1400" dirty="0"/>
          </a:p>
        </p:txBody>
      </p:sp>
      <p:sp>
        <p:nvSpPr>
          <p:cNvPr id="15" name="Text 13"/>
          <p:cNvSpPr txBox="1"/>
          <p:nvPr/>
        </p:nvSpPr>
        <p:spPr>
          <a:xfrm>
            <a:off x="457200" y="6446520"/>
            <a:ext cx="8229600" cy="274320"/>
          </a:xfrm>
          <a:prstGeom prst="rect">
            <a:avLst/>
          </a:prstGeom>
          <a:noFill/>
          <a:ln/>
        </p:spPr>
        <p:txBody>
          <a:bodyPr wrap="square" lIns="0" tIns="0" rIns="0" bIns="0" rtlCol="0" anchor="ctr"/>
          <a:lstStyle/>
          <a:p>
            <a:pPr indent="0" marL="0">
              <a:buNone/>
            </a:pPr>
            <a:r>
              <a:rPr lang="en-US" sz="900" dirty="0">
                <a:solidFill>
                  <a:srgbClr val="5C6B7A"/>
                </a:solidFill>
                <a:latin typeface="Calibri" pitchFamily="34" charset="0"/>
                <a:ea typeface="Calibri" pitchFamily="34" charset="-122"/>
                <a:cs typeface="Calibri" pitchFamily="34" charset="-120"/>
              </a:rPr>
              <a:t>IdentiShield-CM · Dossier de design de l'application mobile · v1.0 · 25/09/2026</a:t>
            </a:r>
            <a:endParaRPr lang="en-US" sz="900" dirty="0"/>
          </a:p>
        </p:txBody>
      </p:sp>
      <p:sp>
        <p:nvSpPr>
          <p:cNvPr id="16" name="Text 14"/>
          <p:cNvSpPr txBox="1"/>
          <p:nvPr/>
        </p:nvSpPr>
        <p:spPr>
          <a:xfrm>
            <a:off x="11247120" y="6446520"/>
            <a:ext cx="548640" cy="274320"/>
          </a:xfrm>
          <a:prstGeom prst="rect">
            <a:avLst/>
          </a:prstGeom>
          <a:noFill/>
          <a:ln/>
        </p:spPr>
        <p:txBody>
          <a:bodyPr wrap="square" lIns="0" tIns="0" rIns="0" bIns="0"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3000" b="1" dirty="0">
                <a:solidFill>
                  <a:srgbClr val="10375C"/>
                </a:solidFill>
                <a:latin typeface="Calibri" pitchFamily="34" charset="0"/>
                <a:ea typeface="Calibri" pitchFamily="34" charset="-122"/>
                <a:cs typeface="Calibri" pitchFamily="34" charset="-120"/>
              </a:rPr>
              <a:t>Les trois rôles de l'application</a:t>
            </a:r>
            <a:endParaRPr lang="en-US" sz="3000" dirty="0"/>
          </a:p>
        </p:txBody>
      </p:sp>
      <p:sp>
        <p:nvSpPr>
          <p:cNvPr id="3" name="Shape 1"/>
          <p:cNvSpPr/>
          <p:nvPr/>
        </p:nvSpPr>
        <p:spPr>
          <a:xfrm>
            <a:off x="457200" y="1188720"/>
            <a:ext cx="3566160" cy="5029200"/>
          </a:xfrm>
          <a:prstGeom prst="roundRect">
            <a:avLst>
              <a:gd name="adj" fmla="val 3077"/>
            </a:avLst>
          </a:prstGeom>
          <a:solidFill>
            <a:srgbClr val="F4F7FB"/>
          </a:solidFill>
          <a:ln w="9525">
            <a:solidFill>
              <a:srgbClr val="DCE3EC"/>
            </a:solidFill>
            <a:prstDash val="solid"/>
          </a:ln>
        </p:spPr>
      </p:sp>
      <p:sp>
        <p:nvSpPr>
          <p:cNvPr id="4" name="Text 2"/>
          <p:cNvSpPr txBox="1"/>
          <p:nvPr/>
        </p:nvSpPr>
        <p:spPr>
          <a:xfrm>
            <a:off x="685800" y="1325880"/>
            <a:ext cx="640080" cy="548640"/>
          </a:xfrm>
          <a:prstGeom prst="rect">
            <a:avLst/>
          </a:prstGeom>
          <a:noFill/>
          <a:ln/>
        </p:spPr>
        <p:txBody>
          <a:bodyPr wrap="square" lIns="0" tIns="0" rIns="0" bIns="0" rtlCol="0" anchor="ctr"/>
          <a:lstStyle/>
          <a:p>
            <a:pPr indent="0" marL="0">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5" name="Text 3"/>
          <p:cNvSpPr txBox="1"/>
          <p:nvPr/>
        </p:nvSpPr>
        <p:spPr>
          <a:xfrm>
            <a:off x="1325880" y="1371600"/>
            <a:ext cx="2560320" cy="457200"/>
          </a:xfrm>
          <a:prstGeom prst="rect">
            <a:avLst/>
          </a:prstGeom>
          <a:noFill/>
          <a:ln/>
        </p:spPr>
        <p:txBody>
          <a:bodyPr wrap="square" lIns="0" tIns="0" rIns="0" bIns="0" rtlCol="0" anchor="ctr"/>
          <a:lstStyle/>
          <a:p>
            <a:pPr indent="0" marL="0">
              <a:buNone/>
            </a:pPr>
            <a:r>
              <a:rPr lang="en-US" sz="1600" b="1" dirty="0">
                <a:solidFill>
                  <a:srgbClr val="10375C"/>
                </a:solidFill>
                <a:latin typeface="Calibri" pitchFamily="34" charset="0"/>
                <a:ea typeface="Calibri" pitchFamily="34" charset="-122"/>
                <a:cs typeface="Calibri" pitchFamily="34" charset="-120"/>
              </a:rPr>
              <a:t>L'ancre de possession</a:t>
            </a:r>
            <a:endParaRPr lang="en-US" sz="1600" dirty="0"/>
          </a:p>
        </p:txBody>
      </p:sp>
      <p:sp>
        <p:nvSpPr>
          <p:cNvPr id="6" name="Text 4"/>
          <p:cNvSpPr txBox="1"/>
          <p:nvPr/>
        </p:nvSpPr>
        <p:spPr>
          <a:xfrm>
            <a:off x="685800" y="1965960"/>
            <a:ext cx="3108960" cy="1737360"/>
          </a:xfrm>
          <a:prstGeom prst="rect">
            <a:avLst/>
          </a:prstGeom>
          <a:noFill/>
          <a:ln/>
        </p:spPr>
        <p:txBody>
          <a:bodyPr wrap="square" lIns="0" tIns="0" rIns="0" bIns="0" rtlCol="0" anchor="t"/>
          <a:lstStyle/>
          <a:p>
            <a:pPr indent="0" marL="0">
              <a:buNone/>
            </a:pPr>
            <a:r>
              <a:rPr lang="en-US" sz="1200" dirty="0">
                <a:solidFill>
                  <a:srgbClr val="14213D"/>
                </a:solidFill>
                <a:latin typeface="Calibri" pitchFamily="34" charset="0"/>
                <a:ea typeface="Calibri" pitchFamily="34" charset="-122"/>
                <a:cs typeface="Calibri" pitchFamily="34" charset="-120"/>
              </a:rPr>
              <a:t>Une clé naît dans la puce sécurisée du téléphone et n'en sort jamais. Chaque envoi d'argent est signé par elle. Le serveur n'accepte que ce qu'elle a signé. Posséder la SIM ne suffit plus.</a:t>
            </a:r>
            <a:endParaRPr lang="en-US" sz="1200" dirty="0"/>
          </a:p>
        </p:txBody>
      </p:sp>
      <p:pic>
        <p:nvPicPr>
          <p:cNvPr id="7" name="Image 0" descr="/home/claude/design/out/E15.png">    </p:cNvPr>
          <p:cNvPicPr>
            <a:picLocks noChangeAspect="1"/>
          </p:cNvPicPr>
          <p:nvPr/>
        </p:nvPicPr>
        <p:blipFill>
          <a:blip r:embed="rId1"/>
          <a:stretch>
            <a:fillRect/>
          </a:stretch>
        </p:blipFill>
        <p:spPr>
          <a:xfrm>
            <a:off x="1691640" y="3703320"/>
            <a:ext cx="1097280" cy="2249424"/>
          </a:xfrm>
          <a:prstGeom prst="rect">
            <a:avLst/>
          </a:prstGeom>
        </p:spPr>
      </p:pic>
      <p:sp>
        <p:nvSpPr>
          <p:cNvPr id="8" name="Shape 5"/>
          <p:cNvSpPr/>
          <p:nvPr/>
        </p:nvSpPr>
        <p:spPr>
          <a:xfrm>
            <a:off x="4297680" y="1188720"/>
            <a:ext cx="3566160" cy="5029200"/>
          </a:xfrm>
          <a:prstGeom prst="roundRect">
            <a:avLst>
              <a:gd name="adj" fmla="val 3077"/>
            </a:avLst>
          </a:prstGeom>
          <a:solidFill>
            <a:srgbClr val="E3F5F2"/>
          </a:solidFill>
          <a:ln w="9525">
            <a:solidFill>
              <a:srgbClr val="DCE3EC"/>
            </a:solidFill>
            <a:prstDash val="solid"/>
          </a:ln>
        </p:spPr>
      </p:sp>
      <p:sp>
        <p:nvSpPr>
          <p:cNvPr id="9" name="Text 6"/>
          <p:cNvSpPr txBox="1"/>
          <p:nvPr/>
        </p:nvSpPr>
        <p:spPr>
          <a:xfrm>
            <a:off x="4526280" y="1325880"/>
            <a:ext cx="640080" cy="548640"/>
          </a:xfrm>
          <a:prstGeom prst="rect">
            <a:avLst/>
          </a:prstGeom>
          <a:noFill/>
          <a:ln/>
        </p:spPr>
        <p:txBody>
          <a:bodyPr wrap="square" lIns="0" tIns="0" rIns="0" bIns="0" rtlCol="0" anchor="ctr"/>
          <a:lstStyle/>
          <a:p>
            <a:pPr indent="0" marL="0">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10" name="Text 7"/>
          <p:cNvSpPr txBox="1"/>
          <p:nvPr/>
        </p:nvSpPr>
        <p:spPr>
          <a:xfrm>
            <a:off x="5166360" y="1371600"/>
            <a:ext cx="2560320" cy="457200"/>
          </a:xfrm>
          <a:prstGeom prst="rect">
            <a:avLst/>
          </a:prstGeom>
          <a:noFill/>
          <a:ln/>
        </p:spPr>
        <p:txBody>
          <a:bodyPr wrap="square" lIns="0" tIns="0" rIns="0" bIns="0" rtlCol="0" anchor="ctr"/>
          <a:lstStyle/>
          <a:p>
            <a:pPr indent="0" marL="0">
              <a:buNone/>
            </a:pPr>
            <a:r>
              <a:rPr lang="en-US" sz="1600" b="1" dirty="0">
                <a:solidFill>
                  <a:srgbClr val="10375C"/>
                </a:solidFill>
                <a:latin typeface="Calibri" pitchFamily="34" charset="0"/>
                <a:ea typeface="Calibri" pitchFamily="34" charset="-122"/>
                <a:cs typeface="Calibri" pitchFamily="34" charset="-120"/>
              </a:rPr>
              <a:t>Le verrou du réenrôlement</a:t>
            </a:r>
            <a:endParaRPr lang="en-US" sz="1600" dirty="0"/>
          </a:p>
        </p:txBody>
      </p:sp>
      <p:sp>
        <p:nvSpPr>
          <p:cNvPr id="11" name="Text 8"/>
          <p:cNvSpPr txBox="1"/>
          <p:nvPr/>
        </p:nvSpPr>
        <p:spPr>
          <a:xfrm>
            <a:off x="4526280" y="1965960"/>
            <a:ext cx="3108960" cy="1737360"/>
          </a:xfrm>
          <a:prstGeom prst="rect">
            <a:avLst/>
          </a:prstGeom>
          <a:noFill/>
          <a:ln/>
        </p:spPr>
        <p:txBody>
          <a:bodyPr wrap="square" lIns="0" tIns="0" rIns="0" bIns="0" rtlCol="0" anchor="t"/>
          <a:lstStyle/>
          <a:p>
            <a:pPr indent="0" marL="0">
              <a:buNone/>
            </a:pPr>
            <a:r>
              <a:rPr lang="en-US" sz="1200" dirty="0">
                <a:solidFill>
                  <a:srgbClr val="14213D"/>
                </a:solidFill>
                <a:latin typeface="Calibri" pitchFamily="34" charset="0"/>
                <a:ea typeface="Calibri" pitchFamily="34" charset="-122"/>
                <a:cs typeface="Calibri" pitchFamily="34" charset="-120"/>
              </a:rPr>
              <a:t>Un compte déjà lié ne se lie à un autre téléphone qu'avec la clé de récupération remise une seule fois au titulaire. L'attaquant qui a la SIM mais pas la clé est arrêté, et chaque essai le freine sans jamais bloquer le titulaire.</a:t>
            </a:r>
            <a:endParaRPr lang="en-US" sz="1200" dirty="0"/>
          </a:p>
        </p:txBody>
      </p:sp>
      <p:pic>
        <p:nvPicPr>
          <p:cNvPr id="12" name="Image 1" descr="/home/claude/design/out/E20.png">    </p:cNvPr>
          <p:cNvPicPr>
            <a:picLocks noChangeAspect="1"/>
          </p:cNvPicPr>
          <p:nvPr/>
        </p:nvPicPr>
        <p:blipFill>
          <a:blip r:embed="rId2"/>
          <a:stretch>
            <a:fillRect/>
          </a:stretch>
        </p:blipFill>
        <p:spPr>
          <a:xfrm>
            <a:off x="5532120" y="3703320"/>
            <a:ext cx="1097280" cy="2249424"/>
          </a:xfrm>
          <a:prstGeom prst="rect">
            <a:avLst/>
          </a:prstGeom>
        </p:spPr>
      </p:pic>
      <p:sp>
        <p:nvSpPr>
          <p:cNvPr id="13" name="Shape 9"/>
          <p:cNvSpPr/>
          <p:nvPr/>
        </p:nvSpPr>
        <p:spPr>
          <a:xfrm>
            <a:off x="8138160" y="1188720"/>
            <a:ext cx="3566160" cy="5029200"/>
          </a:xfrm>
          <a:prstGeom prst="roundRect">
            <a:avLst>
              <a:gd name="adj" fmla="val 3077"/>
            </a:avLst>
          </a:prstGeom>
          <a:solidFill>
            <a:srgbClr val="F4F7FB"/>
          </a:solidFill>
          <a:ln w="9525">
            <a:solidFill>
              <a:srgbClr val="DCE3EC"/>
            </a:solidFill>
            <a:prstDash val="solid"/>
          </a:ln>
        </p:spPr>
      </p:sp>
      <p:sp>
        <p:nvSpPr>
          <p:cNvPr id="14" name="Text 10"/>
          <p:cNvSpPr txBox="1"/>
          <p:nvPr/>
        </p:nvSpPr>
        <p:spPr>
          <a:xfrm>
            <a:off x="8366760" y="1325880"/>
            <a:ext cx="640080" cy="548640"/>
          </a:xfrm>
          <a:prstGeom prst="rect">
            <a:avLst/>
          </a:prstGeom>
          <a:noFill/>
          <a:ln/>
        </p:spPr>
        <p:txBody>
          <a:bodyPr wrap="square" lIns="0" tIns="0" rIns="0" bIns="0" rtlCol="0" anchor="ctr"/>
          <a:lstStyle/>
          <a:p>
            <a:pPr indent="0" marL="0">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15" name="Text 11"/>
          <p:cNvSpPr txBox="1"/>
          <p:nvPr/>
        </p:nvSpPr>
        <p:spPr>
          <a:xfrm>
            <a:off x="9006840" y="1371600"/>
            <a:ext cx="2560320" cy="457200"/>
          </a:xfrm>
          <a:prstGeom prst="rect">
            <a:avLst/>
          </a:prstGeom>
          <a:noFill/>
          <a:ln/>
        </p:spPr>
        <p:txBody>
          <a:bodyPr wrap="square" lIns="0" tIns="0" rIns="0" bIns="0" rtlCol="0" anchor="ctr"/>
          <a:lstStyle/>
          <a:p>
            <a:pPr indent="0" marL="0">
              <a:buNone/>
            </a:pPr>
            <a:r>
              <a:rPr lang="en-US" sz="1600" b="1" dirty="0">
                <a:solidFill>
                  <a:srgbClr val="10375C"/>
                </a:solidFill>
                <a:latin typeface="Calibri" pitchFamily="34" charset="0"/>
                <a:ea typeface="Calibri" pitchFamily="34" charset="-122"/>
                <a:cs typeface="Calibri" pitchFamily="34" charset="-120"/>
              </a:rPr>
              <a:t>Le témoin</a:t>
            </a:r>
            <a:endParaRPr lang="en-US" sz="1600" dirty="0"/>
          </a:p>
        </p:txBody>
      </p:sp>
      <p:sp>
        <p:nvSpPr>
          <p:cNvPr id="16" name="Text 12"/>
          <p:cNvSpPr txBox="1"/>
          <p:nvPr/>
        </p:nvSpPr>
        <p:spPr>
          <a:xfrm>
            <a:off x="8366760" y="1965960"/>
            <a:ext cx="3108960" cy="1737360"/>
          </a:xfrm>
          <a:prstGeom prst="rect">
            <a:avLst/>
          </a:prstGeom>
          <a:noFill/>
          <a:ln/>
        </p:spPr>
        <p:txBody>
          <a:bodyPr wrap="square" lIns="0" tIns="0" rIns="0" bIns="0" rtlCol="0" anchor="t"/>
          <a:lstStyle/>
          <a:p>
            <a:pPr indent="0" marL="0">
              <a:buNone/>
            </a:pPr>
            <a:r>
              <a:rPr lang="en-US" sz="1200" dirty="0">
                <a:solidFill>
                  <a:srgbClr val="14213D"/>
                </a:solidFill>
                <a:latin typeface="Calibri" pitchFamily="34" charset="0"/>
                <a:ea typeface="Calibri" pitchFamily="34" charset="-122"/>
                <a:cs typeface="Calibri" pitchFamily="34" charset="-120"/>
              </a:rPr>
              <a:t>Le téléphone lié reçoit les alertes (SIM changée, tentative de liaison ailleurs) et permet de répondre « ce n'est pas moi ». Au Mois 2, la victime a reçu zéro notification ; ici, elle est prévenue.</a:t>
            </a:r>
            <a:endParaRPr lang="en-US" sz="1200" dirty="0"/>
          </a:p>
        </p:txBody>
      </p:sp>
      <p:pic>
        <p:nvPicPr>
          <p:cNvPr id="17" name="Image 2" descr="/home/claude/design/out/E24.png">    </p:cNvPr>
          <p:cNvPicPr>
            <a:picLocks noChangeAspect="1"/>
          </p:cNvPicPr>
          <p:nvPr/>
        </p:nvPicPr>
        <p:blipFill>
          <a:blip r:embed="rId3"/>
          <a:stretch>
            <a:fillRect/>
          </a:stretch>
        </p:blipFill>
        <p:spPr>
          <a:xfrm>
            <a:off x="9372600" y="3703320"/>
            <a:ext cx="1097280" cy="2249424"/>
          </a:xfrm>
          <a:prstGeom prst="rect">
            <a:avLst/>
          </a:prstGeom>
        </p:spPr>
      </p:pic>
      <p:sp>
        <p:nvSpPr>
          <p:cNvPr id="18" name="Text 13"/>
          <p:cNvSpPr txBox="1"/>
          <p:nvPr/>
        </p:nvSpPr>
        <p:spPr>
          <a:xfrm>
            <a:off x="457200" y="6446520"/>
            <a:ext cx="8229600" cy="274320"/>
          </a:xfrm>
          <a:prstGeom prst="rect">
            <a:avLst/>
          </a:prstGeom>
          <a:noFill/>
          <a:ln/>
        </p:spPr>
        <p:txBody>
          <a:bodyPr wrap="square" lIns="0" tIns="0" rIns="0" bIns="0" rtlCol="0" anchor="ctr"/>
          <a:lstStyle/>
          <a:p>
            <a:pPr indent="0" marL="0">
              <a:buNone/>
            </a:pPr>
            <a:r>
              <a:rPr lang="en-US" sz="900" dirty="0">
                <a:solidFill>
                  <a:srgbClr val="5C6B7A"/>
                </a:solidFill>
                <a:latin typeface="Calibri" pitchFamily="34" charset="0"/>
                <a:ea typeface="Calibri" pitchFamily="34" charset="-122"/>
                <a:cs typeface="Calibri" pitchFamily="34" charset="-120"/>
              </a:rPr>
              <a:t>IdentiShield-CM · Dossier de design de l'application mobile · v1.0 · 25/09/2026</a:t>
            </a:r>
            <a:endParaRPr lang="en-US" sz="900" dirty="0"/>
          </a:p>
        </p:txBody>
      </p:sp>
      <p:sp>
        <p:nvSpPr>
          <p:cNvPr id="19" name="Text 14"/>
          <p:cNvSpPr txBox="1"/>
          <p:nvPr/>
        </p:nvSpPr>
        <p:spPr>
          <a:xfrm>
            <a:off x="11247120" y="6446520"/>
            <a:ext cx="548640" cy="274320"/>
          </a:xfrm>
          <a:prstGeom prst="rect">
            <a:avLst/>
          </a:prstGeom>
          <a:noFill/>
          <a:ln/>
        </p:spPr>
        <p:txBody>
          <a:bodyPr wrap="square" lIns="0" tIns="0" rIns="0" bIns="0"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3000" b="1" dirty="0">
                <a:solidFill>
                  <a:srgbClr val="10375C"/>
                </a:solidFill>
                <a:latin typeface="Calibri" pitchFamily="34" charset="0"/>
                <a:ea typeface="Calibri" pitchFamily="34" charset="-122"/>
                <a:cs typeface="Calibri" pitchFamily="34" charset="-120"/>
              </a:rPr>
              <a:t>Périmètre : volontairement étroit</a:t>
            </a:r>
            <a:endParaRPr lang="en-US" sz="3000" dirty="0"/>
          </a:p>
        </p:txBody>
      </p:sp>
      <p:sp>
        <p:nvSpPr>
          <p:cNvPr id="3" name="Text 1"/>
          <p:cNvSpPr txBox="1"/>
          <p:nvPr/>
        </p:nvSpPr>
        <p:spPr>
          <a:xfrm>
            <a:off x="457200" y="914400"/>
            <a:ext cx="11247120" cy="365760"/>
          </a:xfrm>
          <a:prstGeom prst="rect">
            <a:avLst/>
          </a:prstGeom>
          <a:noFill/>
          <a:ln/>
        </p:spPr>
        <p:txBody>
          <a:bodyPr wrap="square" lIns="0" tIns="0" rIns="0" bIns="0" rtlCol="0" anchor="ctr"/>
          <a:lstStyle/>
          <a:p>
            <a:pPr indent="0" marL="0">
              <a:buNone/>
            </a:pPr>
            <a:r>
              <a:rPr lang="en-US" sz="1400" dirty="0">
                <a:solidFill>
                  <a:srgbClr val="5C6B7A"/>
                </a:solidFill>
                <a:latin typeface="Calibri" pitchFamily="34" charset="0"/>
                <a:ea typeface="Calibri" pitchFamily="34" charset="-122"/>
                <a:cs typeface="Calibri" pitchFamily="34" charset="-120"/>
              </a:rPr>
              <a:t>Une application mobile qui grossit consomme des mois. On construit l'essentiel de la démonstration, et rien d'autre.</a:t>
            </a:r>
            <a:endParaRPr lang="en-US" sz="1400" dirty="0"/>
          </a:p>
        </p:txBody>
      </p:sp>
      <p:sp>
        <p:nvSpPr>
          <p:cNvPr id="4" name="Shape 2"/>
          <p:cNvSpPr/>
          <p:nvPr/>
        </p:nvSpPr>
        <p:spPr>
          <a:xfrm>
            <a:off x="457200" y="1463040"/>
            <a:ext cx="5486400" cy="4754880"/>
          </a:xfrm>
          <a:prstGeom prst="roundRect">
            <a:avLst>
              <a:gd name="adj" fmla="val 2308"/>
            </a:avLst>
          </a:prstGeom>
          <a:solidFill>
            <a:srgbClr val="E3F5F2"/>
          </a:solidFill>
          <a:ln w="9525">
            <a:solidFill>
              <a:srgbClr val="DCE3EC"/>
            </a:solidFill>
            <a:prstDash val="solid"/>
          </a:ln>
        </p:spPr>
      </p:sp>
      <p:sp>
        <p:nvSpPr>
          <p:cNvPr id="5" name="Shape 3"/>
          <p:cNvSpPr/>
          <p:nvPr/>
        </p:nvSpPr>
        <p:spPr>
          <a:xfrm>
            <a:off x="6245352" y="1463040"/>
            <a:ext cx="5486400" cy="4754880"/>
          </a:xfrm>
          <a:prstGeom prst="roundRect">
            <a:avLst>
              <a:gd name="adj" fmla="val 2308"/>
            </a:avLst>
          </a:prstGeom>
          <a:solidFill>
            <a:srgbClr val="FDE7EA"/>
          </a:solidFill>
          <a:ln w="9525">
            <a:solidFill>
              <a:srgbClr val="DCE3EC"/>
            </a:solidFill>
            <a:prstDash val="solid"/>
          </a:ln>
        </p:spPr>
      </p:sp>
      <p:sp>
        <p:nvSpPr>
          <p:cNvPr id="6" name="Text 4"/>
          <p:cNvSpPr txBox="1"/>
          <p:nvPr/>
        </p:nvSpPr>
        <p:spPr>
          <a:xfrm>
            <a:off x="731520" y="1600200"/>
            <a:ext cx="5029200" cy="457200"/>
          </a:xfrm>
          <a:prstGeom prst="rect">
            <a:avLst/>
          </a:prstGeom>
          <a:noFill/>
          <a:ln/>
        </p:spPr>
        <p:txBody>
          <a:bodyPr wrap="square" lIns="0" tIns="0" rIns="0" bIns="0" rtlCol="0" anchor="ctr"/>
          <a:lstStyle/>
          <a:p>
            <a:pPr indent="0" marL="0">
              <a:buNone/>
            </a:pPr>
            <a:r>
              <a:rPr lang="en-US" sz="1800" b="1" dirty="0">
                <a:solidFill>
                  <a:srgbClr val="12776C"/>
                </a:solidFill>
                <a:latin typeface="Calibri" pitchFamily="34" charset="0"/>
                <a:ea typeface="Calibri" pitchFamily="34" charset="-122"/>
                <a:cs typeface="Calibri" pitchFamily="34" charset="-120"/>
              </a:rPr>
              <a:t>Dans le périmètre</a:t>
            </a:r>
            <a:endParaRPr lang="en-US" sz="1800" dirty="0"/>
          </a:p>
        </p:txBody>
      </p:sp>
      <p:sp>
        <p:nvSpPr>
          <p:cNvPr id="7" name="Text 5"/>
          <p:cNvSpPr txBox="1"/>
          <p:nvPr/>
        </p:nvSpPr>
        <p:spPr>
          <a:xfrm>
            <a:off x="6519672" y="1600200"/>
            <a:ext cx="5029200" cy="457200"/>
          </a:xfrm>
          <a:prstGeom prst="rect">
            <a:avLst/>
          </a:prstGeom>
          <a:noFill/>
          <a:ln/>
        </p:spPr>
        <p:txBody>
          <a:bodyPr wrap="square" lIns="0" tIns="0" rIns="0" bIns="0" rtlCol="0" anchor="ctr"/>
          <a:lstStyle/>
          <a:p>
            <a:pPr indent="0" marL="0">
              <a:buNone/>
            </a:pPr>
            <a:r>
              <a:rPr lang="en-US" sz="1800" b="1" dirty="0">
                <a:solidFill>
                  <a:srgbClr val="8A1522"/>
                </a:solidFill>
                <a:latin typeface="Calibri" pitchFamily="34" charset="0"/>
                <a:ea typeface="Calibri" pitchFamily="34" charset="-122"/>
                <a:cs typeface="Calibri" pitchFamily="34" charset="-120"/>
              </a:rPr>
              <a:t>Hors périmètre (décisions fermes)</a:t>
            </a:r>
            <a:endParaRPr lang="en-US" sz="1800" dirty="0"/>
          </a:p>
        </p:txBody>
      </p:sp>
      <p:sp>
        <p:nvSpPr>
          <p:cNvPr id="8" name="Text 6"/>
          <p:cNvSpPr txBox="1"/>
          <p:nvPr/>
        </p:nvSpPr>
        <p:spPr>
          <a:xfrm>
            <a:off x="731520" y="2148840"/>
            <a:ext cx="5029200" cy="393192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4213D"/>
                </a:solidFill>
                <a:latin typeface="Calibri" pitchFamily="34" charset="0"/>
                <a:ea typeface="Calibri" pitchFamily="34" charset="-122"/>
                <a:cs typeface="Calibri" pitchFamily="34" charset="-120"/>
              </a:rPr>
              <a:t>Premier enrôlement : numéro, PIN, OTP, liaison du téléphone, clé de récupération</a:t>
            </a:r>
            <a:endParaRPr lang="en-US" sz="1250" dirty="0"/>
          </a:p>
          <a:p>
            <a:pPr marL="342900" indent="-342900">
              <a:spcAft>
                <a:spcPts val="600"/>
              </a:spcAft>
              <a:buSzPct val="100000"/>
              <a:buChar char="•"/>
            </a:pPr>
            <a:r>
              <a:rPr lang="en-US" sz="1250" dirty="0">
                <a:solidFill>
                  <a:srgbClr val="14213D"/>
                </a:solidFill>
                <a:latin typeface="Calibri" pitchFamily="34" charset="0"/>
                <a:ea typeface="Calibri" pitchFamily="34" charset="-122"/>
                <a:cs typeface="Calibri" pitchFamily="34" charset="-120"/>
              </a:rPr>
              <a:t>Ouverture de session quotidienne, sans OTP</a:t>
            </a:r>
            <a:endParaRPr lang="en-US" sz="1250" dirty="0"/>
          </a:p>
          <a:p>
            <a:pPr marL="342900" indent="-342900">
              <a:spcAft>
                <a:spcPts val="600"/>
              </a:spcAft>
              <a:buSzPct val="100000"/>
              <a:buChar char="•"/>
            </a:pPr>
            <a:r>
              <a:rPr lang="en-US" sz="1250" dirty="0">
                <a:solidFill>
                  <a:srgbClr val="14213D"/>
                </a:solidFill>
                <a:latin typeface="Calibri" pitchFamily="34" charset="0"/>
                <a:ea typeface="Calibri" pitchFamily="34" charset="-122"/>
                <a:cs typeface="Calibri" pitchFamily="34" charset="-120"/>
              </a:rPr>
              <a:t>Envoi d'argent signé, avec le nom du titulaire du bénéficiaire et la décision du serveur</a:t>
            </a:r>
            <a:endParaRPr lang="en-US" sz="1250" dirty="0"/>
          </a:p>
          <a:p>
            <a:pPr marL="342900" indent="-342900">
              <a:spcAft>
                <a:spcPts val="600"/>
              </a:spcAft>
              <a:buSzPct val="100000"/>
              <a:buChar char="•"/>
            </a:pPr>
            <a:r>
              <a:rPr lang="en-US" sz="1250" dirty="0">
                <a:solidFill>
                  <a:srgbClr val="14213D"/>
                </a:solidFill>
                <a:latin typeface="Calibri" pitchFamily="34" charset="0"/>
                <a:ea typeface="Calibri" pitchFamily="34" charset="-122"/>
                <a:cs typeface="Calibri" pitchFamily="34" charset="-120"/>
              </a:rPr>
              <a:t>Solde et historique</a:t>
            </a:r>
            <a:endParaRPr lang="en-US" sz="1250" dirty="0"/>
          </a:p>
          <a:p>
            <a:pPr marL="342900" indent="-342900">
              <a:spcAft>
                <a:spcPts val="600"/>
              </a:spcAft>
              <a:buSzPct val="100000"/>
              <a:buChar char="•"/>
            </a:pPr>
            <a:r>
              <a:rPr lang="en-US" sz="1250" dirty="0">
                <a:solidFill>
                  <a:srgbClr val="14213D"/>
                </a:solidFill>
                <a:latin typeface="Calibri" pitchFamily="34" charset="0"/>
                <a:ea typeface="Calibri" pitchFamily="34" charset="-122"/>
                <a:cs typeface="Calibri" pitchFamily="34" charset="-120"/>
              </a:rPr>
              <a:t>Réenrôlement sur un nouveau téléphone ou après réinstallation, par la clé de récupération</a:t>
            </a:r>
            <a:endParaRPr lang="en-US" sz="1250" dirty="0"/>
          </a:p>
          <a:p>
            <a:pPr marL="342900" indent="-342900">
              <a:spcAft>
                <a:spcPts val="600"/>
              </a:spcAft>
              <a:buSzPct val="100000"/>
              <a:buChar char="•"/>
            </a:pPr>
            <a:r>
              <a:rPr lang="en-US" sz="1250" dirty="0">
                <a:solidFill>
                  <a:srgbClr val="14213D"/>
                </a:solidFill>
                <a:latin typeface="Calibri" pitchFamily="34" charset="0"/>
                <a:ea typeface="Calibri" pitchFamily="34" charset="-122"/>
                <a:cs typeface="Calibri" pitchFamily="34" charset="-120"/>
              </a:rPr>
              <a:t>Alertes de sécurité et réponse « c'est moi / ce n'est pas moi »</a:t>
            </a:r>
            <a:endParaRPr lang="en-US" sz="1250" dirty="0"/>
          </a:p>
          <a:p>
            <a:pPr marL="342900" indent="-342900">
              <a:spcAft>
                <a:spcPts val="600"/>
              </a:spcAft>
              <a:buSzPct val="100000"/>
              <a:buChar char="•"/>
            </a:pPr>
            <a:r>
              <a:rPr lang="en-US" sz="1250" dirty="0">
                <a:solidFill>
                  <a:srgbClr val="14213D"/>
                </a:solidFill>
                <a:latin typeface="Calibri" pitchFamily="34" charset="0"/>
                <a:ea typeface="Calibri" pitchFamily="34" charset="-122"/>
                <a:cs typeface="Calibri" pitchFamily="34" charset="-120"/>
              </a:rPr>
              <a:t>Régénérer la clé, délier le téléphone</a:t>
            </a:r>
            <a:endParaRPr lang="en-US" sz="1250" dirty="0"/>
          </a:p>
          <a:p>
            <a:pPr marL="342900" indent="-342900">
              <a:spcAft>
                <a:spcPts val="600"/>
              </a:spcAft>
              <a:buSzPct val="100000"/>
              <a:buChar char="•"/>
            </a:pPr>
            <a:r>
              <a:rPr lang="en-US" sz="1250" dirty="0">
                <a:solidFill>
                  <a:srgbClr val="14213D"/>
                </a:solidFill>
                <a:latin typeface="Calibri" pitchFamily="34" charset="0"/>
                <a:ea typeface="Calibri" pitchFamily="34" charset="-122"/>
                <a:cs typeface="Calibri" pitchFamily="34" charset="-120"/>
              </a:rPr>
              <a:t>Mode démonstration pour le jury (désactivé par défaut)</a:t>
            </a:r>
            <a:endParaRPr lang="en-US" sz="1250" dirty="0"/>
          </a:p>
        </p:txBody>
      </p:sp>
      <p:sp>
        <p:nvSpPr>
          <p:cNvPr id="9" name="Text 7"/>
          <p:cNvSpPr txBox="1"/>
          <p:nvPr/>
        </p:nvSpPr>
        <p:spPr>
          <a:xfrm>
            <a:off x="6519672" y="2148840"/>
            <a:ext cx="5029200" cy="393192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4213D"/>
                </a:solidFill>
                <a:latin typeface="Calibri" pitchFamily="34" charset="0"/>
                <a:ea typeface="Calibri" pitchFamily="34" charset="-122"/>
                <a:cs typeface="Calibri" pitchFamily="34" charset="-120"/>
              </a:rPr>
              <a:t>Tout ce qui ferait un clone de MoMo : dépôt et retrait chez l'agent, paiement marchand, factures, crédit, épargne, prêt</a:t>
            </a:r>
            <a:endParaRPr lang="en-US" sz="1250" dirty="0"/>
          </a:p>
          <a:p>
            <a:pPr marL="342900" indent="-342900">
              <a:spcAft>
                <a:spcPts val="600"/>
              </a:spcAft>
              <a:buSzPct val="100000"/>
              <a:buChar char="•"/>
            </a:pPr>
            <a:r>
              <a:rPr lang="en-US" sz="1250" dirty="0">
                <a:solidFill>
                  <a:srgbClr val="14213D"/>
                </a:solidFill>
                <a:latin typeface="Calibri" pitchFamily="34" charset="0"/>
                <a:ea typeface="Calibri" pitchFamily="34" charset="-122"/>
                <a:cs typeface="Calibri" pitchFamily="34" charset="-120"/>
              </a:rPr>
              <a:t>iOS (Android = 81 % du trafic mobile au Cameroun, StatCounter août 2026 ; limite déclarée, protocole transposable)</a:t>
            </a:r>
            <a:endParaRPr lang="en-US" sz="1250" dirty="0"/>
          </a:p>
          <a:p>
            <a:pPr marL="342900" indent="-342900">
              <a:spcAft>
                <a:spcPts val="600"/>
              </a:spcAft>
              <a:buSzPct val="100000"/>
              <a:buChar char="•"/>
            </a:pPr>
            <a:r>
              <a:rPr lang="en-US" sz="1250" dirty="0">
                <a:solidFill>
                  <a:srgbClr val="14213D"/>
                </a:solidFill>
                <a:latin typeface="Calibri" pitchFamily="34" charset="0"/>
                <a:ea typeface="Calibri" pitchFamily="34" charset="-122"/>
                <a:cs typeface="Calibri" pitchFamily="34" charset="-120"/>
              </a:rPr>
              <a:t>Notifications push Google (FCM) : exigent Internet, le bac à sable n'en a pas → interrogation périodique</a:t>
            </a:r>
            <a:endParaRPr lang="en-US" sz="1250" dirty="0"/>
          </a:p>
          <a:p>
            <a:pPr marL="342900" indent="-342900">
              <a:spcAft>
                <a:spcPts val="600"/>
              </a:spcAft>
              <a:buSzPct val="100000"/>
              <a:buChar char="•"/>
            </a:pPr>
            <a:r>
              <a:rPr lang="en-US" sz="1250" dirty="0">
                <a:solidFill>
                  <a:srgbClr val="14213D"/>
                </a:solidFill>
                <a:latin typeface="Calibri" pitchFamily="34" charset="0"/>
                <a:ea typeface="Calibri" pitchFamily="34" charset="-122"/>
                <a:cs typeface="Calibri" pitchFamily="34" charset="-120"/>
              </a:rPr>
              <a:t>SDK tiers d'audience, de publicité, de rapport de plantage</a:t>
            </a:r>
            <a:endParaRPr lang="en-US" sz="1250" dirty="0"/>
          </a:p>
          <a:p>
            <a:pPr marL="342900" indent="-342900">
              <a:spcAft>
                <a:spcPts val="600"/>
              </a:spcAft>
              <a:buSzPct val="100000"/>
              <a:buChar char="•"/>
            </a:pPr>
            <a:r>
              <a:rPr lang="en-US" sz="1250" dirty="0">
                <a:solidFill>
                  <a:srgbClr val="14213D"/>
                </a:solidFill>
                <a:latin typeface="Calibri" pitchFamily="34" charset="0"/>
                <a:ea typeface="Calibri" pitchFamily="34" charset="-122"/>
                <a:cs typeface="Calibri" pitchFamily="34" charset="-120"/>
              </a:rPr>
              <a:t>Détection de fraude dans l'app : la décision appartient au serveur, l'app l'affiche</a:t>
            </a:r>
            <a:endParaRPr lang="en-US" sz="1250" dirty="0"/>
          </a:p>
          <a:p>
            <a:pPr marL="342900" indent="-342900">
              <a:spcAft>
                <a:spcPts val="600"/>
              </a:spcAft>
              <a:buSzPct val="100000"/>
              <a:buChar char="•"/>
            </a:pPr>
            <a:r>
              <a:rPr lang="en-US" sz="1250" dirty="0">
                <a:solidFill>
                  <a:srgbClr val="14213D"/>
                </a:solidFill>
                <a:latin typeface="Calibri" pitchFamily="34" charset="0"/>
                <a:ea typeface="Calibri" pitchFamily="34" charset="-122"/>
                <a:cs typeface="Calibri" pitchFamily="34" charset="-120"/>
              </a:rPr>
              <a:t>Le canal USSD lui-même : simulé côté serveur, terrain de mesure pour les usagers sans smartphone</a:t>
            </a:r>
            <a:endParaRPr lang="en-US" sz="1250" dirty="0"/>
          </a:p>
        </p:txBody>
      </p:sp>
      <p:sp>
        <p:nvSpPr>
          <p:cNvPr id="10" name="Text 8"/>
          <p:cNvSpPr txBox="1"/>
          <p:nvPr/>
        </p:nvSpPr>
        <p:spPr>
          <a:xfrm>
            <a:off x="457200" y="6446520"/>
            <a:ext cx="8229600" cy="274320"/>
          </a:xfrm>
          <a:prstGeom prst="rect">
            <a:avLst/>
          </a:prstGeom>
          <a:noFill/>
          <a:ln/>
        </p:spPr>
        <p:txBody>
          <a:bodyPr wrap="square" lIns="0" tIns="0" rIns="0" bIns="0" rtlCol="0" anchor="ctr"/>
          <a:lstStyle/>
          <a:p>
            <a:pPr indent="0" marL="0">
              <a:buNone/>
            </a:pPr>
            <a:r>
              <a:rPr lang="en-US" sz="900" dirty="0">
                <a:solidFill>
                  <a:srgbClr val="5C6B7A"/>
                </a:solidFill>
                <a:latin typeface="Calibri" pitchFamily="34" charset="0"/>
                <a:ea typeface="Calibri" pitchFamily="34" charset="-122"/>
                <a:cs typeface="Calibri" pitchFamily="34" charset="-120"/>
              </a:rPr>
              <a:t>IdentiShield-CM · Dossier de design de l'application mobile · v1.0 · 25/09/2026</a:t>
            </a:r>
            <a:endParaRPr lang="en-US" sz="900" dirty="0"/>
          </a:p>
        </p:txBody>
      </p:sp>
      <p:sp>
        <p:nvSpPr>
          <p:cNvPr id="11" name="Text 9"/>
          <p:cNvSpPr txBox="1"/>
          <p:nvPr/>
        </p:nvSpPr>
        <p:spPr>
          <a:xfrm>
            <a:off x="11247120" y="6446520"/>
            <a:ext cx="548640" cy="274320"/>
          </a:xfrm>
          <a:prstGeom prst="rect">
            <a:avLst/>
          </a:prstGeom>
          <a:noFill/>
          <a:ln/>
        </p:spPr>
        <p:txBody>
          <a:bodyPr wrap="square" lIns="0" tIns="0" rIns="0" bIns="0"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3000" b="1" dirty="0">
                <a:solidFill>
                  <a:srgbClr val="10375C"/>
                </a:solidFill>
                <a:latin typeface="Calibri" pitchFamily="34" charset="0"/>
                <a:ea typeface="Calibri" pitchFamily="34" charset="-122"/>
                <a:cs typeface="Calibri" pitchFamily="34" charset="-120"/>
              </a:rPr>
              <a:t>Onze principes de conception, fixés avec le propriétaire</a:t>
            </a:r>
            <a:endParaRPr lang="en-US" sz="3000" dirty="0"/>
          </a:p>
        </p:txBody>
      </p:sp>
      <p:sp>
        <p:nvSpPr>
          <p:cNvPr id="3" name="Text 1"/>
          <p:cNvSpPr txBox="1"/>
          <p:nvPr/>
        </p:nvSpPr>
        <p:spPr>
          <a:xfrm>
            <a:off x="457200" y="914400"/>
            <a:ext cx="11247120" cy="365760"/>
          </a:xfrm>
          <a:prstGeom prst="rect">
            <a:avLst/>
          </a:prstGeom>
          <a:noFill/>
          <a:ln/>
        </p:spPr>
        <p:txBody>
          <a:bodyPr wrap="square" lIns="0" tIns="0" rIns="0" bIns="0" rtlCol="0" anchor="ctr"/>
          <a:lstStyle/>
          <a:p>
            <a:pPr indent="0" marL="0">
              <a:buNone/>
            </a:pPr>
            <a:r>
              <a:rPr lang="en-US" sz="1400" dirty="0">
                <a:solidFill>
                  <a:srgbClr val="5C6B7A"/>
                </a:solidFill>
                <a:latin typeface="Calibri" pitchFamily="34" charset="0"/>
                <a:ea typeface="Calibri" pitchFamily="34" charset="-122"/>
                <a:cs typeface="Calibri" pitchFamily="34" charset="-120"/>
              </a:rPr>
              <a:t>Ils s'imposent au design, à la spécification et au code. Les six premiers structurent tous les écrans.</a:t>
            </a:r>
            <a:endParaRPr lang="en-US" sz="1400" dirty="0"/>
          </a:p>
        </p:txBody>
      </p:sp>
      <p:sp>
        <p:nvSpPr>
          <p:cNvPr id="4" name="Shape 2"/>
          <p:cNvSpPr/>
          <p:nvPr/>
        </p:nvSpPr>
        <p:spPr>
          <a:xfrm>
            <a:off x="457200" y="1463040"/>
            <a:ext cx="3566160" cy="2194560"/>
          </a:xfrm>
          <a:prstGeom prst="roundRect">
            <a:avLst>
              <a:gd name="adj" fmla="val 5000"/>
            </a:avLst>
          </a:prstGeom>
          <a:solidFill>
            <a:srgbClr val="FFFFFF"/>
          </a:solidFill>
          <a:ln w="9525">
            <a:solidFill>
              <a:srgbClr val="DCE3EC"/>
            </a:solidFill>
            <a:prstDash val="solid"/>
          </a:ln>
        </p:spPr>
      </p:sp>
      <p:sp>
        <p:nvSpPr>
          <p:cNvPr id="5" name="Shape 3"/>
          <p:cNvSpPr/>
          <p:nvPr/>
        </p:nvSpPr>
        <p:spPr>
          <a:xfrm>
            <a:off x="640080" y="1645920"/>
            <a:ext cx="914400" cy="365760"/>
          </a:xfrm>
          <a:prstGeom prst="roundRect">
            <a:avLst>
              <a:gd name="adj" fmla="val 50000"/>
            </a:avLst>
          </a:prstGeom>
          <a:solidFill>
            <a:srgbClr val="10375C"/>
          </a:solidFill>
          <a:ln w="12700">
            <a:solidFill>
              <a:srgbClr val="10375C"/>
            </a:solidFill>
            <a:prstDash val="solid"/>
          </a:ln>
        </p:spPr>
      </p:sp>
      <p:sp>
        <p:nvSpPr>
          <p:cNvPr id="6" name="Text 4"/>
          <p:cNvSpPr txBox="1"/>
          <p:nvPr/>
        </p:nvSpPr>
        <p:spPr>
          <a:xfrm>
            <a:off x="640080" y="1645920"/>
            <a:ext cx="9144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P-1</a:t>
            </a:r>
            <a:endParaRPr lang="en-US" sz="1100" dirty="0"/>
          </a:p>
        </p:txBody>
      </p:sp>
      <p:sp>
        <p:nvSpPr>
          <p:cNvPr id="7" name="Text 5"/>
          <p:cNvSpPr txBox="1"/>
          <p:nvPr/>
        </p:nvSpPr>
        <p:spPr>
          <a:xfrm>
            <a:off x="640080" y="2103120"/>
            <a:ext cx="3200400" cy="411480"/>
          </a:xfrm>
          <a:prstGeom prst="rect">
            <a:avLst/>
          </a:prstGeom>
          <a:noFill/>
          <a:ln/>
        </p:spPr>
        <p:txBody>
          <a:bodyPr wrap="square" lIns="0" tIns="0" rIns="0" bIns="0" rtlCol="0" anchor="ctr"/>
          <a:lstStyle/>
          <a:p>
            <a:pPr indent="0" marL="0">
              <a:buNone/>
            </a:pPr>
            <a:r>
              <a:rPr lang="en-US" sz="1400" b="1" dirty="0">
                <a:solidFill>
                  <a:srgbClr val="10375C"/>
                </a:solidFill>
                <a:latin typeface="Calibri" pitchFamily="34" charset="0"/>
                <a:ea typeface="Calibri" pitchFamily="34" charset="-122"/>
                <a:cs typeface="Calibri" pitchFamily="34" charset="-120"/>
              </a:rPr>
              <a:t>Même déroulé que MoMo</a:t>
            </a:r>
            <a:endParaRPr lang="en-US" sz="1400" dirty="0"/>
          </a:p>
        </p:txBody>
      </p:sp>
      <p:sp>
        <p:nvSpPr>
          <p:cNvPr id="8" name="Text 6"/>
          <p:cNvSpPr txBox="1"/>
          <p:nvPr/>
        </p:nvSpPr>
        <p:spPr>
          <a:xfrm>
            <a:off x="640080" y="2514600"/>
            <a:ext cx="3200400" cy="1097280"/>
          </a:xfrm>
          <a:prstGeom prst="rect">
            <a:avLst/>
          </a:prstGeom>
          <a:noFill/>
          <a:ln/>
        </p:spPr>
        <p:txBody>
          <a:bodyPr wrap="square" lIns="0" tIns="0" rIns="0" bIns="0" rtlCol="0" anchor="t"/>
          <a:lstStyle/>
          <a:p>
            <a:pPr indent="0" marL="0">
              <a:buNone/>
            </a:pPr>
            <a:r>
              <a:rPr lang="en-US" sz="1150" dirty="0">
                <a:solidFill>
                  <a:srgbClr val="14213D"/>
                </a:solidFill>
                <a:latin typeface="Calibri" pitchFamily="34" charset="0"/>
                <a:ea typeface="Calibri" pitchFamily="34" charset="-122"/>
                <a:cs typeface="Calibri" pitchFamily="34" charset="-120"/>
              </a:rPr>
              <a:t>Le numéro d'abord, puis le PIN. Au quotidien le numéro est mémorisé. Aucun écran « enrôlement / réenrôlement » à choisir.</a:t>
            </a:r>
            <a:endParaRPr lang="en-US" sz="1150" dirty="0"/>
          </a:p>
        </p:txBody>
      </p:sp>
      <p:sp>
        <p:nvSpPr>
          <p:cNvPr id="9" name="Shape 7"/>
          <p:cNvSpPr/>
          <p:nvPr/>
        </p:nvSpPr>
        <p:spPr>
          <a:xfrm>
            <a:off x="4297680" y="1463040"/>
            <a:ext cx="3566160" cy="2194560"/>
          </a:xfrm>
          <a:prstGeom prst="roundRect">
            <a:avLst>
              <a:gd name="adj" fmla="val 5000"/>
            </a:avLst>
          </a:prstGeom>
          <a:solidFill>
            <a:srgbClr val="FFFFFF"/>
          </a:solidFill>
          <a:ln w="9525">
            <a:solidFill>
              <a:srgbClr val="DCE3EC"/>
            </a:solidFill>
            <a:prstDash val="solid"/>
          </a:ln>
        </p:spPr>
      </p:sp>
      <p:sp>
        <p:nvSpPr>
          <p:cNvPr id="10" name="Shape 8"/>
          <p:cNvSpPr/>
          <p:nvPr/>
        </p:nvSpPr>
        <p:spPr>
          <a:xfrm>
            <a:off x="4480560" y="1645920"/>
            <a:ext cx="914400" cy="365760"/>
          </a:xfrm>
          <a:prstGeom prst="roundRect">
            <a:avLst>
              <a:gd name="adj" fmla="val 50000"/>
            </a:avLst>
          </a:prstGeom>
          <a:solidFill>
            <a:srgbClr val="10375C"/>
          </a:solidFill>
          <a:ln w="12700">
            <a:solidFill>
              <a:srgbClr val="10375C"/>
            </a:solidFill>
            <a:prstDash val="solid"/>
          </a:ln>
        </p:spPr>
      </p:sp>
      <p:sp>
        <p:nvSpPr>
          <p:cNvPr id="11" name="Text 9"/>
          <p:cNvSpPr txBox="1"/>
          <p:nvPr/>
        </p:nvSpPr>
        <p:spPr>
          <a:xfrm>
            <a:off x="4480560" y="1645920"/>
            <a:ext cx="9144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P-2</a:t>
            </a:r>
            <a:endParaRPr lang="en-US" sz="1100" dirty="0"/>
          </a:p>
        </p:txBody>
      </p:sp>
      <p:sp>
        <p:nvSpPr>
          <p:cNvPr id="12" name="Text 10"/>
          <p:cNvSpPr txBox="1"/>
          <p:nvPr/>
        </p:nvSpPr>
        <p:spPr>
          <a:xfrm>
            <a:off x="4480560" y="2103120"/>
            <a:ext cx="3200400" cy="411480"/>
          </a:xfrm>
          <a:prstGeom prst="rect">
            <a:avLst/>
          </a:prstGeom>
          <a:noFill/>
          <a:ln/>
        </p:spPr>
        <p:txBody>
          <a:bodyPr wrap="square" lIns="0" tIns="0" rIns="0" bIns="0" rtlCol="0" anchor="ctr"/>
          <a:lstStyle/>
          <a:p>
            <a:pPr indent="0" marL="0">
              <a:buNone/>
            </a:pPr>
            <a:r>
              <a:rPr lang="en-US" sz="1400" b="1" dirty="0">
                <a:solidFill>
                  <a:srgbClr val="10375C"/>
                </a:solidFill>
                <a:latin typeface="Calibri" pitchFamily="34" charset="0"/>
                <a:ea typeface="Calibri" pitchFamily="34" charset="-122"/>
                <a:cs typeface="Calibri" pitchFamily="34" charset="-120"/>
              </a:rPr>
              <a:t>Le serveur décide</a:t>
            </a:r>
            <a:endParaRPr lang="en-US" sz="1400" dirty="0"/>
          </a:p>
        </p:txBody>
      </p:sp>
      <p:sp>
        <p:nvSpPr>
          <p:cNvPr id="13" name="Text 11"/>
          <p:cNvSpPr txBox="1"/>
          <p:nvPr/>
        </p:nvSpPr>
        <p:spPr>
          <a:xfrm>
            <a:off x="4480560" y="2514600"/>
            <a:ext cx="3200400" cy="1097280"/>
          </a:xfrm>
          <a:prstGeom prst="rect">
            <a:avLst/>
          </a:prstGeom>
          <a:noFill/>
          <a:ln/>
        </p:spPr>
        <p:txBody>
          <a:bodyPr wrap="square" lIns="0" tIns="0" rIns="0" bIns="0" rtlCol="0" anchor="t"/>
          <a:lstStyle/>
          <a:p>
            <a:pPr indent="0" marL="0">
              <a:buNone/>
            </a:pPr>
            <a:r>
              <a:rPr lang="en-US" sz="1150" dirty="0">
                <a:solidFill>
                  <a:srgbClr val="14213D"/>
                </a:solidFill>
                <a:latin typeface="Calibri" pitchFamily="34" charset="0"/>
                <a:ea typeface="Calibri" pitchFamily="34" charset="-122"/>
                <a:cs typeface="Calibri" pitchFamily="34" charset="-120"/>
              </a:rPr>
              <a:t>L'app envoie numéro, PIN et, si elle a une clé, une signature. Le serveur regarde sa base et dit la suite. L'app exécute.</a:t>
            </a:r>
            <a:endParaRPr lang="en-US" sz="1150" dirty="0"/>
          </a:p>
        </p:txBody>
      </p:sp>
      <p:sp>
        <p:nvSpPr>
          <p:cNvPr id="14" name="Shape 12"/>
          <p:cNvSpPr/>
          <p:nvPr/>
        </p:nvSpPr>
        <p:spPr>
          <a:xfrm>
            <a:off x="8138160" y="1463040"/>
            <a:ext cx="3566160" cy="2194560"/>
          </a:xfrm>
          <a:prstGeom prst="roundRect">
            <a:avLst>
              <a:gd name="adj" fmla="val 5000"/>
            </a:avLst>
          </a:prstGeom>
          <a:solidFill>
            <a:srgbClr val="FFFFFF"/>
          </a:solidFill>
          <a:ln w="9525">
            <a:solidFill>
              <a:srgbClr val="DCE3EC"/>
            </a:solidFill>
            <a:prstDash val="solid"/>
          </a:ln>
        </p:spPr>
      </p:sp>
      <p:sp>
        <p:nvSpPr>
          <p:cNvPr id="15" name="Shape 13"/>
          <p:cNvSpPr/>
          <p:nvPr/>
        </p:nvSpPr>
        <p:spPr>
          <a:xfrm>
            <a:off x="8321040" y="1645920"/>
            <a:ext cx="914400" cy="365760"/>
          </a:xfrm>
          <a:prstGeom prst="roundRect">
            <a:avLst>
              <a:gd name="adj" fmla="val 50000"/>
            </a:avLst>
          </a:prstGeom>
          <a:solidFill>
            <a:srgbClr val="10375C"/>
          </a:solidFill>
          <a:ln w="12700">
            <a:solidFill>
              <a:srgbClr val="10375C"/>
            </a:solidFill>
            <a:prstDash val="solid"/>
          </a:ln>
        </p:spPr>
      </p:sp>
      <p:sp>
        <p:nvSpPr>
          <p:cNvPr id="16" name="Text 14"/>
          <p:cNvSpPr txBox="1"/>
          <p:nvPr/>
        </p:nvSpPr>
        <p:spPr>
          <a:xfrm>
            <a:off x="8321040" y="1645920"/>
            <a:ext cx="9144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P-3</a:t>
            </a:r>
            <a:endParaRPr lang="en-US" sz="1100" dirty="0"/>
          </a:p>
        </p:txBody>
      </p:sp>
      <p:sp>
        <p:nvSpPr>
          <p:cNvPr id="17" name="Text 15"/>
          <p:cNvSpPr txBox="1"/>
          <p:nvPr/>
        </p:nvSpPr>
        <p:spPr>
          <a:xfrm>
            <a:off x="8321040" y="2103120"/>
            <a:ext cx="3200400" cy="411480"/>
          </a:xfrm>
          <a:prstGeom prst="rect">
            <a:avLst/>
          </a:prstGeom>
          <a:noFill/>
          <a:ln/>
        </p:spPr>
        <p:txBody>
          <a:bodyPr wrap="square" lIns="0" tIns="0" rIns="0" bIns="0" rtlCol="0" anchor="ctr"/>
          <a:lstStyle/>
          <a:p>
            <a:pPr indent="0" marL="0">
              <a:buNone/>
            </a:pPr>
            <a:r>
              <a:rPr lang="en-US" sz="1400" b="1" dirty="0">
                <a:solidFill>
                  <a:srgbClr val="10375C"/>
                </a:solidFill>
                <a:latin typeface="Calibri" pitchFamily="34" charset="0"/>
                <a:ea typeface="Calibri" pitchFamily="34" charset="-122"/>
                <a:cs typeface="Calibri" pitchFamily="34" charset="-120"/>
              </a:rPr>
              <a:t>L'OTP n'existe qu'au premier enrôlement</a:t>
            </a:r>
            <a:endParaRPr lang="en-US" sz="1400" dirty="0"/>
          </a:p>
        </p:txBody>
      </p:sp>
      <p:sp>
        <p:nvSpPr>
          <p:cNvPr id="18" name="Text 16"/>
          <p:cNvSpPr txBox="1"/>
          <p:nvPr/>
        </p:nvSpPr>
        <p:spPr>
          <a:xfrm>
            <a:off x="8321040" y="2514600"/>
            <a:ext cx="3200400" cy="1097280"/>
          </a:xfrm>
          <a:prstGeom prst="rect">
            <a:avLst/>
          </a:prstGeom>
          <a:noFill/>
          <a:ln/>
        </p:spPr>
        <p:txBody>
          <a:bodyPr wrap="square" lIns="0" tIns="0" rIns="0" bIns="0" rtlCol="0" anchor="t"/>
          <a:lstStyle/>
          <a:p>
            <a:pPr indent="0" marL="0">
              <a:buNone/>
            </a:pPr>
            <a:r>
              <a:rPr lang="en-US" sz="1150" dirty="0">
                <a:solidFill>
                  <a:srgbClr val="14213D"/>
                </a:solidFill>
                <a:latin typeface="Calibri" pitchFamily="34" charset="0"/>
                <a:ea typeface="Calibri" pitchFamily="34" charset="-122"/>
                <a:cs typeface="Calibri" pitchFamily="34" charset="-120"/>
              </a:rPr>
              <a:t>Il suit la carte SIM ; en cas de SIM-swap il irait à l'attaquant. Jamais au quotidien, jamais pour envoyer, jamais au réenrôlement.</a:t>
            </a:r>
            <a:endParaRPr lang="en-US" sz="1150" dirty="0"/>
          </a:p>
        </p:txBody>
      </p:sp>
      <p:sp>
        <p:nvSpPr>
          <p:cNvPr id="19" name="Shape 17"/>
          <p:cNvSpPr/>
          <p:nvPr/>
        </p:nvSpPr>
        <p:spPr>
          <a:xfrm>
            <a:off x="457200" y="3840480"/>
            <a:ext cx="3566160" cy="2194560"/>
          </a:xfrm>
          <a:prstGeom prst="roundRect">
            <a:avLst>
              <a:gd name="adj" fmla="val 5000"/>
            </a:avLst>
          </a:prstGeom>
          <a:solidFill>
            <a:srgbClr val="FFFFFF"/>
          </a:solidFill>
          <a:ln w="9525">
            <a:solidFill>
              <a:srgbClr val="DCE3EC"/>
            </a:solidFill>
            <a:prstDash val="solid"/>
          </a:ln>
        </p:spPr>
      </p:sp>
      <p:sp>
        <p:nvSpPr>
          <p:cNvPr id="20" name="Shape 18"/>
          <p:cNvSpPr/>
          <p:nvPr/>
        </p:nvSpPr>
        <p:spPr>
          <a:xfrm>
            <a:off x="640080" y="4023360"/>
            <a:ext cx="914400" cy="365760"/>
          </a:xfrm>
          <a:prstGeom prst="roundRect">
            <a:avLst>
              <a:gd name="adj" fmla="val 50000"/>
            </a:avLst>
          </a:prstGeom>
          <a:solidFill>
            <a:srgbClr val="10375C"/>
          </a:solidFill>
          <a:ln w="12700">
            <a:solidFill>
              <a:srgbClr val="10375C"/>
            </a:solidFill>
            <a:prstDash val="solid"/>
          </a:ln>
        </p:spPr>
      </p:sp>
      <p:sp>
        <p:nvSpPr>
          <p:cNvPr id="21" name="Text 19"/>
          <p:cNvSpPr txBox="1"/>
          <p:nvPr/>
        </p:nvSpPr>
        <p:spPr>
          <a:xfrm>
            <a:off x="640080" y="4023360"/>
            <a:ext cx="9144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P-4</a:t>
            </a:r>
            <a:endParaRPr lang="en-US" sz="1100" dirty="0"/>
          </a:p>
        </p:txBody>
      </p:sp>
      <p:sp>
        <p:nvSpPr>
          <p:cNvPr id="22" name="Text 20"/>
          <p:cNvSpPr txBox="1"/>
          <p:nvPr/>
        </p:nvSpPr>
        <p:spPr>
          <a:xfrm>
            <a:off x="640080" y="4480560"/>
            <a:ext cx="3200400" cy="411480"/>
          </a:xfrm>
          <a:prstGeom prst="rect">
            <a:avLst/>
          </a:prstGeom>
          <a:noFill/>
          <a:ln/>
        </p:spPr>
        <p:txBody>
          <a:bodyPr wrap="square" lIns="0" tIns="0" rIns="0" bIns="0" rtlCol="0" anchor="ctr"/>
          <a:lstStyle/>
          <a:p>
            <a:pPr indent="0" marL="0">
              <a:buNone/>
            </a:pPr>
            <a:r>
              <a:rPr lang="en-US" sz="1400" b="1" dirty="0">
                <a:solidFill>
                  <a:srgbClr val="10375C"/>
                </a:solidFill>
                <a:latin typeface="Calibri" pitchFamily="34" charset="0"/>
                <a:ea typeface="Calibri" pitchFamily="34" charset="-122"/>
                <a:cs typeface="Calibri" pitchFamily="34" charset="-120"/>
              </a:rPr>
              <a:t>Liaison après validation</a:t>
            </a:r>
            <a:endParaRPr lang="en-US" sz="1400" dirty="0"/>
          </a:p>
        </p:txBody>
      </p:sp>
      <p:sp>
        <p:nvSpPr>
          <p:cNvPr id="23" name="Text 21"/>
          <p:cNvSpPr txBox="1"/>
          <p:nvPr/>
        </p:nvSpPr>
        <p:spPr>
          <a:xfrm>
            <a:off x="640080" y="4892040"/>
            <a:ext cx="3200400" cy="1097280"/>
          </a:xfrm>
          <a:prstGeom prst="rect">
            <a:avLst/>
          </a:prstGeom>
          <a:noFill/>
          <a:ln/>
        </p:spPr>
        <p:txBody>
          <a:bodyPr wrap="square" lIns="0" tIns="0" rIns="0" bIns="0" rtlCol="0" anchor="t"/>
          <a:lstStyle/>
          <a:p>
            <a:pPr indent="0" marL="0">
              <a:buNone/>
            </a:pPr>
            <a:r>
              <a:rPr lang="en-US" sz="1150" dirty="0">
                <a:solidFill>
                  <a:srgbClr val="14213D"/>
                </a:solidFill>
                <a:latin typeface="Calibri" pitchFamily="34" charset="0"/>
                <a:ea typeface="Calibri" pitchFamily="34" charset="-122"/>
                <a:cs typeface="Calibri" pitchFamily="34" charset="-120"/>
              </a:rPr>
              <a:t>La clé est fabriquée seulement après validation de l'OTP ou de la clé de récupération. Le serveur valide, le téléphone fabrique, le serveur enregistre.</a:t>
            </a:r>
            <a:endParaRPr lang="en-US" sz="1150" dirty="0"/>
          </a:p>
        </p:txBody>
      </p:sp>
      <p:sp>
        <p:nvSpPr>
          <p:cNvPr id="24" name="Shape 22"/>
          <p:cNvSpPr/>
          <p:nvPr/>
        </p:nvSpPr>
        <p:spPr>
          <a:xfrm>
            <a:off x="4297680" y="3840480"/>
            <a:ext cx="3566160" cy="2194560"/>
          </a:xfrm>
          <a:prstGeom prst="roundRect">
            <a:avLst>
              <a:gd name="adj" fmla="val 5000"/>
            </a:avLst>
          </a:prstGeom>
          <a:solidFill>
            <a:srgbClr val="FFFFFF"/>
          </a:solidFill>
          <a:ln w="9525">
            <a:solidFill>
              <a:srgbClr val="DCE3EC"/>
            </a:solidFill>
            <a:prstDash val="solid"/>
          </a:ln>
        </p:spPr>
      </p:sp>
      <p:sp>
        <p:nvSpPr>
          <p:cNvPr id="25" name="Shape 23"/>
          <p:cNvSpPr/>
          <p:nvPr/>
        </p:nvSpPr>
        <p:spPr>
          <a:xfrm>
            <a:off x="4480560" y="4023360"/>
            <a:ext cx="914400" cy="365760"/>
          </a:xfrm>
          <a:prstGeom prst="roundRect">
            <a:avLst>
              <a:gd name="adj" fmla="val 50000"/>
            </a:avLst>
          </a:prstGeom>
          <a:solidFill>
            <a:srgbClr val="10375C"/>
          </a:solidFill>
          <a:ln w="12700">
            <a:solidFill>
              <a:srgbClr val="10375C"/>
            </a:solidFill>
            <a:prstDash val="solid"/>
          </a:ln>
        </p:spPr>
      </p:sp>
      <p:sp>
        <p:nvSpPr>
          <p:cNvPr id="26" name="Text 24"/>
          <p:cNvSpPr txBox="1"/>
          <p:nvPr/>
        </p:nvSpPr>
        <p:spPr>
          <a:xfrm>
            <a:off x="4480560" y="4023360"/>
            <a:ext cx="9144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P-6 · P-7</a:t>
            </a:r>
            <a:endParaRPr lang="en-US" sz="1100" dirty="0"/>
          </a:p>
        </p:txBody>
      </p:sp>
      <p:sp>
        <p:nvSpPr>
          <p:cNvPr id="27" name="Text 25"/>
          <p:cNvSpPr txBox="1"/>
          <p:nvPr/>
        </p:nvSpPr>
        <p:spPr>
          <a:xfrm>
            <a:off x="4480560" y="4480560"/>
            <a:ext cx="3200400" cy="411480"/>
          </a:xfrm>
          <a:prstGeom prst="rect">
            <a:avLst/>
          </a:prstGeom>
          <a:noFill/>
          <a:ln/>
        </p:spPr>
        <p:txBody>
          <a:bodyPr wrap="square" lIns="0" tIns="0" rIns="0" bIns="0" rtlCol="0" anchor="ctr"/>
          <a:lstStyle/>
          <a:p>
            <a:pPr indent="0" marL="0">
              <a:buNone/>
            </a:pPr>
            <a:r>
              <a:rPr lang="en-US" sz="1400" b="1" dirty="0">
                <a:solidFill>
                  <a:srgbClr val="10375C"/>
                </a:solidFill>
                <a:latin typeface="Calibri" pitchFamily="34" charset="0"/>
                <a:ea typeface="Calibri" pitchFamily="34" charset="-122"/>
                <a:cs typeface="Calibri" pitchFamily="34" charset="-120"/>
              </a:rPr>
              <a:t>Réenrôlement : tous les cas indistincts</a:t>
            </a:r>
            <a:endParaRPr lang="en-US" sz="1400" dirty="0"/>
          </a:p>
        </p:txBody>
      </p:sp>
      <p:sp>
        <p:nvSpPr>
          <p:cNvPr id="28" name="Text 26"/>
          <p:cNvSpPr txBox="1"/>
          <p:nvPr/>
        </p:nvSpPr>
        <p:spPr>
          <a:xfrm>
            <a:off x="4480560" y="4892040"/>
            <a:ext cx="3200400" cy="1097280"/>
          </a:xfrm>
          <a:prstGeom prst="rect">
            <a:avLst/>
          </a:prstGeom>
          <a:noFill/>
          <a:ln/>
        </p:spPr>
        <p:txBody>
          <a:bodyPr wrap="square" lIns="0" tIns="0" rIns="0" bIns="0" rtlCol="0" anchor="t"/>
          <a:lstStyle/>
          <a:p>
            <a:pPr indent="0" marL="0">
              <a:buNone/>
            </a:pPr>
            <a:r>
              <a:rPr lang="en-US" sz="1150" dirty="0">
                <a:solidFill>
                  <a:srgbClr val="14213D"/>
                </a:solidFill>
                <a:latin typeface="Calibri" pitchFamily="34" charset="0"/>
                <a:ea typeface="Calibri" pitchFamily="34" charset="-122"/>
                <a:cs typeface="Calibri" pitchFamily="34" charset="-120"/>
              </a:rPr>
              <a:t>Perte, vol, casse, réinstallation, attaquant : clé de récupération exigée. Deux essais, puis attente croissante sur l'appareil qui essaie. Le compte n'est jamais bloqué.</a:t>
            </a:r>
            <a:endParaRPr lang="en-US" sz="1150" dirty="0"/>
          </a:p>
        </p:txBody>
      </p:sp>
      <p:sp>
        <p:nvSpPr>
          <p:cNvPr id="29" name="Shape 27"/>
          <p:cNvSpPr/>
          <p:nvPr/>
        </p:nvSpPr>
        <p:spPr>
          <a:xfrm>
            <a:off x="8138160" y="3840480"/>
            <a:ext cx="3566160" cy="2194560"/>
          </a:xfrm>
          <a:prstGeom prst="roundRect">
            <a:avLst>
              <a:gd name="adj" fmla="val 5000"/>
            </a:avLst>
          </a:prstGeom>
          <a:solidFill>
            <a:srgbClr val="FFFFFF"/>
          </a:solidFill>
          <a:ln w="9525">
            <a:solidFill>
              <a:srgbClr val="DCE3EC"/>
            </a:solidFill>
            <a:prstDash val="solid"/>
          </a:ln>
        </p:spPr>
      </p:sp>
      <p:sp>
        <p:nvSpPr>
          <p:cNvPr id="30" name="Shape 28"/>
          <p:cNvSpPr/>
          <p:nvPr/>
        </p:nvSpPr>
        <p:spPr>
          <a:xfrm>
            <a:off x="8321040" y="4023360"/>
            <a:ext cx="914400" cy="365760"/>
          </a:xfrm>
          <a:prstGeom prst="roundRect">
            <a:avLst>
              <a:gd name="adj" fmla="val 50000"/>
            </a:avLst>
          </a:prstGeom>
          <a:solidFill>
            <a:srgbClr val="10375C"/>
          </a:solidFill>
          <a:ln w="12700">
            <a:solidFill>
              <a:srgbClr val="10375C"/>
            </a:solidFill>
            <a:prstDash val="solid"/>
          </a:ln>
        </p:spPr>
      </p:sp>
      <p:sp>
        <p:nvSpPr>
          <p:cNvPr id="31" name="Text 29"/>
          <p:cNvSpPr txBox="1"/>
          <p:nvPr/>
        </p:nvSpPr>
        <p:spPr>
          <a:xfrm>
            <a:off x="8321040" y="4023360"/>
            <a:ext cx="9144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P-11</a:t>
            </a:r>
            <a:endParaRPr lang="en-US" sz="1100" dirty="0"/>
          </a:p>
        </p:txBody>
      </p:sp>
      <p:sp>
        <p:nvSpPr>
          <p:cNvPr id="32" name="Text 30"/>
          <p:cNvSpPr txBox="1"/>
          <p:nvPr/>
        </p:nvSpPr>
        <p:spPr>
          <a:xfrm>
            <a:off x="8321040" y="4480560"/>
            <a:ext cx="3200400" cy="411480"/>
          </a:xfrm>
          <a:prstGeom prst="rect">
            <a:avLst/>
          </a:prstGeom>
          <a:noFill/>
          <a:ln/>
        </p:spPr>
        <p:txBody>
          <a:bodyPr wrap="square" lIns="0" tIns="0" rIns="0" bIns="0" rtlCol="0" anchor="ctr"/>
          <a:lstStyle/>
          <a:p>
            <a:pPr indent="0" marL="0">
              <a:buNone/>
            </a:pPr>
            <a:r>
              <a:rPr lang="en-US" sz="1400" b="1" dirty="0">
                <a:solidFill>
                  <a:srgbClr val="10375C"/>
                </a:solidFill>
                <a:latin typeface="Calibri" pitchFamily="34" charset="0"/>
                <a:ea typeface="Calibri" pitchFamily="34" charset="-122"/>
                <a:cs typeface="Calibri" pitchFamily="34" charset="-120"/>
              </a:rPr>
              <a:t>La biométrie n'est pas un facteur</a:t>
            </a:r>
            <a:endParaRPr lang="en-US" sz="1400" dirty="0"/>
          </a:p>
        </p:txBody>
      </p:sp>
      <p:sp>
        <p:nvSpPr>
          <p:cNvPr id="33" name="Text 31"/>
          <p:cNvSpPr txBox="1"/>
          <p:nvPr/>
        </p:nvSpPr>
        <p:spPr>
          <a:xfrm>
            <a:off x="8321040" y="4892040"/>
            <a:ext cx="3200400" cy="1097280"/>
          </a:xfrm>
          <a:prstGeom prst="rect">
            <a:avLst/>
          </a:prstGeom>
          <a:noFill/>
          <a:ln/>
        </p:spPr>
        <p:txBody>
          <a:bodyPr wrap="square" lIns="0" tIns="0" rIns="0" bIns="0" rtlCol="0" anchor="t"/>
          <a:lstStyle/>
          <a:p>
            <a:pPr indent="0" marL="0">
              <a:buNone/>
            </a:pPr>
            <a:r>
              <a:rPr lang="en-US" sz="1150" dirty="0">
                <a:solidFill>
                  <a:srgbClr val="14213D"/>
                </a:solidFill>
                <a:latin typeface="Calibri" pitchFamily="34" charset="0"/>
                <a:ea typeface="Calibri" pitchFamily="34" charset="-122"/>
                <a:cs typeface="Calibri" pitchFamily="34" charset="-120"/>
              </a:rPr>
              <a:t>Le serveur ne vérifie que le PIN et la signature. Le déverrouillage local du téléphone est le verrou de la puce, jamais transmis.</a:t>
            </a:r>
            <a:endParaRPr lang="en-US" sz="1150" dirty="0"/>
          </a:p>
        </p:txBody>
      </p:sp>
      <p:sp>
        <p:nvSpPr>
          <p:cNvPr id="34" name="Text 32"/>
          <p:cNvSpPr txBox="1"/>
          <p:nvPr/>
        </p:nvSpPr>
        <p:spPr>
          <a:xfrm>
            <a:off x="457200" y="6446520"/>
            <a:ext cx="8229600" cy="274320"/>
          </a:xfrm>
          <a:prstGeom prst="rect">
            <a:avLst/>
          </a:prstGeom>
          <a:noFill/>
          <a:ln/>
        </p:spPr>
        <p:txBody>
          <a:bodyPr wrap="square" lIns="0" tIns="0" rIns="0" bIns="0" rtlCol="0" anchor="ctr"/>
          <a:lstStyle/>
          <a:p>
            <a:pPr indent="0" marL="0">
              <a:buNone/>
            </a:pPr>
            <a:r>
              <a:rPr lang="en-US" sz="900" dirty="0">
                <a:solidFill>
                  <a:srgbClr val="5C6B7A"/>
                </a:solidFill>
                <a:latin typeface="Calibri" pitchFamily="34" charset="0"/>
                <a:ea typeface="Calibri" pitchFamily="34" charset="-122"/>
                <a:cs typeface="Calibri" pitchFamily="34" charset="-120"/>
              </a:rPr>
              <a:t>IdentiShield-CM · Dossier de design de l'application mobile · v1.0 · 25/09/2026</a:t>
            </a:r>
            <a:endParaRPr lang="en-US" sz="900" dirty="0"/>
          </a:p>
        </p:txBody>
      </p:sp>
      <p:sp>
        <p:nvSpPr>
          <p:cNvPr id="35" name="Text 33"/>
          <p:cNvSpPr txBox="1"/>
          <p:nvPr/>
        </p:nvSpPr>
        <p:spPr>
          <a:xfrm>
            <a:off x="11247120" y="6446520"/>
            <a:ext cx="548640" cy="274320"/>
          </a:xfrm>
          <a:prstGeom prst="rect">
            <a:avLst/>
          </a:prstGeom>
          <a:noFill/>
          <a:ln/>
        </p:spPr>
        <p:txBody>
          <a:bodyPr wrap="square" lIns="0" tIns="0" rIns="0" bIns="0"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3000" b="1" dirty="0">
                <a:solidFill>
                  <a:srgbClr val="10375C"/>
                </a:solidFill>
                <a:latin typeface="Calibri" pitchFamily="34" charset="0"/>
                <a:ea typeface="Calibri" pitchFamily="34" charset="-122"/>
                <a:cs typeface="Calibri" pitchFamily="34" charset="-120"/>
              </a:rPr>
              <a:t>Identité visuelle : le logo</a:t>
            </a:r>
            <a:endParaRPr lang="en-US" sz="3000" dirty="0"/>
          </a:p>
        </p:txBody>
      </p:sp>
      <p:sp>
        <p:nvSpPr>
          <p:cNvPr id="3" name="Text 1"/>
          <p:cNvSpPr txBox="1"/>
          <p:nvPr/>
        </p:nvSpPr>
        <p:spPr>
          <a:xfrm>
            <a:off x="457200" y="914400"/>
            <a:ext cx="11247120" cy="365760"/>
          </a:xfrm>
          <a:prstGeom prst="rect">
            <a:avLst/>
          </a:prstGeom>
          <a:noFill/>
          <a:ln/>
        </p:spPr>
        <p:txBody>
          <a:bodyPr wrap="square" lIns="0" tIns="0" rIns="0" bIns="0" rtlCol="0" anchor="ctr"/>
          <a:lstStyle/>
          <a:p>
            <a:pPr indent="0" marL="0">
              <a:buNone/>
            </a:pPr>
            <a:r>
              <a:rPr lang="en-US" sz="1400" dirty="0">
                <a:solidFill>
                  <a:srgbClr val="5C6B7A"/>
                </a:solidFill>
                <a:latin typeface="Calibri" pitchFamily="34" charset="0"/>
                <a:ea typeface="Calibri" pitchFamily="34" charset="-122"/>
                <a:cs typeface="Calibri" pitchFamily="34" charset="-120"/>
              </a:rPr>
              <a:t>Un bouclier, un téléphone, une coche : le téléphone est la clé, et il protège.</a:t>
            </a:r>
            <a:endParaRPr lang="en-US" sz="1400" dirty="0"/>
          </a:p>
        </p:txBody>
      </p:sp>
      <p:pic>
        <p:nvPicPr>
          <p:cNvPr id="4" name="Image 0" descr="/home/claude/design/out/logo_lockup.png">    </p:cNvPr>
          <p:cNvPicPr>
            <a:picLocks noChangeAspect="1"/>
          </p:cNvPicPr>
          <p:nvPr/>
        </p:nvPicPr>
        <p:blipFill>
          <a:blip r:embed="rId1"/>
          <a:stretch>
            <a:fillRect/>
          </a:stretch>
        </p:blipFill>
        <p:spPr>
          <a:xfrm>
            <a:off x="457200" y="1463040"/>
            <a:ext cx="6858000" cy="1014984"/>
          </a:xfrm>
          <a:prstGeom prst="rect">
            <a:avLst/>
          </a:prstGeom>
        </p:spPr>
      </p:pic>
      <p:pic>
        <p:nvPicPr>
          <p:cNvPr id="5" name="Image 1" descr="/home/claude/design/out/logo_dark.png">    </p:cNvPr>
          <p:cNvPicPr>
            <a:picLocks noChangeAspect="1"/>
          </p:cNvPicPr>
          <p:nvPr/>
        </p:nvPicPr>
        <p:blipFill>
          <a:blip r:embed="rId2"/>
          <a:stretch>
            <a:fillRect/>
          </a:stretch>
        </p:blipFill>
        <p:spPr>
          <a:xfrm>
            <a:off x="457200" y="2743200"/>
            <a:ext cx="6858000" cy="1014984"/>
          </a:xfrm>
          <a:prstGeom prst="rect">
            <a:avLst/>
          </a:prstGeom>
        </p:spPr>
      </p:pic>
      <p:pic>
        <p:nvPicPr>
          <p:cNvPr id="6" name="Image 2" descr="/home/claude/design/out/app_icon.png">    </p:cNvPr>
          <p:cNvPicPr>
            <a:picLocks noChangeAspect="1"/>
          </p:cNvPicPr>
          <p:nvPr/>
        </p:nvPicPr>
        <p:blipFill>
          <a:blip r:embed="rId3"/>
          <a:stretch>
            <a:fillRect/>
          </a:stretch>
        </p:blipFill>
        <p:spPr>
          <a:xfrm>
            <a:off x="640080" y="4114800"/>
            <a:ext cx="1463040" cy="1463040"/>
          </a:xfrm>
          <a:prstGeom prst="rect">
            <a:avLst/>
          </a:prstGeom>
        </p:spPr>
      </p:pic>
      <p:sp>
        <p:nvSpPr>
          <p:cNvPr id="7" name="Text 2"/>
          <p:cNvSpPr txBox="1"/>
          <p:nvPr/>
        </p:nvSpPr>
        <p:spPr>
          <a:xfrm>
            <a:off x="2286000" y="4572000"/>
            <a:ext cx="4572000" cy="457200"/>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Icône d'application (Android, coins adaptatifs)</a:t>
            </a:r>
            <a:endParaRPr lang="en-US" sz="1200" dirty="0"/>
          </a:p>
        </p:txBody>
      </p:sp>
      <p:sp>
        <p:nvSpPr>
          <p:cNvPr id="8" name="Shape 3"/>
          <p:cNvSpPr/>
          <p:nvPr/>
        </p:nvSpPr>
        <p:spPr>
          <a:xfrm>
            <a:off x="7863840" y="1463040"/>
            <a:ext cx="3840480" cy="4663440"/>
          </a:xfrm>
          <a:prstGeom prst="roundRect">
            <a:avLst>
              <a:gd name="adj" fmla="val 2857"/>
            </a:avLst>
          </a:prstGeom>
          <a:solidFill>
            <a:srgbClr val="E8F1F8"/>
          </a:solidFill>
          <a:ln w="9525">
            <a:solidFill>
              <a:srgbClr val="DCE3EC"/>
            </a:solidFill>
            <a:prstDash val="solid"/>
          </a:ln>
        </p:spPr>
      </p:sp>
      <p:sp>
        <p:nvSpPr>
          <p:cNvPr id="9" name="Text 4"/>
          <p:cNvSpPr txBox="1"/>
          <p:nvPr/>
        </p:nvSpPr>
        <p:spPr>
          <a:xfrm>
            <a:off x="8138160" y="1645920"/>
            <a:ext cx="3383280" cy="4389120"/>
          </a:xfrm>
          <a:prstGeom prst="rect">
            <a:avLst/>
          </a:prstGeom>
          <a:noFill/>
          <a:ln/>
        </p:spPr>
        <p:txBody>
          <a:bodyPr wrap="square" lIns="0" tIns="0" rIns="0" bIns="0" rtlCol="0" anchor="t"/>
          <a:lstStyle/>
          <a:p>
            <a:pPr indent="0" marL="0">
              <a:spcAft>
                <a:spcPts val="500"/>
              </a:spcAft>
              <a:buNone/>
            </a:pPr>
            <a:r>
              <a:rPr lang="en-US" sz="1400" b="1" dirty="0">
                <a:solidFill>
                  <a:srgbClr val="14213D"/>
                </a:solidFill>
                <a:latin typeface="Calibri" pitchFamily="34" charset="0"/>
                <a:ea typeface="Calibri" pitchFamily="34" charset="-122"/>
                <a:cs typeface="Calibri" pitchFamily="34" charset="-120"/>
              </a:rPr>
              <a:t>Ce que le logo dit</a:t>
            </a:r>
            <a:endParaRPr lang="en-US" sz="1200" dirty="0"/>
          </a:p>
          <a:p>
            <a:pPr marL="342900" indent="-342900">
              <a:spcAft>
                <a:spcPts val="500"/>
              </a:spcAft>
              <a:buSzPct val="100000"/>
              <a:buChar char="•"/>
            </a:pPr>
            <a:r>
              <a:rPr lang="en-US" sz="1200" dirty="0">
                <a:solidFill>
                  <a:srgbClr val="14213D"/>
                </a:solidFill>
                <a:latin typeface="Calibri" pitchFamily="34" charset="0"/>
                <a:ea typeface="Calibri" pitchFamily="34" charset="-122"/>
                <a:cs typeface="Calibri" pitchFamily="34" charset="-120"/>
              </a:rPr>
              <a:t>Le bouclier : la protection, la garde devant le débit.</a:t>
            </a:r>
            <a:endParaRPr lang="en-US" sz="1200" dirty="0"/>
          </a:p>
          <a:p>
            <a:pPr marL="342900" indent="-342900">
              <a:spcAft>
                <a:spcPts val="500"/>
              </a:spcAft>
              <a:buSzPct val="100000"/>
              <a:buChar char="•"/>
            </a:pPr>
            <a:r>
              <a:rPr lang="en-US" sz="1200" dirty="0">
                <a:solidFill>
                  <a:srgbClr val="14213D"/>
                </a:solidFill>
                <a:latin typeface="Calibri" pitchFamily="34" charset="0"/>
                <a:ea typeface="Calibri" pitchFamily="34" charset="-122"/>
                <a:cs typeface="Calibri" pitchFamily="34" charset="-120"/>
              </a:rPr>
              <a:t>Le téléphone au centre : c'est lui la clé, pas le numéro.</a:t>
            </a:r>
            <a:endParaRPr lang="en-US" sz="1200" dirty="0"/>
          </a:p>
          <a:p>
            <a:pPr marL="342900" indent="-342900">
              <a:spcAft>
                <a:spcPts val="500"/>
              </a:spcAft>
              <a:buSzPct val="100000"/>
              <a:buChar char="•"/>
            </a:pPr>
            <a:r>
              <a:rPr lang="en-US" sz="1200" dirty="0">
                <a:solidFill>
                  <a:srgbClr val="14213D"/>
                </a:solidFill>
                <a:latin typeface="Calibri" pitchFamily="34" charset="0"/>
                <a:ea typeface="Calibri" pitchFamily="34" charset="-122"/>
                <a:cs typeface="Calibri" pitchFamily="34" charset="-120"/>
              </a:rPr>
              <a:t>La coche verte : « appareil protégé », l'état que l'usager cherche.</a:t>
            </a:r>
            <a:endParaRPr lang="en-US" sz="1200" dirty="0"/>
          </a:p>
          <a:p>
            <a:pPr indent="0" marL="0">
              <a:spcAft>
                <a:spcPts val="500"/>
              </a:spcAft>
              <a:buNone/>
            </a:pPr>
            <a:r>
              <a:rPr lang="en-US" sz="1400" b="1" dirty="0">
                <a:solidFill>
                  <a:srgbClr val="14213D"/>
                </a:solidFill>
                <a:latin typeface="Calibri" pitchFamily="34" charset="0"/>
                <a:ea typeface="Calibri" pitchFamily="34" charset="-122"/>
                <a:cs typeface="Calibri" pitchFamily="34" charset="-120"/>
              </a:rPr>
              <a:t>Choix</a:t>
            </a:r>
            <a:endParaRPr lang="en-US" sz="1200" dirty="0"/>
          </a:p>
          <a:p>
            <a:pPr marL="342900" indent="-342900">
              <a:spcAft>
                <a:spcPts val="500"/>
              </a:spcAft>
              <a:buSzPct val="100000"/>
              <a:buChar char="•"/>
            </a:pPr>
            <a:r>
              <a:rPr lang="en-US" sz="1200" dirty="0">
                <a:solidFill>
                  <a:srgbClr val="14213D"/>
                </a:solidFill>
                <a:latin typeface="Calibri" pitchFamily="34" charset="0"/>
                <a:ea typeface="Calibri" pitchFamily="34" charset="-122"/>
                <a:cs typeface="Calibri" pitchFamily="34" charset="-120"/>
              </a:rPr>
              <a:t>Marine et vert : confiance et validation, sans reprendre le jaune de l'opérateur (l'app est une couche, pas un clone).</a:t>
            </a:r>
            <a:endParaRPr lang="en-US" sz="1200" dirty="0"/>
          </a:p>
          <a:p>
            <a:pPr marL="342900" indent="-342900">
              <a:spcAft>
                <a:spcPts val="500"/>
              </a:spcAft>
              <a:buSzPct val="100000"/>
              <a:buChar char="•"/>
            </a:pPr>
            <a:r>
              <a:rPr lang="en-US" sz="1200" dirty="0">
                <a:solidFill>
                  <a:srgbClr val="14213D"/>
                </a:solidFill>
                <a:latin typeface="Calibri" pitchFamily="34" charset="0"/>
                <a:ea typeface="Calibri" pitchFamily="34" charset="-122"/>
                <a:cs typeface="Calibri" pitchFamily="34" charset="-120"/>
              </a:rPr>
              <a:t>Lisible à 24 px dans une barre de notification.</a:t>
            </a:r>
            <a:endParaRPr lang="en-US" sz="1200" dirty="0"/>
          </a:p>
          <a:p>
            <a:pPr marL="342900" indent="-342900">
              <a:spcAft>
                <a:spcPts val="500"/>
              </a:spcAft>
              <a:buSzPct val="100000"/>
              <a:buChar char="•"/>
            </a:pPr>
            <a:r>
              <a:rPr lang="en-US" sz="1200" dirty="0">
                <a:solidFill>
                  <a:srgbClr val="14213D"/>
                </a:solidFill>
                <a:latin typeface="Calibri" pitchFamily="34" charset="0"/>
                <a:ea typeface="Calibri" pitchFamily="34" charset="-122"/>
                <a:cs typeface="Calibri" pitchFamily="34" charset="-120"/>
              </a:rPr>
              <a:t>Nom : « IdentiShield », signature : « Votre téléphone est votre clé ».</a:t>
            </a:r>
            <a:endParaRPr lang="en-US" sz="1200" dirty="0"/>
          </a:p>
        </p:txBody>
      </p:sp>
      <p:sp>
        <p:nvSpPr>
          <p:cNvPr id="10" name="Text 5"/>
          <p:cNvSpPr txBox="1"/>
          <p:nvPr/>
        </p:nvSpPr>
        <p:spPr>
          <a:xfrm>
            <a:off x="457200" y="6446520"/>
            <a:ext cx="8229600" cy="274320"/>
          </a:xfrm>
          <a:prstGeom prst="rect">
            <a:avLst/>
          </a:prstGeom>
          <a:noFill/>
          <a:ln/>
        </p:spPr>
        <p:txBody>
          <a:bodyPr wrap="square" lIns="0" tIns="0" rIns="0" bIns="0" rtlCol="0" anchor="ctr"/>
          <a:lstStyle/>
          <a:p>
            <a:pPr indent="0" marL="0">
              <a:buNone/>
            </a:pPr>
            <a:r>
              <a:rPr lang="en-US" sz="900" dirty="0">
                <a:solidFill>
                  <a:srgbClr val="5C6B7A"/>
                </a:solidFill>
                <a:latin typeface="Calibri" pitchFamily="34" charset="0"/>
                <a:ea typeface="Calibri" pitchFamily="34" charset="-122"/>
                <a:cs typeface="Calibri" pitchFamily="34" charset="-120"/>
              </a:rPr>
              <a:t>IdentiShield-CM · Dossier de design de l'application mobile · v1.0 · 25/09/2026</a:t>
            </a:r>
            <a:endParaRPr lang="en-US" sz="900" dirty="0"/>
          </a:p>
        </p:txBody>
      </p:sp>
      <p:sp>
        <p:nvSpPr>
          <p:cNvPr id="11" name="Text 6"/>
          <p:cNvSpPr txBox="1"/>
          <p:nvPr/>
        </p:nvSpPr>
        <p:spPr>
          <a:xfrm>
            <a:off x="11247120" y="6446520"/>
            <a:ext cx="548640" cy="274320"/>
          </a:xfrm>
          <a:prstGeom prst="rect">
            <a:avLst/>
          </a:prstGeom>
          <a:noFill/>
          <a:ln/>
        </p:spPr>
        <p:txBody>
          <a:bodyPr wrap="square" lIns="0" tIns="0" rIns="0" bIns="0"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3000" b="1" dirty="0">
                <a:solidFill>
                  <a:srgbClr val="10375C"/>
                </a:solidFill>
                <a:latin typeface="Calibri" pitchFamily="34" charset="0"/>
                <a:ea typeface="Calibri" pitchFamily="34" charset="-122"/>
                <a:cs typeface="Calibri" pitchFamily="34" charset="-120"/>
              </a:rPr>
              <a:t>Couleurs et typographie</a:t>
            </a:r>
            <a:endParaRPr lang="en-US" sz="3000" dirty="0"/>
          </a:p>
        </p:txBody>
      </p:sp>
      <p:sp>
        <p:nvSpPr>
          <p:cNvPr id="3" name="Text 1"/>
          <p:cNvSpPr txBox="1"/>
          <p:nvPr/>
        </p:nvSpPr>
        <p:spPr>
          <a:xfrm>
            <a:off x="457200" y="914400"/>
            <a:ext cx="11247120" cy="365760"/>
          </a:xfrm>
          <a:prstGeom prst="rect">
            <a:avLst/>
          </a:prstGeom>
          <a:noFill/>
          <a:ln/>
        </p:spPr>
        <p:txBody>
          <a:bodyPr wrap="square" lIns="0" tIns="0" rIns="0" bIns="0" rtlCol="0" anchor="ctr"/>
          <a:lstStyle/>
          <a:p>
            <a:pPr indent="0" marL="0">
              <a:buNone/>
            </a:pPr>
            <a:r>
              <a:rPr lang="en-US" sz="1400" dirty="0">
                <a:solidFill>
                  <a:srgbClr val="5C6B7A"/>
                </a:solidFill>
                <a:latin typeface="Calibri" pitchFamily="34" charset="0"/>
                <a:ea typeface="Calibri" pitchFamily="34" charset="-122"/>
                <a:cs typeface="Calibri" pitchFamily="34" charset="-120"/>
              </a:rPr>
              <a:t>Une couleur dominante (marine), une couleur d'état (vert protégé), deux couleurs d'alerte (ambre, rouge). Roboto, la police système d'Android.</a:t>
            </a:r>
            <a:endParaRPr lang="en-US" sz="1400" dirty="0"/>
          </a:p>
        </p:txBody>
      </p:sp>
      <p:pic>
        <p:nvPicPr>
          <p:cNvPr id="4" name="Image 0" descr="/home/claude/design/out/palette.png">    </p:cNvPr>
          <p:cNvPicPr>
            <a:picLocks noChangeAspect="1"/>
          </p:cNvPicPr>
          <p:nvPr/>
        </p:nvPicPr>
        <p:blipFill>
          <a:blip r:embed="rId1"/>
          <a:stretch>
            <a:fillRect/>
          </a:stretch>
        </p:blipFill>
        <p:spPr>
          <a:xfrm>
            <a:off x="457200" y="1417320"/>
            <a:ext cx="11247120" cy="2542032"/>
          </a:xfrm>
          <a:prstGeom prst="rect">
            <a:avLst/>
          </a:prstGeom>
        </p:spPr>
      </p:pic>
      <p:pic>
        <p:nvPicPr>
          <p:cNvPr id="5" name="Image 1" descr="/home/claude/design/out/typo.png">    </p:cNvPr>
          <p:cNvPicPr>
            <a:picLocks noChangeAspect="1"/>
          </p:cNvPicPr>
          <p:nvPr/>
        </p:nvPicPr>
        <p:blipFill>
          <a:blip r:embed="rId2"/>
          <a:stretch>
            <a:fillRect/>
          </a:stretch>
        </p:blipFill>
        <p:spPr>
          <a:xfrm>
            <a:off x="457200" y="4114800"/>
            <a:ext cx="3931920" cy="2276856"/>
          </a:xfrm>
          <a:prstGeom prst="rect">
            <a:avLst/>
          </a:prstGeom>
        </p:spPr>
      </p:pic>
      <p:sp>
        <p:nvSpPr>
          <p:cNvPr id="6" name="Shape 2"/>
          <p:cNvSpPr/>
          <p:nvPr/>
        </p:nvSpPr>
        <p:spPr>
          <a:xfrm>
            <a:off x="4663440" y="4114800"/>
            <a:ext cx="7040880" cy="2240280"/>
          </a:xfrm>
          <a:prstGeom prst="roundRect">
            <a:avLst>
              <a:gd name="adj" fmla="val 4898"/>
            </a:avLst>
          </a:prstGeom>
          <a:solidFill>
            <a:srgbClr val="F4F7FB"/>
          </a:solidFill>
          <a:ln w="9525">
            <a:solidFill>
              <a:srgbClr val="DCE3EC"/>
            </a:solidFill>
            <a:prstDash val="solid"/>
          </a:ln>
        </p:spPr>
      </p:sp>
      <p:sp>
        <p:nvSpPr>
          <p:cNvPr id="7" name="Text 3"/>
          <p:cNvSpPr txBox="1"/>
          <p:nvPr/>
        </p:nvSpPr>
        <p:spPr>
          <a:xfrm>
            <a:off x="4937760" y="4251960"/>
            <a:ext cx="6583680" cy="2011680"/>
          </a:xfrm>
          <a:prstGeom prst="rect">
            <a:avLst/>
          </a:prstGeom>
          <a:noFill/>
          <a:ln/>
        </p:spPr>
        <p:txBody>
          <a:bodyPr wrap="square" lIns="0" tIns="0" rIns="0" bIns="0" rtlCol="0" anchor="t"/>
          <a:lstStyle/>
          <a:p>
            <a:pPr indent="0" marL="0">
              <a:spcAft>
                <a:spcPts val="500"/>
              </a:spcAft>
              <a:buNone/>
            </a:pPr>
            <a:r>
              <a:rPr lang="en-US" sz="1400" b="1" dirty="0">
                <a:solidFill>
                  <a:srgbClr val="14213D"/>
                </a:solidFill>
                <a:latin typeface="Calibri" pitchFamily="34" charset="0"/>
                <a:ea typeface="Calibri" pitchFamily="34" charset="-122"/>
                <a:cs typeface="Calibri" pitchFamily="34" charset="-120"/>
              </a:rPr>
              <a:t>Règles d'usage</a:t>
            </a:r>
            <a:endParaRPr lang="en-US" sz="1200" dirty="0"/>
          </a:p>
          <a:p>
            <a:pPr marL="342900" indent="-342900">
              <a:spcAft>
                <a:spcPts val="500"/>
              </a:spcAft>
              <a:buSzPct val="100000"/>
              <a:buChar char="•"/>
            </a:pPr>
            <a:r>
              <a:rPr lang="en-US" sz="1200" dirty="0">
                <a:solidFill>
                  <a:srgbClr val="14213D"/>
                </a:solidFill>
                <a:latin typeface="Calibri" pitchFamily="34" charset="0"/>
                <a:ea typeface="Calibri" pitchFamily="34" charset="-122"/>
                <a:cs typeface="Calibri" pitchFamily="34" charset="-120"/>
              </a:rPr>
              <a:t>Le vert n'apparaît que pour un état vérifié par le serveur (« appareil protégé », « envoyé », « c'est moi »). Jamais pour décorer.</a:t>
            </a:r>
            <a:endParaRPr lang="en-US" sz="1200" dirty="0"/>
          </a:p>
          <a:p>
            <a:pPr marL="342900" indent="-342900">
              <a:spcAft>
                <a:spcPts val="500"/>
              </a:spcAft>
              <a:buSzPct val="100000"/>
              <a:buChar char="•"/>
            </a:pPr>
            <a:r>
              <a:rPr lang="en-US" sz="1200" dirty="0">
                <a:solidFill>
                  <a:srgbClr val="14213D"/>
                </a:solidFill>
                <a:latin typeface="Calibri" pitchFamily="34" charset="0"/>
                <a:ea typeface="Calibri" pitchFamily="34" charset="-122"/>
                <a:cs typeface="Calibri" pitchFamily="34" charset="-120"/>
              </a:rPr>
              <a:t>Le rouge est réservé au blocage, au refus et au « nouveau bénéficiaire » : l'œil doit s'arrêter.</a:t>
            </a:r>
            <a:endParaRPr lang="en-US" sz="1200" dirty="0"/>
          </a:p>
          <a:p>
            <a:pPr marL="342900" indent="-342900">
              <a:spcAft>
                <a:spcPts val="500"/>
              </a:spcAft>
              <a:buSzPct val="100000"/>
              <a:buChar char="•"/>
            </a:pPr>
            <a:r>
              <a:rPr lang="en-US" sz="1200" dirty="0">
                <a:solidFill>
                  <a:srgbClr val="14213D"/>
                </a:solidFill>
                <a:latin typeface="Calibri" pitchFamily="34" charset="0"/>
                <a:ea typeface="Calibri" pitchFamily="34" charset="-122"/>
                <a:cs typeface="Calibri" pitchFamily="34" charset="-120"/>
              </a:rPr>
              <a:t>L'ambre signale ce qui attend l'usager : alerte à traiter, envoi différé, délai imposé.</a:t>
            </a:r>
            <a:endParaRPr lang="en-US" sz="1200" dirty="0"/>
          </a:p>
          <a:p>
            <a:pPr marL="342900" indent="-342900">
              <a:spcAft>
                <a:spcPts val="500"/>
              </a:spcAft>
              <a:buSzPct val="100000"/>
              <a:buChar char="•"/>
            </a:pPr>
            <a:r>
              <a:rPr lang="en-US" sz="1200" dirty="0">
                <a:solidFill>
                  <a:srgbClr val="14213D"/>
                </a:solidFill>
                <a:latin typeface="Calibri" pitchFamily="34" charset="0"/>
                <a:ea typeface="Calibri" pitchFamily="34" charset="-122"/>
                <a:cs typeface="Calibri" pitchFamily="34" charset="-120"/>
              </a:rPr>
              <a:t>Contraste minimal 4,5:1 sur tout texte ; taille de police système respectée (MOB-NF-05).</a:t>
            </a:r>
            <a:endParaRPr lang="en-US" sz="1200" dirty="0"/>
          </a:p>
        </p:txBody>
      </p:sp>
      <p:sp>
        <p:nvSpPr>
          <p:cNvPr id="8" name="Text 4"/>
          <p:cNvSpPr txBox="1"/>
          <p:nvPr/>
        </p:nvSpPr>
        <p:spPr>
          <a:xfrm>
            <a:off x="457200" y="6446520"/>
            <a:ext cx="8229600" cy="274320"/>
          </a:xfrm>
          <a:prstGeom prst="rect">
            <a:avLst/>
          </a:prstGeom>
          <a:noFill/>
          <a:ln/>
        </p:spPr>
        <p:txBody>
          <a:bodyPr wrap="square" lIns="0" tIns="0" rIns="0" bIns="0" rtlCol="0" anchor="ctr"/>
          <a:lstStyle/>
          <a:p>
            <a:pPr indent="0" marL="0">
              <a:buNone/>
            </a:pPr>
            <a:r>
              <a:rPr lang="en-US" sz="900" dirty="0">
                <a:solidFill>
                  <a:srgbClr val="5C6B7A"/>
                </a:solidFill>
                <a:latin typeface="Calibri" pitchFamily="34" charset="0"/>
                <a:ea typeface="Calibri" pitchFamily="34" charset="-122"/>
                <a:cs typeface="Calibri" pitchFamily="34" charset="-120"/>
              </a:rPr>
              <a:t>IdentiShield-CM · Dossier de design de l'application mobile · v1.0 · 25/09/2026</a:t>
            </a:r>
            <a:endParaRPr lang="en-US" sz="900" dirty="0"/>
          </a:p>
        </p:txBody>
      </p:sp>
      <p:sp>
        <p:nvSpPr>
          <p:cNvPr id="9" name="Text 5"/>
          <p:cNvSpPr txBox="1"/>
          <p:nvPr/>
        </p:nvSpPr>
        <p:spPr>
          <a:xfrm>
            <a:off x="11247120" y="6446520"/>
            <a:ext cx="548640" cy="274320"/>
          </a:xfrm>
          <a:prstGeom prst="rect">
            <a:avLst/>
          </a:prstGeom>
          <a:noFill/>
          <a:ln/>
        </p:spPr>
        <p:txBody>
          <a:bodyPr wrap="square" lIns="0" tIns="0" rIns="0" bIns="0"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3000" b="1" dirty="0">
                <a:solidFill>
                  <a:srgbClr val="10375C"/>
                </a:solidFill>
                <a:latin typeface="Calibri" pitchFamily="34" charset="0"/>
                <a:ea typeface="Calibri" pitchFamily="34" charset="-122"/>
                <a:cs typeface="Calibri" pitchFamily="34" charset="-120"/>
              </a:rPr>
              <a:t>Le nom et le numéro du titulaire, toujours ensemble</a:t>
            </a:r>
            <a:endParaRPr lang="en-US" sz="3000" dirty="0"/>
          </a:p>
        </p:txBody>
      </p:sp>
      <p:sp>
        <p:nvSpPr>
          <p:cNvPr id="3" name="Text 1"/>
          <p:cNvSpPr txBox="1"/>
          <p:nvPr/>
        </p:nvSpPr>
        <p:spPr>
          <a:xfrm>
            <a:off x="457200" y="914400"/>
            <a:ext cx="11247120" cy="365760"/>
          </a:xfrm>
          <a:prstGeom prst="rect">
            <a:avLst/>
          </a:prstGeom>
          <a:noFill/>
          <a:ln/>
        </p:spPr>
        <p:txBody>
          <a:bodyPr wrap="square" lIns="0" tIns="0" rIns="0" bIns="0" rtlCol="0" anchor="ctr"/>
          <a:lstStyle/>
          <a:p>
            <a:pPr indent="0" marL="0">
              <a:buNone/>
            </a:pPr>
            <a:r>
              <a:rPr lang="en-US" sz="1400" dirty="0">
                <a:solidFill>
                  <a:srgbClr val="5C6B7A"/>
                </a:solidFill>
                <a:latin typeface="Calibri" pitchFamily="34" charset="0"/>
                <a:ea typeface="Calibri" pitchFamily="34" charset="-122"/>
                <a:cs typeface="Calibri" pitchFamily="34" charset="-120"/>
              </a:rPr>
              <a:t>Comme dans MoMo, un compte est une personne : le nom du titulaire est affiché avec le numéro, sur l'accueil, au déverrouillage et à chaque confirmation d'envoi.</a:t>
            </a:r>
            <a:endParaRPr lang="en-US" sz="1400" dirty="0"/>
          </a:p>
        </p:txBody>
      </p:sp>
      <p:pic>
        <p:nvPicPr>
          <p:cNvPr id="4" name="Image 0" descr="/home/claude/design/out/E11.png">    </p:cNvPr>
          <p:cNvPicPr>
            <a:picLocks noChangeAspect="1"/>
          </p:cNvPicPr>
          <p:nvPr/>
        </p:nvPicPr>
        <p:blipFill>
          <a:blip r:embed="rId1"/>
          <a:stretch>
            <a:fillRect/>
          </a:stretch>
        </p:blipFill>
        <p:spPr>
          <a:xfrm>
            <a:off x="457200" y="1417320"/>
            <a:ext cx="2093742" cy="4297680"/>
          </a:xfrm>
          <a:prstGeom prst="rect">
            <a:avLst/>
          </a:prstGeom>
        </p:spPr>
      </p:pic>
      <p:sp>
        <p:nvSpPr>
          <p:cNvPr id="5" name="Text 2"/>
          <p:cNvSpPr txBox="1"/>
          <p:nvPr/>
        </p:nvSpPr>
        <p:spPr>
          <a:xfrm>
            <a:off x="320040" y="5760720"/>
            <a:ext cx="2368062" cy="457200"/>
          </a:xfrm>
          <a:prstGeom prst="rect">
            <a:avLst/>
          </a:prstGeom>
          <a:noFill/>
          <a:ln/>
        </p:spPr>
        <p:txBody>
          <a:bodyPr wrap="square" lIns="0" tIns="0" rIns="0" bIns="0" rtlCol="0" anchor="t"/>
          <a:lstStyle/>
          <a:p>
            <a:pPr algn="ctr" indent="0" marL="0">
              <a:buNone/>
            </a:pPr>
            <a:r>
              <a:rPr lang="en-US" sz="1050" dirty="0">
                <a:solidFill>
                  <a:srgbClr val="14213D"/>
                </a:solidFill>
                <a:latin typeface="Calibri" pitchFamily="34" charset="0"/>
                <a:ea typeface="Calibri" pitchFamily="34" charset="-122"/>
                <a:cs typeface="Calibri" pitchFamily="34" charset="-120"/>
              </a:rPr>
              <a:t>E-11 Accueil : nom, numéro, solde, état « protégé »</a:t>
            </a:r>
            <a:endParaRPr lang="en-US" sz="1050" dirty="0"/>
          </a:p>
        </p:txBody>
      </p:sp>
      <p:pic>
        <p:nvPicPr>
          <p:cNvPr id="6" name="Image 1" descr="/home/claude/design/out/E10.png">    </p:cNvPr>
          <p:cNvPicPr>
            <a:picLocks noChangeAspect="1"/>
          </p:cNvPicPr>
          <p:nvPr/>
        </p:nvPicPr>
        <p:blipFill>
          <a:blip r:embed="rId2"/>
          <a:stretch>
            <a:fillRect/>
          </a:stretch>
        </p:blipFill>
        <p:spPr>
          <a:xfrm>
            <a:off x="3008142" y="1417320"/>
            <a:ext cx="2093742" cy="4297680"/>
          </a:xfrm>
          <a:prstGeom prst="rect">
            <a:avLst/>
          </a:prstGeom>
        </p:spPr>
      </p:pic>
      <p:sp>
        <p:nvSpPr>
          <p:cNvPr id="7" name="Text 3"/>
          <p:cNvSpPr txBox="1"/>
          <p:nvPr/>
        </p:nvSpPr>
        <p:spPr>
          <a:xfrm>
            <a:off x="2870982" y="5760720"/>
            <a:ext cx="2368062" cy="457200"/>
          </a:xfrm>
          <a:prstGeom prst="rect">
            <a:avLst/>
          </a:prstGeom>
          <a:noFill/>
          <a:ln/>
        </p:spPr>
        <p:txBody>
          <a:bodyPr wrap="square" lIns="0" tIns="0" rIns="0" bIns="0" rtlCol="0" anchor="t"/>
          <a:lstStyle/>
          <a:p>
            <a:pPr algn="ctr" indent="0" marL="0">
              <a:buNone/>
            </a:pPr>
            <a:r>
              <a:rPr lang="en-US" sz="1050" dirty="0">
                <a:solidFill>
                  <a:srgbClr val="14213D"/>
                </a:solidFill>
                <a:latin typeface="Calibri" pitchFamily="34" charset="0"/>
                <a:ea typeface="Calibri" pitchFamily="34" charset="-122"/>
                <a:cs typeface="Calibri" pitchFamily="34" charset="-120"/>
              </a:rPr>
              <a:t>E-10 Déverrouillage : nom et numéro masqué</a:t>
            </a:r>
            <a:endParaRPr lang="en-US" sz="1050" dirty="0"/>
          </a:p>
        </p:txBody>
      </p:sp>
      <p:pic>
        <p:nvPicPr>
          <p:cNvPr id="8" name="Image 2" descr="/home/claude/design/out/E14.png">    </p:cNvPr>
          <p:cNvPicPr>
            <a:picLocks noChangeAspect="1"/>
          </p:cNvPicPr>
          <p:nvPr/>
        </p:nvPicPr>
        <p:blipFill>
          <a:blip r:embed="rId3"/>
          <a:stretch>
            <a:fillRect/>
          </a:stretch>
        </p:blipFill>
        <p:spPr>
          <a:xfrm>
            <a:off x="5559083" y="1417320"/>
            <a:ext cx="2093742" cy="4297680"/>
          </a:xfrm>
          <a:prstGeom prst="rect">
            <a:avLst/>
          </a:prstGeom>
        </p:spPr>
      </p:pic>
      <p:sp>
        <p:nvSpPr>
          <p:cNvPr id="9" name="Text 4"/>
          <p:cNvSpPr txBox="1"/>
          <p:nvPr/>
        </p:nvSpPr>
        <p:spPr>
          <a:xfrm>
            <a:off x="5421923" y="5760720"/>
            <a:ext cx="2368062" cy="457200"/>
          </a:xfrm>
          <a:prstGeom prst="rect">
            <a:avLst/>
          </a:prstGeom>
          <a:noFill/>
          <a:ln/>
        </p:spPr>
        <p:txBody>
          <a:bodyPr wrap="square" lIns="0" tIns="0" rIns="0" bIns="0" rtlCol="0" anchor="t"/>
          <a:lstStyle/>
          <a:p>
            <a:pPr algn="ctr" indent="0" marL="0">
              <a:buNone/>
            </a:pPr>
            <a:r>
              <a:rPr lang="en-US" sz="1050" dirty="0">
                <a:solidFill>
                  <a:srgbClr val="14213D"/>
                </a:solidFill>
                <a:latin typeface="Calibri" pitchFamily="34" charset="0"/>
                <a:ea typeface="Calibri" pitchFamily="34" charset="-122"/>
                <a:cs typeface="Calibri" pitchFamily="34" charset="-120"/>
              </a:rPr>
              <a:t>E-14 Confirmation : le nom du titulaire du bénéficiaire</a:t>
            </a:r>
            <a:endParaRPr lang="en-US" sz="1050" dirty="0"/>
          </a:p>
        </p:txBody>
      </p:sp>
      <p:sp>
        <p:nvSpPr>
          <p:cNvPr id="10" name="Shape 5"/>
          <p:cNvSpPr/>
          <p:nvPr/>
        </p:nvSpPr>
        <p:spPr>
          <a:xfrm>
            <a:off x="7863840" y="1417320"/>
            <a:ext cx="3840480" cy="4754880"/>
          </a:xfrm>
          <a:prstGeom prst="roundRect">
            <a:avLst>
              <a:gd name="adj" fmla="val 2857"/>
            </a:avLst>
          </a:prstGeom>
          <a:solidFill>
            <a:srgbClr val="E8F1F8"/>
          </a:solidFill>
          <a:ln w="9525">
            <a:solidFill>
              <a:srgbClr val="DCE3EC"/>
            </a:solidFill>
            <a:prstDash val="solid"/>
          </a:ln>
        </p:spPr>
      </p:sp>
      <p:sp>
        <p:nvSpPr>
          <p:cNvPr id="11" name="Text 6"/>
          <p:cNvSpPr txBox="1"/>
          <p:nvPr/>
        </p:nvSpPr>
        <p:spPr>
          <a:xfrm>
            <a:off x="8138160" y="1600200"/>
            <a:ext cx="3383280" cy="4480560"/>
          </a:xfrm>
          <a:prstGeom prst="rect">
            <a:avLst/>
          </a:prstGeom>
          <a:noFill/>
          <a:ln/>
        </p:spPr>
        <p:txBody>
          <a:bodyPr wrap="square" lIns="0" tIns="0" rIns="0" bIns="0" rtlCol="0" anchor="t"/>
          <a:lstStyle/>
          <a:p>
            <a:pPr indent="0" marL="0">
              <a:spcAft>
                <a:spcPts val="500"/>
              </a:spcAft>
              <a:buNone/>
            </a:pPr>
            <a:r>
              <a:rPr lang="en-US" sz="1400" b="1" dirty="0">
                <a:solidFill>
                  <a:srgbClr val="14213D"/>
                </a:solidFill>
                <a:latin typeface="Calibri" pitchFamily="34" charset="0"/>
                <a:ea typeface="Calibri" pitchFamily="34" charset="-122"/>
                <a:cs typeface="Calibri" pitchFamily="34" charset="-120"/>
              </a:rPr>
              <a:t>Où le nom apparaît</a:t>
            </a:r>
            <a:endParaRPr lang="en-US" sz="1150" dirty="0"/>
          </a:p>
          <a:p>
            <a:pPr marL="342900" indent="-342900">
              <a:spcAft>
                <a:spcPts val="500"/>
              </a:spcAft>
              <a:buSzPct val="100000"/>
              <a:buChar char="•"/>
            </a:pPr>
            <a:r>
              <a:rPr lang="en-US" sz="1150" dirty="0">
                <a:solidFill>
                  <a:srgbClr val="14213D"/>
                </a:solidFill>
                <a:latin typeface="Calibri" pitchFamily="34" charset="0"/>
                <a:ea typeface="Calibri" pitchFamily="34" charset="-122"/>
                <a:cs typeface="Calibri" pitchFamily="34" charset="-120"/>
              </a:rPr>
              <a:t>Accueil : « Bonjour Amina NDONGO ÉLOMO · 677 000 123 » — le compte, c'est elle.</a:t>
            </a:r>
            <a:endParaRPr lang="en-US" sz="1150" dirty="0"/>
          </a:p>
          <a:p>
            <a:pPr marL="342900" indent="-342900">
              <a:spcAft>
                <a:spcPts val="500"/>
              </a:spcAft>
              <a:buSzPct val="100000"/>
              <a:buChar char="•"/>
            </a:pPr>
            <a:r>
              <a:rPr lang="en-US" sz="1150" dirty="0">
                <a:solidFill>
                  <a:srgbClr val="14213D"/>
                </a:solidFill>
                <a:latin typeface="Calibri" pitchFamily="34" charset="0"/>
                <a:ea typeface="Calibri" pitchFamily="34" charset="-122"/>
                <a:cs typeface="Calibri" pitchFamily="34" charset="-120"/>
              </a:rPr>
              <a:t>Déverrouillage : nom complet, numéro masqué (677 ••• 123) pour un regard par-dessus l'épaule.</a:t>
            </a:r>
            <a:endParaRPr lang="en-US" sz="1150" dirty="0"/>
          </a:p>
          <a:p>
            <a:pPr marL="342900" indent="-342900">
              <a:spcAft>
                <a:spcPts val="500"/>
              </a:spcAft>
              <a:buSzPct val="100000"/>
              <a:buChar char="•"/>
            </a:pPr>
            <a:r>
              <a:rPr lang="en-US" sz="1150" dirty="0">
                <a:solidFill>
                  <a:srgbClr val="14213D"/>
                </a:solidFill>
                <a:latin typeface="Calibri" pitchFamily="34" charset="0"/>
                <a:ea typeface="Calibri" pitchFamily="34" charset="-122"/>
                <a:cs typeface="Calibri" pitchFamily="34" charset="-120"/>
              </a:rPr>
              <a:t>Envoi : le nom du titulaire du bénéficiaire, récupéré auprès du serveur (ED-11), avec le badge « nouveau bénéficiaire » si jamais payé. C'est la parade la plus simple à l'erreur de numéro et à certaines arnaques.</a:t>
            </a:r>
            <a:endParaRPr lang="en-US" sz="1150" dirty="0"/>
          </a:p>
          <a:p>
            <a:pPr marL="342900" indent="-342900">
              <a:spcAft>
                <a:spcPts val="500"/>
              </a:spcAft>
              <a:buSzPct val="100000"/>
              <a:buChar char="•"/>
            </a:pPr>
            <a:r>
              <a:rPr lang="en-US" sz="1150" dirty="0">
                <a:solidFill>
                  <a:srgbClr val="14213D"/>
                </a:solidFill>
                <a:latin typeface="Calibri" pitchFamily="34" charset="0"/>
                <a:ea typeface="Calibri" pitchFamily="34" charset="-122"/>
                <a:cs typeface="Calibri" pitchFamily="34" charset="-120"/>
              </a:rPr>
              <a:t>Alertes et réenrôlement : nom + numéro rappelés pour que l'usager sache de quel compte on parle.</a:t>
            </a:r>
            <a:endParaRPr lang="en-US" sz="1150" dirty="0"/>
          </a:p>
          <a:p>
            <a:pPr indent="0" marL="0">
              <a:spcAft>
                <a:spcPts val="500"/>
              </a:spcAft>
              <a:buNone/>
            </a:pPr>
            <a:r>
              <a:rPr lang="en-US" sz="1400" b="1" dirty="0">
                <a:solidFill>
                  <a:srgbClr val="14213D"/>
                </a:solidFill>
                <a:latin typeface="Calibri" pitchFamily="34" charset="0"/>
                <a:ea typeface="Calibri" pitchFamily="34" charset="-122"/>
                <a:cs typeface="Calibri" pitchFamily="34" charset="-120"/>
              </a:rPr>
              <a:t>Protection</a:t>
            </a:r>
            <a:endParaRPr lang="en-US" sz="1150" dirty="0"/>
          </a:p>
          <a:p>
            <a:pPr marL="342900" indent="-342900">
              <a:spcAft>
                <a:spcPts val="500"/>
              </a:spcAft>
              <a:buSzPct val="100000"/>
              <a:buChar char="•"/>
            </a:pPr>
            <a:r>
              <a:rPr lang="en-US" sz="1150" dirty="0">
                <a:solidFill>
                  <a:srgbClr val="14213D"/>
                </a:solidFill>
                <a:latin typeface="Calibri" pitchFamily="34" charset="0"/>
                <a:ea typeface="Calibri" pitchFamily="34" charset="-122"/>
                <a:cs typeface="Calibri" pitchFamily="34" charset="-120"/>
              </a:rPr>
              <a:t>La recherche du nom est freinée et exige une session : impossible d'énumérer les titulaires (MT-06).</a:t>
            </a:r>
            <a:endParaRPr lang="en-US" sz="1150" dirty="0"/>
          </a:p>
        </p:txBody>
      </p:sp>
      <p:sp>
        <p:nvSpPr>
          <p:cNvPr id="12" name="Text 7"/>
          <p:cNvSpPr txBox="1"/>
          <p:nvPr/>
        </p:nvSpPr>
        <p:spPr>
          <a:xfrm>
            <a:off x="457200" y="6446520"/>
            <a:ext cx="8229600" cy="274320"/>
          </a:xfrm>
          <a:prstGeom prst="rect">
            <a:avLst/>
          </a:prstGeom>
          <a:noFill/>
          <a:ln/>
        </p:spPr>
        <p:txBody>
          <a:bodyPr wrap="square" lIns="0" tIns="0" rIns="0" bIns="0" rtlCol="0" anchor="ctr"/>
          <a:lstStyle/>
          <a:p>
            <a:pPr indent="0" marL="0">
              <a:buNone/>
            </a:pPr>
            <a:r>
              <a:rPr lang="en-US" sz="900" dirty="0">
                <a:solidFill>
                  <a:srgbClr val="5C6B7A"/>
                </a:solidFill>
                <a:latin typeface="Calibri" pitchFamily="34" charset="0"/>
                <a:ea typeface="Calibri" pitchFamily="34" charset="-122"/>
                <a:cs typeface="Calibri" pitchFamily="34" charset="-120"/>
              </a:rPr>
              <a:t>IdentiShield-CM · Dossier de design de l'application mobile · v1.0 · 25/09/2026</a:t>
            </a:r>
            <a:endParaRPr lang="en-US" sz="900" dirty="0"/>
          </a:p>
        </p:txBody>
      </p:sp>
      <p:sp>
        <p:nvSpPr>
          <p:cNvPr id="13" name="Text 8"/>
          <p:cNvSpPr txBox="1"/>
          <p:nvPr/>
        </p:nvSpPr>
        <p:spPr>
          <a:xfrm>
            <a:off x="11247120" y="6446520"/>
            <a:ext cx="548640" cy="274320"/>
          </a:xfrm>
          <a:prstGeom prst="rect">
            <a:avLst/>
          </a:prstGeom>
          <a:noFill/>
          <a:ln/>
        </p:spPr>
        <p:txBody>
          <a:bodyPr wrap="square" lIns="0" tIns="0" rIns="0" bIns="0"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3000" b="1" dirty="0">
                <a:solidFill>
                  <a:srgbClr val="10375C"/>
                </a:solidFill>
                <a:latin typeface="Calibri" pitchFamily="34" charset="0"/>
                <a:ea typeface="Calibri" pitchFamily="34" charset="-122"/>
                <a:cs typeface="Calibri" pitchFamily="34" charset="-120"/>
              </a:rPr>
              <a:t>La carte des 27 écrans</a:t>
            </a:r>
            <a:endParaRPr lang="en-US" sz="3000" dirty="0"/>
          </a:p>
        </p:txBody>
      </p:sp>
      <p:sp>
        <p:nvSpPr>
          <p:cNvPr id="3" name="Text 1"/>
          <p:cNvSpPr txBox="1"/>
          <p:nvPr/>
        </p:nvSpPr>
        <p:spPr>
          <a:xfrm>
            <a:off x="457200" y="914400"/>
            <a:ext cx="11247120" cy="365760"/>
          </a:xfrm>
          <a:prstGeom prst="rect">
            <a:avLst/>
          </a:prstGeom>
          <a:noFill/>
          <a:ln/>
        </p:spPr>
        <p:txBody>
          <a:bodyPr wrap="square" lIns="0" tIns="0" rIns="0" bIns="0" rtlCol="0" anchor="ctr"/>
          <a:lstStyle/>
          <a:p>
            <a:pPr indent="0" marL="0">
              <a:buNone/>
            </a:pPr>
            <a:r>
              <a:rPr lang="en-US" sz="1400" dirty="0">
                <a:solidFill>
                  <a:srgbClr val="5C6B7A"/>
                </a:solidFill>
                <a:latin typeface="Calibri" pitchFamily="34" charset="0"/>
                <a:ea typeface="Calibri" pitchFamily="34" charset="-122"/>
                <a:cs typeface="Calibri" pitchFamily="34" charset="-120"/>
              </a:rPr>
              <a:t>Six groupes. Le cadenas marque les écrans où la capture d'écran est bloquée (PIN, clé de récupération, confirmation, autorisation).</a:t>
            </a:r>
            <a:endParaRPr lang="en-US" sz="1400" dirty="0"/>
          </a:p>
        </p:txBody>
      </p:sp>
      <p:pic>
        <p:nvPicPr>
          <p:cNvPr id="4" name="Image 0" descr="/home/claude/design/out/map.png">    </p:cNvPr>
          <p:cNvPicPr>
            <a:picLocks noChangeAspect="1"/>
          </p:cNvPicPr>
          <p:nvPr/>
        </p:nvPicPr>
        <p:blipFill>
          <a:blip r:embed="rId1"/>
          <a:stretch>
            <a:fillRect/>
          </a:stretch>
        </p:blipFill>
        <p:spPr>
          <a:xfrm>
            <a:off x="457200" y="1463040"/>
            <a:ext cx="11247120" cy="2139696"/>
          </a:xfrm>
          <a:prstGeom prst="rect">
            <a:avLst/>
          </a:prstGeom>
        </p:spPr>
      </p:pic>
      <p:sp>
        <p:nvSpPr>
          <p:cNvPr id="5" name="Shape 2"/>
          <p:cNvSpPr/>
          <p:nvPr/>
        </p:nvSpPr>
        <p:spPr>
          <a:xfrm>
            <a:off x="457200" y="3840480"/>
            <a:ext cx="3566160" cy="1051560"/>
          </a:xfrm>
          <a:prstGeom prst="roundRect">
            <a:avLst>
              <a:gd name="adj" fmla="val 10435"/>
            </a:avLst>
          </a:prstGeom>
          <a:solidFill>
            <a:srgbClr val="FFFFFF"/>
          </a:solidFill>
          <a:ln w="9525">
            <a:solidFill>
              <a:srgbClr val="DCE3EC"/>
            </a:solidFill>
            <a:prstDash val="solid"/>
          </a:ln>
        </p:spPr>
      </p:sp>
      <p:sp>
        <p:nvSpPr>
          <p:cNvPr id="6" name="Text 3"/>
          <p:cNvSpPr txBox="1"/>
          <p:nvPr/>
        </p:nvSpPr>
        <p:spPr>
          <a:xfrm>
            <a:off x="640080" y="3950208"/>
            <a:ext cx="3200400" cy="365760"/>
          </a:xfrm>
          <a:prstGeom prst="rect">
            <a:avLst/>
          </a:prstGeom>
          <a:noFill/>
          <a:ln/>
        </p:spPr>
        <p:txBody>
          <a:bodyPr wrap="square" lIns="0" tIns="0" rIns="0" bIns="0" rtlCol="0" anchor="ctr"/>
          <a:lstStyle/>
          <a:p>
            <a:pPr indent="0" marL="0">
              <a:buNone/>
            </a:pPr>
            <a:r>
              <a:rPr lang="en-US" sz="1300" b="1" dirty="0">
                <a:solidFill>
                  <a:srgbClr val="10375C"/>
                </a:solidFill>
                <a:latin typeface="Calibri" pitchFamily="34" charset="0"/>
                <a:ea typeface="Calibri" pitchFamily="34" charset="-122"/>
                <a:cs typeface="Calibri" pitchFamily="34" charset="-120"/>
              </a:rPr>
              <a:t>Entrée</a:t>
            </a:r>
            <a:endParaRPr lang="en-US" sz="1300" dirty="0"/>
          </a:p>
        </p:txBody>
      </p:sp>
      <p:sp>
        <p:nvSpPr>
          <p:cNvPr id="7" name="Text 4"/>
          <p:cNvSpPr txBox="1"/>
          <p:nvPr/>
        </p:nvSpPr>
        <p:spPr>
          <a:xfrm>
            <a:off x="640080" y="4297680"/>
            <a:ext cx="3200400" cy="548640"/>
          </a:xfrm>
          <a:prstGeom prst="rect">
            <a:avLst/>
          </a:prstGeom>
          <a:noFill/>
          <a:ln/>
        </p:spPr>
        <p:txBody>
          <a:bodyPr wrap="square" lIns="0" tIns="0" rIns="0" bIns="0" rtlCol="0" anchor="ctr"/>
          <a:lstStyle/>
          <a:p>
            <a:pPr indent="0" marL="0">
              <a:buNone/>
            </a:pPr>
            <a:r>
              <a:rPr lang="en-US" sz="1100" dirty="0">
                <a:solidFill>
                  <a:srgbClr val="14213D"/>
                </a:solidFill>
                <a:latin typeface="Calibri" pitchFamily="34" charset="0"/>
                <a:ea typeface="Calibri" pitchFamily="34" charset="-122"/>
                <a:cs typeface="Calibri" pitchFamily="34" charset="-120"/>
              </a:rPr>
              <a:t>Le même début pour tout le monde : numéro, PIN, puis le serveur décide.</a:t>
            </a:r>
            <a:endParaRPr lang="en-US" sz="1100" dirty="0"/>
          </a:p>
        </p:txBody>
      </p:sp>
      <p:sp>
        <p:nvSpPr>
          <p:cNvPr id="8" name="Shape 5"/>
          <p:cNvSpPr/>
          <p:nvPr/>
        </p:nvSpPr>
        <p:spPr>
          <a:xfrm>
            <a:off x="4297680" y="3840480"/>
            <a:ext cx="3566160" cy="1051560"/>
          </a:xfrm>
          <a:prstGeom prst="roundRect">
            <a:avLst>
              <a:gd name="adj" fmla="val 10435"/>
            </a:avLst>
          </a:prstGeom>
          <a:solidFill>
            <a:srgbClr val="FFFFFF"/>
          </a:solidFill>
          <a:ln w="9525">
            <a:solidFill>
              <a:srgbClr val="DCE3EC"/>
            </a:solidFill>
            <a:prstDash val="solid"/>
          </a:ln>
        </p:spPr>
      </p:sp>
      <p:sp>
        <p:nvSpPr>
          <p:cNvPr id="9" name="Text 6"/>
          <p:cNvSpPr txBox="1"/>
          <p:nvPr/>
        </p:nvSpPr>
        <p:spPr>
          <a:xfrm>
            <a:off x="4480560" y="3950208"/>
            <a:ext cx="3200400" cy="365760"/>
          </a:xfrm>
          <a:prstGeom prst="rect">
            <a:avLst/>
          </a:prstGeom>
          <a:noFill/>
          <a:ln/>
        </p:spPr>
        <p:txBody>
          <a:bodyPr wrap="square" lIns="0" tIns="0" rIns="0" bIns="0" rtlCol="0" anchor="ctr"/>
          <a:lstStyle/>
          <a:p>
            <a:pPr indent="0" marL="0">
              <a:buNone/>
            </a:pPr>
            <a:r>
              <a:rPr lang="en-US" sz="1300" b="1" dirty="0">
                <a:solidFill>
                  <a:srgbClr val="10375C"/>
                </a:solidFill>
                <a:latin typeface="Calibri" pitchFamily="34" charset="0"/>
                <a:ea typeface="Calibri" pitchFamily="34" charset="-122"/>
                <a:cs typeface="Calibri" pitchFamily="34" charset="-120"/>
              </a:rPr>
              <a:t>A · Premier enrôlement</a:t>
            </a:r>
            <a:endParaRPr lang="en-US" sz="1300" dirty="0"/>
          </a:p>
        </p:txBody>
      </p:sp>
      <p:sp>
        <p:nvSpPr>
          <p:cNvPr id="10" name="Text 7"/>
          <p:cNvSpPr txBox="1"/>
          <p:nvPr/>
        </p:nvSpPr>
        <p:spPr>
          <a:xfrm>
            <a:off x="4480560" y="4297680"/>
            <a:ext cx="3200400" cy="548640"/>
          </a:xfrm>
          <a:prstGeom prst="rect">
            <a:avLst/>
          </a:prstGeom>
          <a:noFill/>
          <a:ln/>
        </p:spPr>
        <p:txBody>
          <a:bodyPr wrap="square" lIns="0" tIns="0" rIns="0" bIns="0" rtlCol="0" anchor="ctr"/>
          <a:lstStyle/>
          <a:p>
            <a:pPr indent="0" marL="0">
              <a:buNone/>
            </a:pPr>
            <a:r>
              <a:rPr lang="en-US" sz="1100" dirty="0">
                <a:solidFill>
                  <a:srgbClr val="14213D"/>
                </a:solidFill>
                <a:latin typeface="Calibri" pitchFamily="34" charset="0"/>
                <a:ea typeface="Calibri" pitchFamily="34" charset="-122"/>
                <a:cs typeface="Calibri" pitchFamily="34" charset="-120"/>
              </a:rPr>
              <a:t>OTP, sécurisation, clé de récupération, confirmation.</a:t>
            </a:r>
            <a:endParaRPr lang="en-US" sz="1100" dirty="0"/>
          </a:p>
        </p:txBody>
      </p:sp>
      <p:sp>
        <p:nvSpPr>
          <p:cNvPr id="11" name="Shape 8"/>
          <p:cNvSpPr/>
          <p:nvPr/>
        </p:nvSpPr>
        <p:spPr>
          <a:xfrm>
            <a:off x="8138160" y="3840480"/>
            <a:ext cx="3566160" cy="1051560"/>
          </a:xfrm>
          <a:prstGeom prst="roundRect">
            <a:avLst>
              <a:gd name="adj" fmla="val 10435"/>
            </a:avLst>
          </a:prstGeom>
          <a:solidFill>
            <a:srgbClr val="FFFFFF"/>
          </a:solidFill>
          <a:ln w="9525">
            <a:solidFill>
              <a:srgbClr val="DCE3EC"/>
            </a:solidFill>
            <a:prstDash val="solid"/>
          </a:ln>
        </p:spPr>
      </p:sp>
      <p:sp>
        <p:nvSpPr>
          <p:cNvPr id="12" name="Text 9"/>
          <p:cNvSpPr txBox="1"/>
          <p:nvPr/>
        </p:nvSpPr>
        <p:spPr>
          <a:xfrm>
            <a:off x="8321040" y="3950208"/>
            <a:ext cx="3200400" cy="365760"/>
          </a:xfrm>
          <a:prstGeom prst="rect">
            <a:avLst/>
          </a:prstGeom>
          <a:noFill/>
          <a:ln/>
        </p:spPr>
        <p:txBody>
          <a:bodyPr wrap="square" lIns="0" tIns="0" rIns="0" bIns="0" rtlCol="0" anchor="ctr"/>
          <a:lstStyle/>
          <a:p>
            <a:pPr indent="0" marL="0">
              <a:buNone/>
            </a:pPr>
            <a:r>
              <a:rPr lang="en-US" sz="1300" b="1" dirty="0">
                <a:solidFill>
                  <a:srgbClr val="10375C"/>
                </a:solidFill>
                <a:latin typeface="Calibri" pitchFamily="34" charset="0"/>
                <a:ea typeface="Calibri" pitchFamily="34" charset="-122"/>
                <a:cs typeface="Calibri" pitchFamily="34" charset="-120"/>
              </a:rPr>
              <a:t>B · Quotidien</a:t>
            </a:r>
            <a:endParaRPr lang="en-US" sz="1300" dirty="0"/>
          </a:p>
        </p:txBody>
      </p:sp>
      <p:sp>
        <p:nvSpPr>
          <p:cNvPr id="13" name="Text 10"/>
          <p:cNvSpPr txBox="1"/>
          <p:nvPr/>
        </p:nvSpPr>
        <p:spPr>
          <a:xfrm>
            <a:off x="8321040" y="4297680"/>
            <a:ext cx="3200400" cy="548640"/>
          </a:xfrm>
          <a:prstGeom prst="rect">
            <a:avLst/>
          </a:prstGeom>
          <a:noFill/>
          <a:ln/>
        </p:spPr>
        <p:txBody>
          <a:bodyPr wrap="square" lIns="0" tIns="0" rIns="0" bIns="0" rtlCol="0" anchor="ctr"/>
          <a:lstStyle/>
          <a:p>
            <a:pPr indent="0" marL="0">
              <a:buNone/>
            </a:pPr>
            <a:r>
              <a:rPr lang="en-US" sz="1100" dirty="0">
                <a:solidFill>
                  <a:srgbClr val="14213D"/>
                </a:solidFill>
                <a:latin typeface="Calibri" pitchFamily="34" charset="0"/>
                <a:ea typeface="Calibri" pitchFamily="34" charset="-122"/>
                <a:cs typeface="Calibri" pitchFamily="34" charset="-120"/>
              </a:rPr>
              <a:t>PIN + déverrouillage local ; signature ; aucun OTP.</a:t>
            </a:r>
            <a:endParaRPr lang="en-US" sz="1100" dirty="0"/>
          </a:p>
        </p:txBody>
      </p:sp>
      <p:sp>
        <p:nvSpPr>
          <p:cNvPr id="14" name="Shape 11"/>
          <p:cNvSpPr/>
          <p:nvPr/>
        </p:nvSpPr>
        <p:spPr>
          <a:xfrm>
            <a:off x="457200" y="5029200"/>
            <a:ext cx="3566160" cy="1051560"/>
          </a:xfrm>
          <a:prstGeom prst="roundRect">
            <a:avLst>
              <a:gd name="adj" fmla="val 10435"/>
            </a:avLst>
          </a:prstGeom>
          <a:solidFill>
            <a:srgbClr val="FFFFFF"/>
          </a:solidFill>
          <a:ln w="9525">
            <a:solidFill>
              <a:srgbClr val="DCE3EC"/>
            </a:solidFill>
            <a:prstDash val="solid"/>
          </a:ln>
        </p:spPr>
      </p:sp>
      <p:sp>
        <p:nvSpPr>
          <p:cNvPr id="15" name="Text 12"/>
          <p:cNvSpPr txBox="1"/>
          <p:nvPr/>
        </p:nvSpPr>
        <p:spPr>
          <a:xfrm>
            <a:off x="640080" y="5138928"/>
            <a:ext cx="3200400" cy="365760"/>
          </a:xfrm>
          <a:prstGeom prst="rect">
            <a:avLst/>
          </a:prstGeom>
          <a:noFill/>
          <a:ln/>
        </p:spPr>
        <p:txBody>
          <a:bodyPr wrap="square" lIns="0" tIns="0" rIns="0" bIns="0" rtlCol="0" anchor="ctr"/>
          <a:lstStyle/>
          <a:p>
            <a:pPr indent="0" marL="0">
              <a:buNone/>
            </a:pPr>
            <a:r>
              <a:rPr lang="en-US" sz="1300" b="1" dirty="0">
                <a:solidFill>
                  <a:srgbClr val="10375C"/>
                </a:solidFill>
                <a:latin typeface="Calibri" pitchFamily="34" charset="0"/>
                <a:ea typeface="Calibri" pitchFamily="34" charset="-122"/>
                <a:cs typeface="Calibri" pitchFamily="34" charset="-120"/>
              </a:rPr>
              <a:t>C · Envoyer</a:t>
            </a:r>
            <a:endParaRPr lang="en-US" sz="1300" dirty="0"/>
          </a:p>
        </p:txBody>
      </p:sp>
      <p:sp>
        <p:nvSpPr>
          <p:cNvPr id="16" name="Text 13"/>
          <p:cNvSpPr txBox="1"/>
          <p:nvPr/>
        </p:nvSpPr>
        <p:spPr>
          <a:xfrm>
            <a:off x="640080" y="5486400"/>
            <a:ext cx="3200400" cy="548640"/>
          </a:xfrm>
          <a:prstGeom prst="rect">
            <a:avLst/>
          </a:prstGeom>
          <a:noFill/>
          <a:ln/>
        </p:spPr>
        <p:txBody>
          <a:bodyPr wrap="square" lIns="0" tIns="0" rIns="0" bIns="0" rtlCol="0" anchor="ctr"/>
          <a:lstStyle/>
          <a:p>
            <a:pPr indent="0" marL="0">
              <a:buNone/>
            </a:pPr>
            <a:r>
              <a:rPr lang="en-US" sz="1100" dirty="0">
                <a:solidFill>
                  <a:srgbClr val="14213D"/>
                </a:solidFill>
                <a:latin typeface="Calibri" pitchFamily="34" charset="0"/>
                <a:ea typeface="Calibri" pitchFamily="34" charset="-122"/>
                <a:cs typeface="Calibri" pitchFamily="34" charset="-120"/>
              </a:rPr>
              <a:t>Bénéficiaire, montant, confirmation, autorisation, quatre issues.</a:t>
            </a:r>
            <a:endParaRPr lang="en-US" sz="1100" dirty="0"/>
          </a:p>
        </p:txBody>
      </p:sp>
      <p:sp>
        <p:nvSpPr>
          <p:cNvPr id="17" name="Shape 14"/>
          <p:cNvSpPr/>
          <p:nvPr/>
        </p:nvSpPr>
        <p:spPr>
          <a:xfrm>
            <a:off x="4297680" y="5029200"/>
            <a:ext cx="3566160" cy="1051560"/>
          </a:xfrm>
          <a:prstGeom prst="roundRect">
            <a:avLst>
              <a:gd name="adj" fmla="val 10435"/>
            </a:avLst>
          </a:prstGeom>
          <a:solidFill>
            <a:srgbClr val="FFFFFF"/>
          </a:solidFill>
          <a:ln w="9525">
            <a:solidFill>
              <a:srgbClr val="DCE3EC"/>
            </a:solidFill>
            <a:prstDash val="solid"/>
          </a:ln>
        </p:spPr>
      </p:sp>
      <p:sp>
        <p:nvSpPr>
          <p:cNvPr id="18" name="Text 15"/>
          <p:cNvSpPr txBox="1"/>
          <p:nvPr/>
        </p:nvSpPr>
        <p:spPr>
          <a:xfrm>
            <a:off x="4480560" y="5138928"/>
            <a:ext cx="3200400" cy="365760"/>
          </a:xfrm>
          <a:prstGeom prst="rect">
            <a:avLst/>
          </a:prstGeom>
          <a:noFill/>
          <a:ln/>
        </p:spPr>
        <p:txBody>
          <a:bodyPr wrap="square" lIns="0" tIns="0" rIns="0" bIns="0" rtlCol="0" anchor="ctr"/>
          <a:lstStyle/>
          <a:p>
            <a:pPr indent="0" marL="0">
              <a:buNone/>
            </a:pPr>
            <a:r>
              <a:rPr lang="en-US" sz="1300" b="1" dirty="0">
                <a:solidFill>
                  <a:srgbClr val="10375C"/>
                </a:solidFill>
                <a:latin typeface="Calibri" pitchFamily="34" charset="0"/>
                <a:ea typeface="Calibri" pitchFamily="34" charset="-122"/>
                <a:cs typeface="Calibri" pitchFamily="34" charset="-120"/>
              </a:rPr>
              <a:t>D · Réenrôlement</a:t>
            </a:r>
            <a:endParaRPr lang="en-US" sz="1300" dirty="0"/>
          </a:p>
        </p:txBody>
      </p:sp>
      <p:sp>
        <p:nvSpPr>
          <p:cNvPr id="19" name="Text 16"/>
          <p:cNvSpPr txBox="1"/>
          <p:nvPr/>
        </p:nvSpPr>
        <p:spPr>
          <a:xfrm>
            <a:off x="4480560" y="5486400"/>
            <a:ext cx="3200400" cy="548640"/>
          </a:xfrm>
          <a:prstGeom prst="rect">
            <a:avLst/>
          </a:prstGeom>
          <a:noFill/>
          <a:ln/>
        </p:spPr>
        <p:txBody>
          <a:bodyPr wrap="square" lIns="0" tIns="0" rIns="0" bIns="0" rtlCol="0" anchor="ctr"/>
          <a:lstStyle/>
          <a:p>
            <a:pPr indent="0" marL="0">
              <a:buNone/>
            </a:pPr>
            <a:r>
              <a:rPr lang="en-US" sz="1100" dirty="0">
                <a:solidFill>
                  <a:srgbClr val="14213D"/>
                </a:solidFill>
                <a:latin typeface="Calibri" pitchFamily="34" charset="0"/>
                <a:ea typeface="Calibri" pitchFamily="34" charset="-122"/>
                <a:cs typeface="Calibri" pitchFamily="34" charset="-120"/>
              </a:rPr>
              <a:t>Clé de récupération, attente imposée, nouveau téléphone lié.</a:t>
            </a:r>
            <a:endParaRPr lang="en-US" sz="1100" dirty="0"/>
          </a:p>
        </p:txBody>
      </p:sp>
      <p:sp>
        <p:nvSpPr>
          <p:cNvPr id="20" name="Shape 17"/>
          <p:cNvSpPr/>
          <p:nvPr/>
        </p:nvSpPr>
        <p:spPr>
          <a:xfrm>
            <a:off x="8138160" y="5029200"/>
            <a:ext cx="3566160" cy="1051560"/>
          </a:xfrm>
          <a:prstGeom prst="roundRect">
            <a:avLst>
              <a:gd name="adj" fmla="val 10435"/>
            </a:avLst>
          </a:prstGeom>
          <a:solidFill>
            <a:srgbClr val="FFFFFF"/>
          </a:solidFill>
          <a:ln w="9525">
            <a:solidFill>
              <a:srgbClr val="DCE3EC"/>
            </a:solidFill>
            <a:prstDash val="solid"/>
          </a:ln>
        </p:spPr>
      </p:sp>
      <p:sp>
        <p:nvSpPr>
          <p:cNvPr id="21" name="Text 18"/>
          <p:cNvSpPr txBox="1"/>
          <p:nvPr/>
        </p:nvSpPr>
        <p:spPr>
          <a:xfrm>
            <a:off x="8321040" y="5138928"/>
            <a:ext cx="3200400" cy="365760"/>
          </a:xfrm>
          <a:prstGeom prst="rect">
            <a:avLst/>
          </a:prstGeom>
          <a:noFill/>
          <a:ln/>
        </p:spPr>
        <p:txBody>
          <a:bodyPr wrap="square" lIns="0" tIns="0" rIns="0" bIns="0" rtlCol="0" anchor="ctr"/>
          <a:lstStyle/>
          <a:p>
            <a:pPr indent="0" marL="0">
              <a:buNone/>
            </a:pPr>
            <a:r>
              <a:rPr lang="en-US" sz="1300" b="1" dirty="0">
                <a:solidFill>
                  <a:srgbClr val="10375C"/>
                </a:solidFill>
                <a:latin typeface="Calibri" pitchFamily="34" charset="0"/>
                <a:ea typeface="Calibri" pitchFamily="34" charset="-122"/>
                <a:cs typeface="Calibri" pitchFamily="34" charset="-120"/>
              </a:rPr>
              <a:t>F · Alertes &amp; service</a:t>
            </a:r>
            <a:endParaRPr lang="en-US" sz="1300" dirty="0"/>
          </a:p>
        </p:txBody>
      </p:sp>
      <p:sp>
        <p:nvSpPr>
          <p:cNvPr id="22" name="Text 19"/>
          <p:cNvSpPr txBox="1"/>
          <p:nvPr/>
        </p:nvSpPr>
        <p:spPr>
          <a:xfrm>
            <a:off x="8321040" y="5486400"/>
            <a:ext cx="3200400" cy="548640"/>
          </a:xfrm>
          <a:prstGeom prst="rect">
            <a:avLst/>
          </a:prstGeom>
          <a:noFill/>
          <a:ln/>
        </p:spPr>
        <p:txBody>
          <a:bodyPr wrap="square" lIns="0" tIns="0" rIns="0" bIns="0" rtlCol="0" anchor="ctr"/>
          <a:lstStyle/>
          <a:p>
            <a:pPr indent="0" marL="0">
              <a:buNone/>
            </a:pPr>
            <a:r>
              <a:rPr lang="en-US" sz="1100" dirty="0">
                <a:solidFill>
                  <a:srgbClr val="14213D"/>
                </a:solidFill>
                <a:latin typeface="Calibri" pitchFamily="34" charset="0"/>
                <a:ea typeface="Calibri" pitchFamily="34" charset="-122"/>
                <a:cs typeface="Calibri" pitchFamily="34" charset="-120"/>
              </a:rPr>
              <a:t>Alertes, détail, sécurité, erreurs.</a:t>
            </a:r>
            <a:endParaRPr lang="en-US" sz="1100" dirty="0"/>
          </a:p>
        </p:txBody>
      </p:sp>
      <p:sp>
        <p:nvSpPr>
          <p:cNvPr id="23" name="Text 20"/>
          <p:cNvSpPr txBox="1"/>
          <p:nvPr/>
        </p:nvSpPr>
        <p:spPr>
          <a:xfrm>
            <a:off x="457200" y="6446520"/>
            <a:ext cx="8229600" cy="274320"/>
          </a:xfrm>
          <a:prstGeom prst="rect">
            <a:avLst/>
          </a:prstGeom>
          <a:noFill/>
          <a:ln/>
        </p:spPr>
        <p:txBody>
          <a:bodyPr wrap="square" lIns="0" tIns="0" rIns="0" bIns="0" rtlCol="0" anchor="ctr"/>
          <a:lstStyle/>
          <a:p>
            <a:pPr indent="0" marL="0">
              <a:buNone/>
            </a:pPr>
            <a:r>
              <a:rPr lang="en-US" sz="900" dirty="0">
                <a:solidFill>
                  <a:srgbClr val="5C6B7A"/>
                </a:solidFill>
                <a:latin typeface="Calibri" pitchFamily="34" charset="0"/>
                <a:ea typeface="Calibri" pitchFamily="34" charset="-122"/>
                <a:cs typeface="Calibri" pitchFamily="34" charset="-120"/>
              </a:rPr>
              <a:t>IdentiShield-CM · Dossier de design de l'application mobile · v1.0 · 25/09/2026</a:t>
            </a:r>
            <a:endParaRPr lang="en-US" sz="900" dirty="0"/>
          </a:p>
        </p:txBody>
      </p:sp>
      <p:sp>
        <p:nvSpPr>
          <p:cNvPr id="24" name="Text 21"/>
          <p:cNvSpPr txBox="1"/>
          <p:nvPr/>
        </p:nvSpPr>
        <p:spPr>
          <a:xfrm>
            <a:off x="11247120" y="6446520"/>
            <a:ext cx="548640" cy="274320"/>
          </a:xfrm>
          <a:prstGeom prst="rect">
            <a:avLst/>
          </a:prstGeom>
          <a:noFill/>
          <a:ln/>
        </p:spPr>
        <p:txBody>
          <a:bodyPr wrap="square" lIns="0" tIns="0" rIns="0" bIns="0"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3000" b="1" dirty="0">
                <a:solidFill>
                  <a:srgbClr val="10375C"/>
                </a:solidFill>
                <a:latin typeface="Calibri" pitchFamily="34" charset="0"/>
                <a:ea typeface="Calibri" pitchFamily="34" charset="-122"/>
                <a:cs typeface="Calibri" pitchFamily="34" charset="-120"/>
              </a:rPr>
              <a:t>Avant les flux : comment le serveur sait où envoyer l'usager</a:t>
            </a:r>
            <a:endParaRPr lang="en-US" sz="3000" dirty="0"/>
          </a:p>
        </p:txBody>
      </p:sp>
      <p:sp>
        <p:nvSpPr>
          <p:cNvPr id="3" name="Text 1"/>
          <p:cNvSpPr txBox="1"/>
          <p:nvPr/>
        </p:nvSpPr>
        <p:spPr>
          <a:xfrm>
            <a:off x="457200" y="914400"/>
            <a:ext cx="11247120" cy="365760"/>
          </a:xfrm>
          <a:prstGeom prst="rect">
            <a:avLst/>
          </a:prstGeom>
          <a:noFill/>
          <a:ln/>
        </p:spPr>
        <p:txBody>
          <a:bodyPr wrap="square" lIns="0" tIns="0" rIns="0" bIns="0" rtlCol="0" anchor="ctr"/>
          <a:lstStyle/>
          <a:p>
            <a:pPr indent="0" marL="0">
              <a:buNone/>
            </a:pPr>
            <a:r>
              <a:rPr lang="en-US" sz="1400" dirty="0">
                <a:solidFill>
                  <a:srgbClr val="5C6B7A"/>
                </a:solidFill>
                <a:latin typeface="Calibri" pitchFamily="34" charset="0"/>
                <a:ea typeface="Calibri" pitchFamily="34" charset="-122"/>
                <a:cs typeface="Calibri" pitchFamily="34" charset="-120"/>
              </a:rPr>
              <a:t>Il ne devine rien à partir de l'écran. Il vérifie le PIN, puis regarde s'il a déjà une clé pour ce compte, puis si la signature reçue lui correspond.</a:t>
            </a:r>
            <a:endParaRPr lang="en-US" sz="1400" dirty="0"/>
          </a:p>
        </p:txBody>
      </p:sp>
      <p:pic>
        <p:nvPicPr>
          <p:cNvPr id="4" name="Image 0" descr="/home/claude/mob/diag/D0_aiguillage.png">    </p:cNvPr>
          <p:cNvPicPr>
            <a:picLocks noChangeAspect="1"/>
          </p:cNvPicPr>
          <p:nvPr/>
        </p:nvPicPr>
        <p:blipFill>
          <a:blip r:embed="rId1"/>
          <a:stretch>
            <a:fillRect/>
          </a:stretch>
        </p:blipFill>
        <p:spPr>
          <a:xfrm>
            <a:off x="457200" y="1371600"/>
            <a:ext cx="3017520" cy="4837176"/>
          </a:xfrm>
          <a:prstGeom prst="rect">
            <a:avLst/>
          </a:prstGeom>
        </p:spPr>
      </p:pic>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840480" y="1417320"/>
          <a:ext cx="7863840" cy="914400"/>
        </p:xfrm>
        <a:graphic>
          <a:graphicData uri="http://schemas.openxmlformats.org/drawingml/2006/table">
            <a:tbl>
              <a:tblPr/>
              <a:tblGrid>
                <a:gridCol w="3108960"/>
                <a:gridCol w="1737360"/>
                <a:gridCol w="3017520"/>
              </a:tblGrid>
              <a:tr h="50292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Ce que le serveur constate</a:t>
                      </a:r>
                      <a:endParaRPr lang="en-US" sz="1200" dirty="0">
                        <a:latin typeface="Calibri" charset="0"/>
                        <a:ea typeface="Calibri" charset="0"/>
                        <a:cs typeface="Calibri" charset="0"/>
                      </a:endParaRPr>
                    </a:p>
                  </a:txBody>
                  <a:tcPr marL="73152" marR="73152" marT="73152" marB="73152">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1037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Conclusion</a:t>
                      </a:r>
                      <a:endParaRPr lang="en-US" sz="1200" dirty="0">
                        <a:latin typeface="Calibri" charset="0"/>
                        <a:ea typeface="Calibri" charset="0"/>
                        <a:cs typeface="Calibri" charset="0"/>
                      </a:endParaRPr>
                    </a:p>
                  </a:txBody>
                  <a:tcPr marL="73152" marR="73152" marT="73152" marB="73152">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1037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Étape suivante</a:t>
                      </a:r>
                      <a:endParaRPr lang="en-US" sz="1200" dirty="0">
                        <a:latin typeface="Calibri" charset="0"/>
                        <a:ea typeface="Calibri" charset="0"/>
                        <a:cs typeface="Calibri" charset="0"/>
                      </a:endParaRPr>
                    </a:p>
                  </a:txBody>
                  <a:tcPr marL="73152" marR="73152" marT="73152" marB="73152">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10375C"/>
                    </a:solidFill>
                  </a:tcPr>
                </a:tc>
              </a:tr>
              <a:tr h="502920">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Aucune clé enregistrée sur le compte</a:t>
                      </a:r>
                      <a:endParaRPr lang="en-US" sz="1200" dirty="0">
                        <a:latin typeface="Calibri" charset="0"/>
                        <a:ea typeface="Calibri" charset="0"/>
                        <a:cs typeface="Calibri" charset="0"/>
                      </a:endParaRPr>
                    </a:p>
                  </a:txBody>
                  <a:tcPr marL="73152" marR="73152" marT="73152" marB="73152">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Jamais lié</a:t>
                      </a:r>
                      <a:endParaRPr lang="en-US" sz="1200" dirty="0">
                        <a:latin typeface="Calibri" charset="0"/>
                        <a:ea typeface="Calibri" charset="0"/>
                        <a:cs typeface="Calibri" charset="0"/>
                      </a:endParaRPr>
                    </a:p>
                  </a:txBody>
                  <a:tcPr marL="73152" marR="73152" marT="73152" marB="73152">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OTP par SMS, puis liaison de ce téléphone (flux A)</a:t>
                      </a:r>
                      <a:endParaRPr lang="en-US" sz="1200" dirty="0">
                        <a:latin typeface="Calibri" charset="0"/>
                        <a:ea typeface="Calibri" charset="0"/>
                        <a:cs typeface="Calibri" charset="0"/>
                      </a:endParaRPr>
                    </a:p>
                  </a:txBody>
                  <a:tcPr marL="73152" marR="73152" marT="73152" marB="73152">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Une clé, et la signature reçue correspond</a:t>
                      </a:r>
                      <a:endParaRPr lang="en-US" sz="1200" dirty="0">
                        <a:latin typeface="Calibri" charset="0"/>
                        <a:ea typeface="Calibri" charset="0"/>
                        <a:cs typeface="Calibri" charset="0"/>
                      </a:endParaRPr>
                    </a:p>
                  </a:txBody>
                  <a:tcPr marL="73152" marR="73152" marT="73152" marB="73152">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C'est le téléphone lié</a:t>
                      </a:r>
                      <a:endParaRPr lang="en-US" sz="1200" dirty="0">
                        <a:latin typeface="Calibri" charset="0"/>
                        <a:ea typeface="Calibri" charset="0"/>
                        <a:cs typeface="Calibri" charset="0"/>
                      </a:endParaRPr>
                    </a:p>
                  </a:txBody>
                  <a:tcPr marL="73152" marR="73152" marT="73152" marB="73152">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L'usager entre directement (flux B)</a:t>
                      </a:r>
                      <a:endParaRPr lang="en-US" sz="1200" dirty="0">
                        <a:latin typeface="Calibri" charset="0"/>
                        <a:ea typeface="Calibri" charset="0"/>
                        <a:cs typeface="Calibri" charset="0"/>
                      </a:endParaRPr>
                    </a:p>
                  </a:txBody>
                  <a:tcPr marL="73152" marR="73152" marT="73152" marB="73152">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Une clé, mais pas de signature (téléphone neuf) ou signature fausse</a:t>
                      </a:r>
                      <a:endParaRPr lang="en-US" sz="1200" dirty="0">
                        <a:latin typeface="Calibri" charset="0"/>
                        <a:ea typeface="Calibri" charset="0"/>
                        <a:cs typeface="Calibri" charset="0"/>
                      </a:endParaRPr>
                    </a:p>
                  </a:txBody>
                  <a:tcPr marL="73152" marR="73152" marT="73152" marB="73152">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Un autre téléphone</a:t>
                      </a:r>
                      <a:endParaRPr lang="en-US" sz="1200" dirty="0">
                        <a:latin typeface="Calibri" charset="0"/>
                        <a:ea typeface="Calibri" charset="0"/>
                        <a:cs typeface="Calibri" charset="0"/>
                      </a:endParaRPr>
                    </a:p>
                  </a:txBody>
                  <a:tcPr marL="73152" marR="73152" marT="73152" marB="73152">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Clé de récupération, puis liaison du nouveau téléphone (flux D)</a:t>
                      </a:r>
                      <a:endParaRPr lang="en-US" sz="1200" dirty="0">
                        <a:latin typeface="Calibri" charset="0"/>
                        <a:ea typeface="Calibri" charset="0"/>
                        <a:cs typeface="Calibri" charset="0"/>
                      </a:endParaRPr>
                    </a:p>
                  </a:txBody>
                  <a:tcPr marL="73152" marR="73152" marT="73152" marB="73152">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FFFFF"/>
                    </a:solidFill>
                  </a:tcPr>
                </a:tc>
              </a:tr>
            </a:tbl>
          </a:graphicData>
        </a:graphic>
      </p:graphicFrame>
      <p:sp>
        <p:nvSpPr>
          <p:cNvPr id="6" name="Shape 2"/>
          <p:cNvSpPr/>
          <p:nvPr/>
        </p:nvSpPr>
        <p:spPr>
          <a:xfrm>
            <a:off x="3840480" y="4023360"/>
            <a:ext cx="7863840" cy="2148840"/>
          </a:xfrm>
          <a:prstGeom prst="roundRect">
            <a:avLst>
              <a:gd name="adj" fmla="val 5106"/>
            </a:avLst>
          </a:prstGeom>
          <a:solidFill>
            <a:srgbClr val="E3F5F2"/>
          </a:solidFill>
          <a:ln w="9525">
            <a:solidFill>
              <a:srgbClr val="DCE3EC"/>
            </a:solidFill>
            <a:prstDash val="solid"/>
          </a:ln>
        </p:spPr>
      </p:sp>
      <p:sp>
        <p:nvSpPr>
          <p:cNvPr id="7" name="Text 3"/>
          <p:cNvSpPr txBox="1"/>
          <p:nvPr/>
        </p:nvSpPr>
        <p:spPr>
          <a:xfrm>
            <a:off x="4114800" y="4160520"/>
            <a:ext cx="7406640" cy="1920240"/>
          </a:xfrm>
          <a:prstGeom prst="rect">
            <a:avLst/>
          </a:prstGeom>
          <a:noFill/>
          <a:ln/>
        </p:spPr>
        <p:txBody>
          <a:bodyPr wrap="square" lIns="0" tIns="0" rIns="0" bIns="0" rtlCol="0" anchor="t"/>
          <a:lstStyle/>
          <a:p>
            <a:pPr indent="0" marL="0">
              <a:spcAft>
                <a:spcPts val="600"/>
              </a:spcAft>
              <a:buNone/>
            </a:pPr>
            <a:r>
              <a:rPr lang="en-US" sz="1400" b="1" dirty="0">
                <a:solidFill>
                  <a:srgbClr val="14213D"/>
                </a:solidFill>
                <a:latin typeface="Calibri" pitchFamily="34" charset="0"/>
                <a:ea typeface="Calibri" pitchFamily="34" charset="-122"/>
                <a:cs typeface="Calibri" pitchFamily="34" charset="-120"/>
              </a:rPr>
              <a:t>Pourquoi l'attaquant ne peut pas mentir</a:t>
            </a:r>
            <a:endParaRPr lang="en-US" sz="1250" dirty="0"/>
          </a:p>
          <a:p>
            <a:pPr indent="0" marL="0">
              <a:spcAft>
                <a:spcPts val="600"/>
              </a:spcAft>
              <a:buNone/>
            </a:pPr>
            <a:r>
              <a:rPr lang="en-US" sz="1250" dirty="0">
                <a:solidFill>
                  <a:srgbClr val="14213D"/>
                </a:solidFill>
                <a:latin typeface="Calibri" pitchFamily="34" charset="0"/>
                <a:ea typeface="Calibri" pitchFamily="34" charset="-122"/>
                <a:cs typeface="Calibri" pitchFamily="34" charset="-120"/>
              </a:rPr>
              <a:t>Il peut envoyer le numéro et le PIN. Il ne peut pas fabriquer la signature de la victime : la clé privée est dans la puce du téléphone de la victime et n'en sort jamais (spike 1). Un compte inexistant et un PIN faux reçoivent la même réponse (« Identifiants incorrects »), pour qu'on ne puisse pas énumérer les comptes (ES-22).</a:t>
            </a:r>
            <a:endParaRPr lang="en-US" sz="1250" dirty="0"/>
          </a:p>
        </p:txBody>
      </p:sp>
      <p:sp>
        <p:nvSpPr>
          <p:cNvPr id="8" name="Text 4"/>
          <p:cNvSpPr txBox="1"/>
          <p:nvPr/>
        </p:nvSpPr>
        <p:spPr>
          <a:xfrm>
            <a:off x="457200" y="6446520"/>
            <a:ext cx="8229600" cy="274320"/>
          </a:xfrm>
          <a:prstGeom prst="rect">
            <a:avLst/>
          </a:prstGeom>
          <a:noFill/>
          <a:ln/>
        </p:spPr>
        <p:txBody>
          <a:bodyPr wrap="square" lIns="0" tIns="0" rIns="0" bIns="0" rtlCol="0" anchor="ctr"/>
          <a:lstStyle/>
          <a:p>
            <a:pPr indent="0" marL="0">
              <a:buNone/>
            </a:pPr>
            <a:r>
              <a:rPr lang="en-US" sz="900" dirty="0">
                <a:solidFill>
                  <a:srgbClr val="5C6B7A"/>
                </a:solidFill>
                <a:latin typeface="Calibri" pitchFamily="34" charset="0"/>
                <a:ea typeface="Calibri" pitchFamily="34" charset="-122"/>
                <a:cs typeface="Calibri" pitchFamily="34" charset="-120"/>
              </a:rPr>
              <a:t>IdentiShield-CM · Dossier de design de l'application mobile · v1.0 · 25/09/2026</a:t>
            </a:r>
            <a:endParaRPr lang="en-US" sz="900" dirty="0"/>
          </a:p>
        </p:txBody>
      </p:sp>
      <p:sp>
        <p:nvSpPr>
          <p:cNvPr id="9" name="Text 5"/>
          <p:cNvSpPr txBox="1"/>
          <p:nvPr/>
        </p:nvSpPr>
        <p:spPr>
          <a:xfrm>
            <a:off x="11247120" y="6446520"/>
            <a:ext cx="548640" cy="274320"/>
          </a:xfrm>
          <a:prstGeom prst="rect">
            <a:avLst/>
          </a:prstGeom>
          <a:noFill/>
          <a:ln/>
        </p:spPr>
        <p:txBody>
          <a:bodyPr wrap="square" lIns="0" tIns="0" rIns="0" bIns="0"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2540"/>
        </a:solidFill>
      </p:bgPr>
    </p:bg>
    <p:spTree>
      <p:nvGrpSpPr>
        <p:cNvPr id="1" name=""/>
        <p:cNvGrpSpPr/>
        <p:nvPr/>
      </p:nvGrpSpPr>
      <p:grpSpPr>
        <a:xfrm>
          <a:off x="0" y="0"/>
          <a:ext cx="0" cy="0"/>
          <a:chOff x="0" y="0"/>
          <a:chExt cx="0" cy="0"/>
        </a:xfrm>
      </p:grpSpPr>
      <p:sp>
        <p:nvSpPr>
          <p:cNvPr id="2" name="Text 0"/>
          <p:cNvSpPr txBox="1"/>
          <p:nvPr/>
        </p:nvSpPr>
        <p:spPr>
          <a:xfrm>
            <a:off x="640080" y="457200"/>
            <a:ext cx="4572000" cy="548640"/>
          </a:xfrm>
          <a:prstGeom prst="rect">
            <a:avLst/>
          </a:prstGeom>
          <a:noFill/>
          <a:ln/>
        </p:spPr>
        <p:txBody>
          <a:bodyPr wrap="square" lIns="0" tIns="0" rIns="0" bIns="0" rtlCol="0" anchor="ctr"/>
          <a:lstStyle/>
          <a:p>
            <a:pPr indent="0" marL="0">
              <a:buNone/>
            </a:pPr>
            <a:r>
              <a:rPr lang="en-US" sz="1600" b="1" dirty="0">
                <a:solidFill>
                  <a:srgbClr val="5BD3C4"/>
                </a:solidFill>
                <a:latin typeface="Calibri" pitchFamily="34" charset="0"/>
                <a:ea typeface="Calibri" pitchFamily="34" charset="-122"/>
                <a:cs typeface="Calibri" pitchFamily="34" charset="-120"/>
              </a:rPr>
              <a:t>Flux A</a:t>
            </a:r>
            <a:endParaRPr lang="en-US" sz="1600" dirty="0"/>
          </a:p>
        </p:txBody>
      </p:sp>
      <p:sp>
        <p:nvSpPr>
          <p:cNvPr id="3" name="Text 1"/>
          <p:cNvSpPr txBox="1"/>
          <p:nvPr/>
        </p:nvSpPr>
        <p:spPr>
          <a:xfrm>
            <a:off x="640080" y="914400"/>
            <a:ext cx="5486400" cy="82296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Premier enrôlement</a:t>
            </a:r>
            <a:endParaRPr lang="en-US" sz="3600" dirty="0"/>
          </a:p>
        </p:txBody>
      </p:sp>
      <p:sp>
        <p:nvSpPr>
          <p:cNvPr id="4" name="Text 2"/>
          <p:cNvSpPr txBox="1"/>
          <p:nvPr/>
        </p:nvSpPr>
        <p:spPr>
          <a:xfrm>
            <a:off x="640080" y="1828800"/>
            <a:ext cx="5120640" cy="146304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Le compte n'a jamais été lié. C'est le seul moment où un code SMS existe : il sert à amorcer, pas à prouver la propriété. Ensuite, la clé du téléphone le remplace partout.</a:t>
            </a:r>
            <a:endParaRPr lang="en-US" sz="1400" dirty="0"/>
          </a:p>
        </p:txBody>
      </p:sp>
      <p:sp>
        <p:nvSpPr>
          <p:cNvPr id="5" name="Text 3"/>
          <p:cNvSpPr txBox="1"/>
          <p:nvPr/>
        </p:nvSpPr>
        <p:spPr>
          <a:xfrm>
            <a:off x="640080" y="3566160"/>
            <a:ext cx="5120640" cy="1280160"/>
          </a:xfrm>
          <a:prstGeom prst="rect">
            <a:avLst/>
          </a:prstGeom>
          <a:noFill/>
          <a:ln/>
        </p:spPr>
        <p:txBody>
          <a:bodyPr wrap="square" lIns="0" tIns="0" rIns="0" bIns="0" rtlCol="0" anchor="ctr"/>
          <a:lstStyle/>
          <a:p>
            <a:pPr indent="0" marL="0">
              <a:buNone/>
            </a:pPr>
            <a:r>
              <a:rPr lang="en-US" sz="1200" b="1" dirty="0">
                <a:solidFill>
                  <a:srgbClr val="A9BCD6"/>
                </a:solidFill>
                <a:latin typeface="Calibri" pitchFamily="34" charset="0"/>
                <a:ea typeface="Calibri" pitchFamily="34" charset="-122"/>
                <a:cs typeface="Calibri" pitchFamily="34" charset="-120"/>
              </a:rPr>
              <a:t>Neuf écrans</a:t>
            </a:r>
            <a:endParaRPr lang="en-US" sz="1200" dirty="0"/>
          </a:p>
          <a:p>
            <a:pPr indent="0" marL="0">
              <a:buNone/>
            </a:pPr>
            <a:r>
              <a:rPr lang="en-US" sz="1200" dirty="0">
                <a:solidFill>
                  <a:srgbClr val="A9BCD6"/>
                </a:solidFill>
                <a:latin typeface="Calibri" pitchFamily="34" charset="0"/>
                <a:ea typeface="Calibri" pitchFamily="34" charset="-122"/>
                <a:cs typeface="Calibri" pitchFamily="34" charset="-120"/>
              </a:rPr>
              <a:t>E-02 → E-03 → E-06 → E-04 → E-05 → E-07 → E-08 → E-09 → E-11</a:t>
            </a:r>
            <a:endParaRPr lang="en-US" sz="1200" dirty="0"/>
          </a:p>
          <a:p>
            <a:pPr indent="0" marL="0">
              <a:buNone/>
            </a:pPr>
            <a:r>
              <a:rPr lang="en-US" sz="1200" dirty="0">
                <a:solidFill>
                  <a:srgbClr val="A9BCD6"/>
                </a:solidFill>
                <a:latin typeface="Calibri" pitchFamily="34" charset="0"/>
                <a:ea typeface="Calibri" pitchFamily="34" charset="-122"/>
                <a:cs typeface="Calibri" pitchFamily="34" charset="-120"/>
              </a:rPr>
              <a:t>Exigences couvertes : MOB-F-01 à F-05, F-16, F-18 · ES-25, ES-26</a:t>
            </a:r>
            <a:endParaRPr lang="en-US" sz="1200" dirty="0"/>
          </a:p>
        </p:txBody>
      </p:sp>
      <p:pic>
        <p:nvPicPr>
          <p:cNvPr id="6" name="Image 0" descr="/home/claude/mob/diag/D1_premier_enrolement.png">    </p:cNvPr>
          <p:cNvPicPr>
            <a:picLocks noChangeAspect="1"/>
          </p:cNvPicPr>
          <p:nvPr/>
        </p:nvPicPr>
        <p:blipFill>
          <a:blip r:embed="rId1"/>
          <a:stretch>
            <a:fillRect/>
          </a:stretch>
        </p:blipFill>
        <p:spPr>
          <a:xfrm>
            <a:off x="6035040" y="548640"/>
            <a:ext cx="5760720" cy="4680585"/>
          </a:xfrm>
          <a:prstGeom prst="rect">
            <a:avLst/>
          </a:prstGeom>
        </p:spPr>
      </p:pic>
      <p:sp>
        <p:nvSpPr>
          <p:cNvPr id="7" name="Text 4"/>
          <p:cNvSpPr txBox="1"/>
          <p:nvPr/>
        </p:nvSpPr>
        <p:spPr>
          <a:xfrm>
            <a:off x="6035040" y="5349240"/>
            <a:ext cx="5760720" cy="548640"/>
          </a:xfrm>
          <a:prstGeom prst="rect">
            <a:avLst/>
          </a:prstGeom>
          <a:noFill/>
          <a:ln/>
        </p:spPr>
        <p:txBody>
          <a:bodyPr wrap="square" lIns="0" tIns="0" rIns="0" bIns="0" rtlCol="0" anchor="ctr"/>
          <a:lstStyle/>
          <a:p>
            <a:pPr indent="0" marL="0">
              <a:buNone/>
            </a:pPr>
            <a:r>
              <a:rPr lang="en-US" sz="1000" i="1" dirty="0">
                <a:solidFill>
                  <a:srgbClr val="A9BCD6"/>
                </a:solidFill>
                <a:latin typeface="Calibri" pitchFamily="34" charset="0"/>
                <a:ea typeface="Calibri" pitchFamily="34" charset="-122"/>
                <a:cs typeface="Calibri" pitchFamily="34" charset="-120"/>
              </a:rPr>
              <a:t>Figure : le serveur valide l'OTP, puis seulement le téléphone fabrique sa clé ; le PDP enregistre la clé et la clé de récupération.</a:t>
            </a:r>
            <a:endParaRPr lang="en-US" sz="1000" dirty="0"/>
          </a:p>
        </p:txBody>
      </p:sp>
      <p:sp>
        <p:nvSpPr>
          <p:cNvPr id="8" name="Text 5"/>
          <p:cNvSpPr txBox="1"/>
          <p:nvPr/>
        </p:nvSpPr>
        <p:spPr>
          <a:xfrm>
            <a:off x="457200" y="6446520"/>
            <a:ext cx="8229600" cy="274320"/>
          </a:xfrm>
          <a:prstGeom prst="rect">
            <a:avLst/>
          </a:prstGeom>
          <a:noFill/>
          <a:ln/>
        </p:spPr>
        <p:txBody>
          <a:bodyPr wrap="square" lIns="0" tIns="0" rIns="0" bIns="0" rtlCol="0" anchor="ctr"/>
          <a:lstStyle/>
          <a:p>
            <a:pPr indent="0" marL="0">
              <a:buNone/>
            </a:pPr>
            <a:r>
              <a:rPr lang="en-US" sz="900" dirty="0">
                <a:solidFill>
                  <a:srgbClr val="A9BCD6"/>
                </a:solidFill>
                <a:latin typeface="Calibri" pitchFamily="34" charset="0"/>
                <a:ea typeface="Calibri" pitchFamily="34" charset="-122"/>
                <a:cs typeface="Calibri" pitchFamily="34" charset="-120"/>
              </a:rPr>
              <a:t>IdentiShield-CM · Dossier de design de l'application mobile · v1.0 · 25/09/2026</a:t>
            </a:r>
            <a:endParaRPr lang="en-US" sz="900" dirty="0"/>
          </a:p>
        </p:txBody>
      </p:sp>
      <p:sp>
        <p:nvSpPr>
          <p:cNvPr id="9" name="Text 6"/>
          <p:cNvSpPr txBox="1"/>
          <p:nvPr/>
        </p:nvSpPr>
        <p:spPr>
          <a:xfrm>
            <a:off x="11247120" y="6446520"/>
            <a:ext cx="548640" cy="274320"/>
          </a:xfrm>
          <a:prstGeom prst="rect">
            <a:avLst/>
          </a:prstGeom>
          <a:noFill/>
          <a:ln/>
        </p:spPr>
        <p:txBody>
          <a:bodyPr wrap="square" lIns="0" tIns="0" rIns="0" bIns="0" rtlCol="0" anchor="ctr"/>
          <a:lstStyle/>
          <a:p>
            <a:pPr algn="r" indent="0" marL="0">
              <a:buNone/>
            </a:pPr>
            <a:r>
              <a:rPr lang="en-US" sz="900" dirty="0">
                <a:solidFill>
                  <a:srgbClr val="A9BCD6"/>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3000" b="1" dirty="0">
                <a:solidFill>
                  <a:srgbClr val="10375C"/>
                </a:solidFill>
                <a:latin typeface="Calibri" pitchFamily="34" charset="0"/>
                <a:ea typeface="Calibri" pitchFamily="34" charset="-122"/>
                <a:cs typeface="Calibri" pitchFamily="34" charset="-120"/>
              </a:rPr>
              <a:t>Flux A · 1/3 — L'usager entre son numéro, puis son PIN</a:t>
            </a:r>
            <a:endParaRPr lang="en-US" sz="3000" dirty="0"/>
          </a:p>
        </p:txBody>
      </p:sp>
      <p:sp>
        <p:nvSpPr>
          <p:cNvPr id="3" name="Text 1"/>
          <p:cNvSpPr txBox="1"/>
          <p:nvPr/>
        </p:nvSpPr>
        <p:spPr>
          <a:xfrm>
            <a:off x="457200" y="914400"/>
            <a:ext cx="11247120" cy="365760"/>
          </a:xfrm>
          <a:prstGeom prst="rect">
            <a:avLst/>
          </a:prstGeom>
          <a:noFill/>
          <a:ln/>
        </p:spPr>
        <p:txBody>
          <a:bodyPr wrap="square" lIns="0" tIns="0" rIns="0" bIns="0" rtlCol="0" anchor="ctr"/>
          <a:lstStyle/>
          <a:p>
            <a:pPr indent="0" marL="0">
              <a:buNone/>
            </a:pPr>
            <a:r>
              <a:rPr lang="en-US" sz="1400" dirty="0">
                <a:solidFill>
                  <a:srgbClr val="5C6B7A"/>
                </a:solidFill>
                <a:latin typeface="Calibri" pitchFamily="34" charset="0"/>
                <a:ea typeface="Calibri" pitchFamily="34" charset="-122"/>
                <a:cs typeface="Calibri" pitchFamily="34" charset="-120"/>
              </a:rPr>
              <a:t>Le même début pour tout le monde. Le serveur vérifie le PIN, ne trouve aucune clé pour ce compte, et demande un OTP.</a:t>
            </a:r>
            <a:endParaRPr lang="en-US" sz="1400" dirty="0"/>
          </a:p>
        </p:txBody>
      </p:sp>
      <p:pic>
        <p:nvPicPr>
          <p:cNvPr id="4" name="Image 0" descr="/home/claude/design/out/E02.png">    </p:cNvPr>
          <p:cNvPicPr>
            <a:picLocks noChangeAspect="1"/>
          </p:cNvPicPr>
          <p:nvPr/>
        </p:nvPicPr>
        <p:blipFill>
          <a:blip r:embed="rId1"/>
          <a:stretch>
            <a:fillRect/>
          </a:stretch>
        </p:blipFill>
        <p:spPr>
          <a:xfrm>
            <a:off x="457200" y="1417320"/>
            <a:ext cx="1804182" cy="3703320"/>
          </a:xfrm>
          <a:prstGeom prst="rect">
            <a:avLst/>
          </a:prstGeom>
        </p:spPr>
      </p:pic>
      <p:sp>
        <p:nvSpPr>
          <p:cNvPr id="5" name="Text 2"/>
          <p:cNvSpPr txBox="1"/>
          <p:nvPr/>
        </p:nvSpPr>
        <p:spPr>
          <a:xfrm>
            <a:off x="320040" y="5166360"/>
            <a:ext cx="2078502" cy="457200"/>
          </a:xfrm>
          <a:prstGeom prst="rect">
            <a:avLst/>
          </a:prstGeom>
          <a:noFill/>
          <a:ln/>
        </p:spPr>
        <p:txBody>
          <a:bodyPr wrap="square" lIns="0" tIns="0" rIns="0" bIns="0" rtlCol="0" anchor="t"/>
          <a:lstStyle/>
          <a:p>
            <a:pPr algn="ctr" indent="0" marL="0">
              <a:buNone/>
            </a:pPr>
            <a:r>
              <a:rPr lang="en-US" sz="1050" dirty="0">
                <a:solidFill>
                  <a:srgbClr val="14213D"/>
                </a:solidFill>
                <a:latin typeface="Calibri" pitchFamily="34" charset="0"/>
                <a:ea typeface="Calibri" pitchFamily="34" charset="-122"/>
                <a:cs typeface="Calibri" pitchFamily="34" charset="-120"/>
              </a:rPr>
              <a:t>E-02 Bienvenue : ce que l'app va faire, et l'avertissement désinstallation</a:t>
            </a:r>
            <a:endParaRPr lang="en-US" sz="1050" dirty="0"/>
          </a:p>
        </p:txBody>
      </p:sp>
      <p:pic>
        <p:nvPicPr>
          <p:cNvPr id="6" name="Image 1" descr="/home/claude/design/out/E03.png">    </p:cNvPr>
          <p:cNvPicPr>
            <a:picLocks noChangeAspect="1"/>
          </p:cNvPicPr>
          <p:nvPr/>
        </p:nvPicPr>
        <p:blipFill>
          <a:blip r:embed="rId2"/>
          <a:stretch>
            <a:fillRect/>
          </a:stretch>
        </p:blipFill>
        <p:spPr>
          <a:xfrm>
            <a:off x="2535702" y="1417320"/>
            <a:ext cx="1804182" cy="3703320"/>
          </a:xfrm>
          <a:prstGeom prst="rect">
            <a:avLst/>
          </a:prstGeom>
        </p:spPr>
      </p:pic>
      <p:sp>
        <p:nvSpPr>
          <p:cNvPr id="7" name="Text 3"/>
          <p:cNvSpPr txBox="1"/>
          <p:nvPr/>
        </p:nvSpPr>
        <p:spPr>
          <a:xfrm>
            <a:off x="2398542" y="5166360"/>
            <a:ext cx="2078502" cy="457200"/>
          </a:xfrm>
          <a:prstGeom prst="rect">
            <a:avLst/>
          </a:prstGeom>
          <a:noFill/>
          <a:ln/>
        </p:spPr>
        <p:txBody>
          <a:bodyPr wrap="square" lIns="0" tIns="0" rIns="0" bIns="0" rtlCol="0" anchor="t"/>
          <a:lstStyle/>
          <a:p>
            <a:pPr algn="ctr" indent="0" marL="0">
              <a:buNone/>
            </a:pPr>
            <a:r>
              <a:rPr lang="en-US" sz="1050" dirty="0">
                <a:solidFill>
                  <a:srgbClr val="14213D"/>
                </a:solidFill>
                <a:latin typeface="Calibri" pitchFamily="34" charset="0"/>
                <a:ea typeface="Calibri" pitchFamily="34" charset="-122"/>
                <a:cs typeface="Calibri" pitchFamily="34" charset="-120"/>
              </a:rPr>
              <a:t>E-03 Numéro : plage 677, format vérifié localement</a:t>
            </a:r>
            <a:endParaRPr lang="en-US" sz="1050" dirty="0"/>
          </a:p>
        </p:txBody>
      </p:sp>
      <p:pic>
        <p:nvPicPr>
          <p:cNvPr id="8" name="Image 2" descr="/home/claude/design/out/E06.png">    </p:cNvPr>
          <p:cNvPicPr>
            <a:picLocks noChangeAspect="1"/>
          </p:cNvPicPr>
          <p:nvPr/>
        </p:nvPicPr>
        <p:blipFill>
          <a:blip r:embed="rId3"/>
          <a:stretch>
            <a:fillRect/>
          </a:stretch>
        </p:blipFill>
        <p:spPr>
          <a:xfrm>
            <a:off x="4614203" y="1417320"/>
            <a:ext cx="1804182" cy="3703320"/>
          </a:xfrm>
          <a:prstGeom prst="rect">
            <a:avLst/>
          </a:prstGeom>
        </p:spPr>
      </p:pic>
      <p:sp>
        <p:nvSpPr>
          <p:cNvPr id="9" name="Text 4"/>
          <p:cNvSpPr txBox="1"/>
          <p:nvPr/>
        </p:nvSpPr>
        <p:spPr>
          <a:xfrm>
            <a:off x="4477043" y="5166360"/>
            <a:ext cx="2078502" cy="457200"/>
          </a:xfrm>
          <a:prstGeom prst="rect">
            <a:avLst/>
          </a:prstGeom>
          <a:noFill/>
          <a:ln/>
        </p:spPr>
        <p:txBody>
          <a:bodyPr wrap="square" lIns="0" tIns="0" rIns="0" bIns="0" rtlCol="0" anchor="t"/>
          <a:lstStyle/>
          <a:p>
            <a:pPr algn="ctr" indent="0" marL="0">
              <a:buNone/>
            </a:pPr>
            <a:r>
              <a:rPr lang="en-US" sz="1050" dirty="0">
                <a:solidFill>
                  <a:srgbClr val="14213D"/>
                </a:solidFill>
                <a:latin typeface="Calibri" pitchFamily="34" charset="0"/>
                <a:ea typeface="Calibri" pitchFamily="34" charset="-122"/>
                <a:cs typeface="Calibri" pitchFamily="34" charset="-120"/>
              </a:rPr>
              <a:t>E-06 PIN 🔒 : jamais affiché, capture bloquée</a:t>
            </a:r>
            <a:endParaRPr lang="en-US" sz="1050" dirty="0"/>
          </a:p>
        </p:txBody>
      </p:sp>
      <p:pic>
        <p:nvPicPr>
          <p:cNvPr id="10" name="Image 3" descr="/home/claude/design/out/E04.png">    </p:cNvPr>
          <p:cNvPicPr>
            <a:picLocks noChangeAspect="1"/>
          </p:cNvPicPr>
          <p:nvPr/>
        </p:nvPicPr>
        <p:blipFill>
          <a:blip r:embed="rId4"/>
          <a:stretch>
            <a:fillRect/>
          </a:stretch>
        </p:blipFill>
        <p:spPr>
          <a:xfrm>
            <a:off x="6692705" y="1417320"/>
            <a:ext cx="1804182" cy="3703320"/>
          </a:xfrm>
          <a:prstGeom prst="rect">
            <a:avLst/>
          </a:prstGeom>
        </p:spPr>
      </p:pic>
      <p:sp>
        <p:nvSpPr>
          <p:cNvPr id="11" name="Text 5"/>
          <p:cNvSpPr txBox="1"/>
          <p:nvPr/>
        </p:nvSpPr>
        <p:spPr>
          <a:xfrm>
            <a:off x="6555545" y="5166360"/>
            <a:ext cx="2078502" cy="457200"/>
          </a:xfrm>
          <a:prstGeom prst="rect">
            <a:avLst/>
          </a:prstGeom>
          <a:noFill/>
          <a:ln/>
        </p:spPr>
        <p:txBody>
          <a:bodyPr wrap="square" lIns="0" tIns="0" rIns="0" bIns="0" rtlCol="0" anchor="t"/>
          <a:lstStyle/>
          <a:p>
            <a:pPr algn="ctr" indent="0" marL="0">
              <a:buNone/>
            </a:pPr>
            <a:r>
              <a:rPr lang="en-US" sz="1050" dirty="0">
                <a:solidFill>
                  <a:srgbClr val="14213D"/>
                </a:solidFill>
                <a:latin typeface="Calibri" pitchFamily="34" charset="0"/>
                <a:ea typeface="Calibri" pitchFamily="34" charset="-122"/>
                <a:cs typeface="Calibri" pitchFamily="34" charset="-120"/>
              </a:rPr>
              <a:t>E-04 Vérification : le serveur décide (mode démo visible en bas)</a:t>
            </a:r>
            <a:endParaRPr lang="en-US" sz="1050" dirty="0"/>
          </a:p>
        </p:txBody>
      </p:sp>
      <p:sp>
        <p:nvSpPr>
          <p:cNvPr id="12" name="Shape 6"/>
          <p:cNvSpPr/>
          <p:nvPr/>
        </p:nvSpPr>
        <p:spPr>
          <a:xfrm>
            <a:off x="8908366" y="1417320"/>
            <a:ext cx="2795954" cy="4754880"/>
          </a:xfrm>
          <a:prstGeom prst="roundRect">
            <a:avLst>
              <a:gd name="adj" fmla="val 3925"/>
            </a:avLst>
          </a:prstGeom>
          <a:solidFill>
            <a:srgbClr val="E8F1F8"/>
          </a:solidFill>
          <a:ln w="9525">
            <a:solidFill>
              <a:srgbClr val="DCE3EC"/>
            </a:solidFill>
            <a:prstDash val="solid"/>
          </a:ln>
        </p:spPr>
      </p:sp>
      <p:sp>
        <p:nvSpPr>
          <p:cNvPr id="13" name="Text 7"/>
          <p:cNvSpPr txBox="1"/>
          <p:nvPr/>
        </p:nvSpPr>
        <p:spPr>
          <a:xfrm>
            <a:off x="9109534" y="1554480"/>
            <a:ext cx="2393618" cy="4526280"/>
          </a:xfrm>
          <a:prstGeom prst="rect">
            <a:avLst/>
          </a:prstGeom>
          <a:noFill/>
          <a:ln/>
        </p:spPr>
        <p:txBody>
          <a:bodyPr wrap="square" lIns="0" tIns="0" rIns="0" bIns="0" rtlCol="0" anchor="t"/>
          <a:lstStyle/>
          <a:p>
            <a:pPr indent="0" marL="0">
              <a:spcAft>
                <a:spcPts val="300"/>
              </a:spcAft>
              <a:buNone/>
            </a:pPr>
            <a:r>
              <a:rPr lang="en-US" sz="1300" b="1" dirty="0">
                <a:solidFill>
                  <a:srgbClr val="14213D"/>
                </a:solidFill>
                <a:latin typeface="Calibri" pitchFamily="34" charset="0"/>
                <a:ea typeface="Calibri" pitchFamily="34" charset="-122"/>
                <a:cs typeface="Calibri" pitchFamily="34" charset="-120"/>
              </a:rPr>
              <a:t>Ce qui se passe derrière</a:t>
            </a:r>
            <a:endParaRPr lang="en-US" sz="1050" dirty="0"/>
          </a:p>
          <a:p>
            <a:pPr marL="342900" indent="-342900">
              <a:spcAft>
                <a:spcPts val="300"/>
              </a:spcAft>
              <a:buSzPct val="100000"/>
              <a:buChar char="•"/>
            </a:pPr>
            <a:r>
              <a:rPr lang="en-US" sz="1050" dirty="0">
                <a:solidFill>
                  <a:srgbClr val="14213D"/>
                </a:solidFill>
                <a:latin typeface="Calibri" pitchFamily="34" charset="0"/>
                <a:ea typeface="Calibri" pitchFamily="34" charset="-122"/>
                <a:cs typeface="Calibri" pitchFamily="34" charset="-120"/>
              </a:rPr>
              <a:t>E-02 dit la vérité tout de suite : désinstaller détruit la clé (spike 1). On le redira dans Sécurité.</a:t>
            </a:r>
            <a:endParaRPr lang="en-US" sz="1050" dirty="0"/>
          </a:p>
          <a:p>
            <a:pPr marL="342900" indent="-342900">
              <a:spcAft>
                <a:spcPts val="300"/>
              </a:spcAft>
              <a:buSzPct val="100000"/>
              <a:buChar char="•"/>
            </a:pPr>
            <a:r>
              <a:rPr lang="en-US" sz="1050" dirty="0">
                <a:solidFill>
                  <a:srgbClr val="14213D"/>
                </a:solidFill>
                <a:latin typeface="Calibri" pitchFamily="34" charset="0"/>
                <a:ea typeface="Calibri" pitchFamily="34" charset="-122"/>
                <a:cs typeface="Calibri" pitchFamily="34" charset="-120"/>
              </a:rPr>
              <a:t>E-03 n'accepte que la plage du projet ; hors plage, refus local sans appel réseau.</a:t>
            </a:r>
            <a:endParaRPr lang="en-US" sz="1050" dirty="0"/>
          </a:p>
          <a:p>
            <a:pPr marL="342900" indent="-342900">
              <a:spcAft>
                <a:spcPts val="300"/>
              </a:spcAft>
              <a:buSzPct val="100000"/>
              <a:buChar char="•"/>
            </a:pPr>
            <a:r>
              <a:rPr lang="en-US" sz="1050" dirty="0">
                <a:solidFill>
                  <a:srgbClr val="14213D"/>
                </a:solidFill>
                <a:latin typeface="Calibri" pitchFamily="34" charset="0"/>
                <a:ea typeface="Calibri" pitchFamily="34" charset="-122"/>
                <a:cs typeface="Calibri" pitchFamily="34" charset="-120"/>
              </a:rPr>
              <a:t>E-06 : PIN saisi sur un écran non capturable, sans presse-papiers ; l'app ne le stocke jamais.</a:t>
            </a:r>
            <a:endParaRPr lang="en-US" sz="1050" dirty="0"/>
          </a:p>
          <a:p>
            <a:pPr marL="342900" indent="-342900">
              <a:spcAft>
                <a:spcPts val="300"/>
              </a:spcAft>
              <a:buSzPct val="100000"/>
              <a:buChar char="•"/>
            </a:pPr>
            <a:r>
              <a:rPr lang="en-US" sz="1050" dirty="0">
                <a:solidFill>
                  <a:srgbClr val="14213D"/>
                </a:solidFill>
                <a:latin typeface="Calibri" pitchFamily="34" charset="0"/>
                <a:ea typeface="Calibri" pitchFamily="34" charset="-122"/>
                <a:cs typeface="Calibri" pitchFamily="34" charset="-120"/>
              </a:rPr>
              <a:t>E-04 : une seule réponse possible pour « compte inexistant » et « PIN faux » (ES-22). Ici, le serveur trouve le compte, aucune clé → OTP.</a:t>
            </a:r>
            <a:endParaRPr lang="en-US" sz="1050" dirty="0"/>
          </a:p>
          <a:p>
            <a:pPr marL="342900" indent="-342900">
              <a:spcAft>
                <a:spcPts val="300"/>
              </a:spcAft>
              <a:buSzPct val="100000"/>
              <a:buChar char="•"/>
            </a:pPr>
            <a:r>
              <a:rPr lang="en-US" sz="1050" dirty="0">
                <a:solidFill>
                  <a:srgbClr val="14213D"/>
                </a:solidFill>
                <a:latin typeface="Calibri" pitchFamily="34" charset="0"/>
                <a:ea typeface="Calibri" pitchFamily="34" charset="-122"/>
                <a:cs typeface="Calibri" pitchFamily="34" charset="-120"/>
              </a:rPr>
              <a:t>Le mode démonstration (désactivé par défaut) affiche la ligne technique en bas : c'est pour le jury, pas pour l'usager.</a:t>
            </a:r>
            <a:endParaRPr lang="en-US" sz="1050" dirty="0"/>
          </a:p>
        </p:txBody>
      </p:sp>
      <p:sp>
        <p:nvSpPr>
          <p:cNvPr id="14" name="Text 8"/>
          <p:cNvSpPr txBox="1"/>
          <p:nvPr/>
        </p:nvSpPr>
        <p:spPr>
          <a:xfrm>
            <a:off x="457200" y="6446520"/>
            <a:ext cx="8229600" cy="274320"/>
          </a:xfrm>
          <a:prstGeom prst="rect">
            <a:avLst/>
          </a:prstGeom>
          <a:noFill/>
          <a:ln/>
        </p:spPr>
        <p:txBody>
          <a:bodyPr wrap="square" lIns="0" tIns="0" rIns="0" bIns="0" rtlCol="0" anchor="ctr"/>
          <a:lstStyle/>
          <a:p>
            <a:pPr indent="0" marL="0">
              <a:buNone/>
            </a:pPr>
            <a:r>
              <a:rPr lang="en-US" sz="900" dirty="0">
                <a:solidFill>
                  <a:srgbClr val="5C6B7A"/>
                </a:solidFill>
                <a:latin typeface="Calibri" pitchFamily="34" charset="0"/>
                <a:ea typeface="Calibri" pitchFamily="34" charset="-122"/>
                <a:cs typeface="Calibri" pitchFamily="34" charset="-120"/>
              </a:rPr>
              <a:t>IdentiShield-CM · Dossier de design de l'application mobile · v1.0 · 25/09/2026</a:t>
            </a:r>
            <a:endParaRPr lang="en-US" sz="900" dirty="0"/>
          </a:p>
        </p:txBody>
      </p:sp>
      <p:sp>
        <p:nvSpPr>
          <p:cNvPr id="15" name="Text 9"/>
          <p:cNvSpPr txBox="1"/>
          <p:nvPr/>
        </p:nvSpPr>
        <p:spPr>
          <a:xfrm>
            <a:off x="11247120" y="6446520"/>
            <a:ext cx="548640" cy="274320"/>
          </a:xfrm>
          <a:prstGeom prst="rect">
            <a:avLst/>
          </a:prstGeom>
          <a:noFill/>
          <a:ln/>
        </p:spPr>
        <p:txBody>
          <a:bodyPr wrap="square" lIns="0" tIns="0" rIns="0" bIns="0"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3000" b="1" dirty="0">
                <a:solidFill>
                  <a:srgbClr val="10375C"/>
                </a:solidFill>
                <a:latin typeface="Calibri" pitchFamily="34" charset="0"/>
                <a:ea typeface="Calibri" pitchFamily="34" charset="-122"/>
                <a:cs typeface="Calibri" pitchFamily="34" charset="-120"/>
              </a:rPr>
              <a:t>Flux A · 2/3 — Le code SMS, puis la sécurisation du téléphone</a:t>
            </a:r>
            <a:endParaRPr lang="en-US" sz="3000" dirty="0"/>
          </a:p>
        </p:txBody>
      </p:sp>
      <p:sp>
        <p:nvSpPr>
          <p:cNvPr id="3" name="Text 1"/>
          <p:cNvSpPr txBox="1"/>
          <p:nvPr/>
        </p:nvSpPr>
        <p:spPr>
          <a:xfrm>
            <a:off x="457200" y="914400"/>
            <a:ext cx="11247120" cy="365760"/>
          </a:xfrm>
          <a:prstGeom prst="rect">
            <a:avLst/>
          </a:prstGeom>
          <a:noFill/>
          <a:ln/>
        </p:spPr>
        <p:txBody>
          <a:bodyPr wrap="square" lIns="0" tIns="0" rIns="0" bIns="0" rtlCol="0" anchor="ctr"/>
          <a:lstStyle/>
          <a:p>
            <a:pPr indent="0" marL="0">
              <a:buNone/>
            </a:pPr>
            <a:r>
              <a:rPr lang="en-US" sz="1400" dirty="0">
                <a:solidFill>
                  <a:srgbClr val="5C6B7A"/>
                </a:solidFill>
                <a:latin typeface="Calibri" pitchFamily="34" charset="0"/>
                <a:ea typeface="Calibri" pitchFamily="34" charset="-122"/>
                <a:cs typeface="Calibri" pitchFamily="34" charset="-120"/>
              </a:rPr>
              <a:t>Le seul OTP de toute la vie du compte. Une fois validé, la puce fabrique la clé, avec le défi du serveur, et le serveur l'enregistre.</a:t>
            </a:r>
            <a:endParaRPr lang="en-US" sz="1400" dirty="0"/>
          </a:p>
        </p:txBody>
      </p:sp>
      <p:pic>
        <p:nvPicPr>
          <p:cNvPr id="4" name="Image 0" descr="/home/claude/design/out/E05.png">    </p:cNvPr>
          <p:cNvPicPr>
            <a:picLocks noChangeAspect="1"/>
          </p:cNvPicPr>
          <p:nvPr/>
        </p:nvPicPr>
        <p:blipFill>
          <a:blip r:embed="rId1"/>
          <a:stretch>
            <a:fillRect/>
          </a:stretch>
        </p:blipFill>
        <p:spPr>
          <a:xfrm>
            <a:off x="457200" y="1417320"/>
            <a:ext cx="2049194" cy="4206240"/>
          </a:xfrm>
          <a:prstGeom prst="rect">
            <a:avLst/>
          </a:prstGeom>
        </p:spPr>
      </p:pic>
      <p:sp>
        <p:nvSpPr>
          <p:cNvPr id="5" name="Text 2"/>
          <p:cNvSpPr txBox="1"/>
          <p:nvPr/>
        </p:nvSpPr>
        <p:spPr>
          <a:xfrm>
            <a:off x="320040" y="5669280"/>
            <a:ext cx="2323514" cy="457200"/>
          </a:xfrm>
          <a:prstGeom prst="rect">
            <a:avLst/>
          </a:prstGeom>
          <a:noFill/>
          <a:ln/>
        </p:spPr>
        <p:txBody>
          <a:bodyPr wrap="square" lIns="0" tIns="0" rIns="0" bIns="0" rtlCol="0" anchor="t"/>
          <a:lstStyle/>
          <a:p>
            <a:pPr algn="ctr" indent="0" marL="0">
              <a:buNone/>
            </a:pPr>
            <a:r>
              <a:rPr lang="en-US" sz="1050" dirty="0">
                <a:solidFill>
                  <a:srgbClr val="14213D"/>
                </a:solidFill>
                <a:latin typeface="Calibri" pitchFamily="34" charset="0"/>
                <a:ea typeface="Calibri" pitchFamily="34" charset="-122"/>
                <a:cs typeface="Calibri" pitchFamily="34" charset="-120"/>
              </a:rPr>
              <a:t>E-05 Code SMS : six chiffres, renvoi après 60 s, durée limitée</a:t>
            </a:r>
            <a:endParaRPr lang="en-US" sz="1050" dirty="0"/>
          </a:p>
        </p:txBody>
      </p:sp>
      <p:pic>
        <p:nvPicPr>
          <p:cNvPr id="6" name="Image 1" descr="/home/claude/design/out/E07.png">    </p:cNvPr>
          <p:cNvPicPr>
            <a:picLocks noChangeAspect="1"/>
          </p:cNvPicPr>
          <p:nvPr/>
        </p:nvPicPr>
        <p:blipFill>
          <a:blip r:embed="rId2"/>
          <a:stretch>
            <a:fillRect/>
          </a:stretch>
        </p:blipFill>
        <p:spPr>
          <a:xfrm>
            <a:off x="2780714" y="1417320"/>
            <a:ext cx="2049194" cy="4206240"/>
          </a:xfrm>
          <a:prstGeom prst="rect">
            <a:avLst/>
          </a:prstGeom>
        </p:spPr>
      </p:pic>
      <p:sp>
        <p:nvSpPr>
          <p:cNvPr id="7" name="Text 3"/>
          <p:cNvSpPr txBox="1"/>
          <p:nvPr/>
        </p:nvSpPr>
        <p:spPr>
          <a:xfrm>
            <a:off x="2643554" y="5669280"/>
            <a:ext cx="2323514" cy="457200"/>
          </a:xfrm>
          <a:prstGeom prst="rect">
            <a:avLst/>
          </a:prstGeom>
          <a:noFill/>
          <a:ln/>
        </p:spPr>
        <p:txBody>
          <a:bodyPr wrap="square" lIns="0" tIns="0" rIns="0" bIns="0" rtlCol="0" anchor="t"/>
          <a:lstStyle/>
          <a:p>
            <a:pPr algn="ctr" indent="0" marL="0">
              <a:buNone/>
            </a:pPr>
            <a:r>
              <a:rPr lang="en-US" sz="1050" dirty="0">
                <a:solidFill>
                  <a:srgbClr val="14213D"/>
                </a:solidFill>
                <a:latin typeface="Calibri" pitchFamily="34" charset="0"/>
                <a:ea typeface="Calibri" pitchFamily="34" charset="-122"/>
                <a:cs typeface="Calibri" pitchFamily="34" charset="-120"/>
              </a:rPr>
              <a:t>E-07 Sécurisation : déverrouillage local, puis liaison</a:t>
            </a:r>
            <a:endParaRPr lang="en-US" sz="1050" dirty="0"/>
          </a:p>
        </p:txBody>
      </p:sp>
      <p:pic>
        <p:nvPicPr>
          <p:cNvPr id="8" name="Image 2" descr="/home/claude/design/out/E08.png">    </p:cNvPr>
          <p:cNvPicPr>
            <a:picLocks noChangeAspect="1"/>
          </p:cNvPicPr>
          <p:nvPr/>
        </p:nvPicPr>
        <p:blipFill>
          <a:blip r:embed="rId3"/>
          <a:stretch>
            <a:fillRect/>
          </a:stretch>
        </p:blipFill>
        <p:spPr>
          <a:xfrm>
            <a:off x="5104228" y="1417320"/>
            <a:ext cx="2049194" cy="4206240"/>
          </a:xfrm>
          <a:prstGeom prst="rect">
            <a:avLst/>
          </a:prstGeom>
        </p:spPr>
      </p:pic>
      <p:sp>
        <p:nvSpPr>
          <p:cNvPr id="9" name="Text 4"/>
          <p:cNvSpPr txBox="1"/>
          <p:nvPr/>
        </p:nvSpPr>
        <p:spPr>
          <a:xfrm>
            <a:off x="4967068" y="5669280"/>
            <a:ext cx="2323514" cy="457200"/>
          </a:xfrm>
          <a:prstGeom prst="rect">
            <a:avLst/>
          </a:prstGeom>
          <a:noFill/>
          <a:ln/>
        </p:spPr>
        <p:txBody>
          <a:bodyPr wrap="square" lIns="0" tIns="0" rIns="0" bIns="0" rtlCol="0" anchor="t"/>
          <a:lstStyle/>
          <a:p>
            <a:pPr algn="ctr" indent="0" marL="0">
              <a:buNone/>
            </a:pPr>
            <a:r>
              <a:rPr lang="en-US" sz="1050" dirty="0">
                <a:solidFill>
                  <a:srgbClr val="14213D"/>
                </a:solidFill>
                <a:latin typeface="Calibri" pitchFamily="34" charset="0"/>
                <a:ea typeface="Calibri" pitchFamily="34" charset="-122"/>
                <a:cs typeface="Calibri" pitchFamily="34" charset="-120"/>
              </a:rPr>
              <a:t>E-08 Clé de récupération 🔒 : affichée une seule fois</a:t>
            </a:r>
            <a:endParaRPr lang="en-US" sz="1050" dirty="0"/>
          </a:p>
        </p:txBody>
      </p:sp>
      <p:sp>
        <p:nvSpPr>
          <p:cNvPr id="10" name="Shape 5"/>
          <p:cNvSpPr/>
          <p:nvPr/>
        </p:nvSpPr>
        <p:spPr>
          <a:xfrm>
            <a:off x="7564902" y="1417320"/>
            <a:ext cx="4139418" cy="4754880"/>
          </a:xfrm>
          <a:prstGeom prst="roundRect">
            <a:avLst>
              <a:gd name="adj" fmla="val 2651"/>
            </a:avLst>
          </a:prstGeom>
          <a:solidFill>
            <a:srgbClr val="E8F1F8"/>
          </a:solidFill>
          <a:ln w="9525">
            <a:solidFill>
              <a:srgbClr val="DCE3EC"/>
            </a:solidFill>
            <a:prstDash val="solid"/>
          </a:ln>
        </p:spPr>
      </p:sp>
      <p:sp>
        <p:nvSpPr>
          <p:cNvPr id="11" name="Text 6"/>
          <p:cNvSpPr txBox="1"/>
          <p:nvPr/>
        </p:nvSpPr>
        <p:spPr>
          <a:xfrm>
            <a:off x="7766070" y="1554480"/>
            <a:ext cx="3737082" cy="4526280"/>
          </a:xfrm>
          <a:prstGeom prst="rect">
            <a:avLst/>
          </a:prstGeom>
          <a:noFill/>
          <a:ln/>
        </p:spPr>
        <p:txBody>
          <a:bodyPr wrap="square" lIns="0" tIns="0" rIns="0" bIns="0" rtlCol="0" anchor="t"/>
          <a:lstStyle/>
          <a:p>
            <a:pPr indent="0" marL="0">
              <a:spcAft>
                <a:spcPts val="300"/>
              </a:spcAft>
              <a:buNone/>
            </a:pPr>
            <a:r>
              <a:rPr lang="en-US" sz="1300" b="1" dirty="0">
                <a:solidFill>
                  <a:srgbClr val="14213D"/>
                </a:solidFill>
                <a:latin typeface="Calibri" pitchFamily="34" charset="0"/>
                <a:ea typeface="Calibri" pitchFamily="34" charset="-122"/>
                <a:cs typeface="Calibri" pitchFamily="34" charset="-120"/>
              </a:rPr>
              <a:t>Ce qui se passe derrière</a:t>
            </a:r>
            <a:endParaRPr lang="en-US" sz="1100" dirty="0"/>
          </a:p>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E-05 : l'OTP part vers l'IMSI courant du numéro (isc-sim). Après OTP_ATTEMPTS erreurs, nouvel OTP obligatoire ; au plus OTP_RESENDS renvois.</a:t>
            </a:r>
            <a:endParaRPr lang="en-US" sz="1100" dirty="0"/>
          </a:p>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E-07 : ce n'est qu'ici, après validation de l'OTP, que la clé EC P-256 est fabriquée dans la puce (TEE ou StrongBox), avec le défi d'attestation fourni par le serveur (P-4).</a:t>
            </a:r>
            <a:endParaRPr lang="en-US" sz="1100" dirty="0"/>
          </a:p>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L'usager déverrouille son téléphone (empreinte, visage ou code) : c'est le verrou local de la puce, jamais transmis au serveur (P-11).</a:t>
            </a:r>
            <a:endParaRPr lang="en-US" sz="1100" dirty="0"/>
          </a:p>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Le serveur vérifie l'attestation (matériel, démarrage vérifié, défi) et enregistre la clé publique : une seule clé active par compte (ADR-031).</a:t>
            </a:r>
            <a:endParaRPr lang="en-US" sz="1100" dirty="0"/>
          </a:p>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E-08 : la clé de récupération est générée par le PDP, qui n'en garde qu'un haché salé (ADR-029). Pas de copie, pas de capture, consigne papier.</a:t>
            </a:r>
            <a:endParaRPr lang="en-US" sz="1100" dirty="0"/>
          </a:p>
        </p:txBody>
      </p:sp>
      <p:sp>
        <p:nvSpPr>
          <p:cNvPr id="12" name="Text 7"/>
          <p:cNvSpPr txBox="1"/>
          <p:nvPr/>
        </p:nvSpPr>
        <p:spPr>
          <a:xfrm>
            <a:off x="457200" y="6446520"/>
            <a:ext cx="8229600" cy="274320"/>
          </a:xfrm>
          <a:prstGeom prst="rect">
            <a:avLst/>
          </a:prstGeom>
          <a:noFill/>
          <a:ln/>
        </p:spPr>
        <p:txBody>
          <a:bodyPr wrap="square" lIns="0" tIns="0" rIns="0" bIns="0" rtlCol="0" anchor="ctr"/>
          <a:lstStyle/>
          <a:p>
            <a:pPr indent="0" marL="0">
              <a:buNone/>
            </a:pPr>
            <a:r>
              <a:rPr lang="en-US" sz="900" dirty="0">
                <a:solidFill>
                  <a:srgbClr val="5C6B7A"/>
                </a:solidFill>
                <a:latin typeface="Calibri" pitchFamily="34" charset="0"/>
                <a:ea typeface="Calibri" pitchFamily="34" charset="-122"/>
                <a:cs typeface="Calibri" pitchFamily="34" charset="-120"/>
              </a:rPr>
              <a:t>IdentiShield-CM · Dossier de design de l'application mobile · v1.0 · 25/09/2026</a:t>
            </a:r>
            <a:endParaRPr lang="en-US" sz="900" dirty="0"/>
          </a:p>
        </p:txBody>
      </p:sp>
      <p:sp>
        <p:nvSpPr>
          <p:cNvPr id="13" name="Text 8"/>
          <p:cNvSpPr txBox="1"/>
          <p:nvPr/>
        </p:nvSpPr>
        <p:spPr>
          <a:xfrm>
            <a:off x="11247120" y="6446520"/>
            <a:ext cx="548640" cy="274320"/>
          </a:xfrm>
          <a:prstGeom prst="rect">
            <a:avLst/>
          </a:prstGeom>
          <a:noFill/>
          <a:ln/>
        </p:spPr>
        <p:txBody>
          <a:bodyPr wrap="square" lIns="0" tIns="0" rIns="0" bIns="0"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3000" b="1" dirty="0">
                <a:solidFill>
                  <a:srgbClr val="10375C"/>
                </a:solidFill>
                <a:latin typeface="Calibri" pitchFamily="34" charset="0"/>
                <a:ea typeface="Calibri" pitchFamily="34" charset="-122"/>
                <a:cs typeface="Calibri" pitchFamily="34" charset="-120"/>
              </a:rPr>
              <a:t>Flux A · 3/3 — Confirmer la clé, puis entrer dans l'application</a:t>
            </a:r>
            <a:endParaRPr lang="en-US" sz="3000" dirty="0"/>
          </a:p>
        </p:txBody>
      </p:sp>
      <p:sp>
        <p:nvSpPr>
          <p:cNvPr id="3" name="Text 1"/>
          <p:cNvSpPr txBox="1"/>
          <p:nvPr/>
        </p:nvSpPr>
        <p:spPr>
          <a:xfrm>
            <a:off x="457200" y="914400"/>
            <a:ext cx="11247120" cy="365760"/>
          </a:xfrm>
          <a:prstGeom prst="rect">
            <a:avLst/>
          </a:prstGeom>
          <a:noFill/>
          <a:ln/>
        </p:spPr>
        <p:txBody>
          <a:bodyPr wrap="square" lIns="0" tIns="0" rIns="0" bIns="0" rtlCol="0" anchor="ctr"/>
          <a:lstStyle/>
          <a:p>
            <a:pPr indent="0" marL="0">
              <a:buNone/>
            </a:pPr>
            <a:r>
              <a:rPr lang="en-US" sz="1400" dirty="0">
                <a:solidFill>
                  <a:srgbClr val="5C6B7A"/>
                </a:solidFill>
                <a:latin typeface="Calibri" pitchFamily="34" charset="0"/>
                <a:ea typeface="Calibri" pitchFamily="34" charset="-122"/>
                <a:cs typeface="Calibri" pitchFamily="34" charset="-120"/>
              </a:rPr>
              <a:t>On vérifie que la clé est bien notée avant de la faire disparaître pour toujours. Puis l'accueil : nom, numéro, solde, « appareil protégé ».</a:t>
            </a:r>
            <a:endParaRPr lang="en-US" sz="1400" dirty="0"/>
          </a:p>
        </p:txBody>
      </p:sp>
      <p:pic>
        <p:nvPicPr>
          <p:cNvPr id="4" name="Image 0" descr="/home/claude/design/out/E09.png">    </p:cNvPr>
          <p:cNvPicPr>
            <a:picLocks noChangeAspect="1"/>
          </p:cNvPicPr>
          <p:nvPr/>
        </p:nvPicPr>
        <p:blipFill>
          <a:blip r:embed="rId1"/>
          <a:stretch>
            <a:fillRect/>
          </a:stretch>
        </p:blipFill>
        <p:spPr>
          <a:xfrm>
            <a:off x="457200" y="1417320"/>
            <a:ext cx="2049194" cy="4206240"/>
          </a:xfrm>
          <a:prstGeom prst="rect">
            <a:avLst/>
          </a:prstGeom>
        </p:spPr>
      </p:pic>
      <p:sp>
        <p:nvSpPr>
          <p:cNvPr id="5" name="Text 2"/>
          <p:cNvSpPr txBox="1"/>
          <p:nvPr/>
        </p:nvSpPr>
        <p:spPr>
          <a:xfrm>
            <a:off x="320040" y="5669280"/>
            <a:ext cx="2323514" cy="457200"/>
          </a:xfrm>
          <a:prstGeom prst="rect">
            <a:avLst/>
          </a:prstGeom>
          <a:noFill/>
          <a:ln/>
        </p:spPr>
        <p:txBody>
          <a:bodyPr wrap="square" lIns="0" tIns="0" rIns="0" bIns="0" rtlCol="0" anchor="t"/>
          <a:lstStyle/>
          <a:p>
            <a:pPr algn="ctr" indent="0" marL="0">
              <a:buNone/>
            </a:pPr>
            <a:r>
              <a:rPr lang="en-US" sz="1050" dirty="0">
                <a:solidFill>
                  <a:srgbClr val="14213D"/>
                </a:solidFill>
                <a:latin typeface="Calibri" pitchFamily="34" charset="0"/>
                <a:ea typeface="Calibri" pitchFamily="34" charset="-122"/>
                <a:cs typeface="Calibri" pitchFamily="34" charset="-120"/>
              </a:rPr>
              <a:t>E-09 Confirmation 🔒 : quatre caractères tirés au hasard</a:t>
            </a:r>
            <a:endParaRPr lang="en-US" sz="1050" dirty="0"/>
          </a:p>
        </p:txBody>
      </p:sp>
      <p:pic>
        <p:nvPicPr>
          <p:cNvPr id="6" name="Image 1" descr="/home/claude/design/out/E11.png">    </p:cNvPr>
          <p:cNvPicPr>
            <a:picLocks noChangeAspect="1"/>
          </p:cNvPicPr>
          <p:nvPr/>
        </p:nvPicPr>
        <p:blipFill>
          <a:blip r:embed="rId2"/>
          <a:stretch>
            <a:fillRect/>
          </a:stretch>
        </p:blipFill>
        <p:spPr>
          <a:xfrm>
            <a:off x="2780714" y="1417320"/>
            <a:ext cx="2049194" cy="4206240"/>
          </a:xfrm>
          <a:prstGeom prst="rect">
            <a:avLst/>
          </a:prstGeom>
        </p:spPr>
      </p:pic>
      <p:sp>
        <p:nvSpPr>
          <p:cNvPr id="7" name="Text 3"/>
          <p:cNvSpPr txBox="1"/>
          <p:nvPr/>
        </p:nvSpPr>
        <p:spPr>
          <a:xfrm>
            <a:off x="2643554" y="5669280"/>
            <a:ext cx="2323514" cy="457200"/>
          </a:xfrm>
          <a:prstGeom prst="rect">
            <a:avLst/>
          </a:prstGeom>
          <a:noFill/>
          <a:ln/>
        </p:spPr>
        <p:txBody>
          <a:bodyPr wrap="square" lIns="0" tIns="0" rIns="0" bIns="0" rtlCol="0" anchor="t"/>
          <a:lstStyle/>
          <a:p>
            <a:pPr algn="ctr" indent="0" marL="0">
              <a:buNone/>
            </a:pPr>
            <a:r>
              <a:rPr lang="en-US" sz="1050" dirty="0">
                <a:solidFill>
                  <a:srgbClr val="14213D"/>
                </a:solidFill>
                <a:latin typeface="Calibri" pitchFamily="34" charset="0"/>
                <a:ea typeface="Calibri" pitchFamily="34" charset="-122"/>
                <a:cs typeface="Calibri" pitchFamily="34" charset="-120"/>
              </a:rPr>
              <a:t>E-11 Accueil : le compte de la personne, protégé</a:t>
            </a:r>
            <a:endParaRPr lang="en-US" sz="1050" dirty="0"/>
          </a:p>
        </p:txBody>
      </p:sp>
      <p:pic>
        <p:nvPicPr>
          <p:cNvPr id="8" name="Image 2" descr="/home/claude/design/out/E25.png">    </p:cNvPr>
          <p:cNvPicPr>
            <a:picLocks noChangeAspect="1"/>
          </p:cNvPicPr>
          <p:nvPr/>
        </p:nvPicPr>
        <p:blipFill>
          <a:blip r:embed="rId3"/>
          <a:stretch>
            <a:fillRect/>
          </a:stretch>
        </p:blipFill>
        <p:spPr>
          <a:xfrm>
            <a:off x="5104228" y="1417320"/>
            <a:ext cx="2049194" cy="4206240"/>
          </a:xfrm>
          <a:prstGeom prst="rect">
            <a:avLst/>
          </a:prstGeom>
        </p:spPr>
      </p:pic>
      <p:sp>
        <p:nvSpPr>
          <p:cNvPr id="9" name="Text 4"/>
          <p:cNvSpPr txBox="1"/>
          <p:nvPr/>
        </p:nvSpPr>
        <p:spPr>
          <a:xfrm>
            <a:off x="4967068" y="5669280"/>
            <a:ext cx="2323514" cy="457200"/>
          </a:xfrm>
          <a:prstGeom prst="rect">
            <a:avLst/>
          </a:prstGeom>
          <a:noFill/>
          <a:ln/>
        </p:spPr>
        <p:txBody>
          <a:bodyPr wrap="square" lIns="0" tIns="0" rIns="0" bIns="0" rtlCol="0" anchor="t"/>
          <a:lstStyle/>
          <a:p>
            <a:pPr algn="ctr" indent="0" marL="0">
              <a:buNone/>
            </a:pPr>
            <a:r>
              <a:rPr lang="en-US" sz="1050" dirty="0">
                <a:solidFill>
                  <a:srgbClr val="14213D"/>
                </a:solidFill>
                <a:latin typeface="Calibri" pitchFamily="34" charset="0"/>
                <a:ea typeface="Calibri" pitchFamily="34" charset="-122"/>
                <a:cs typeface="Calibri" pitchFamily="34" charset="-120"/>
              </a:rPr>
              <a:t>E-25 Sécurité : appareil lié, régénérer, délier, mode démo</a:t>
            </a:r>
            <a:endParaRPr lang="en-US" sz="1050" dirty="0"/>
          </a:p>
        </p:txBody>
      </p:sp>
      <p:sp>
        <p:nvSpPr>
          <p:cNvPr id="10" name="Shape 5"/>
          <p:cNvSpPr/>
          <p:nvPr/>
        </p:nvSpPr>
        <p:spPr>
          <a:xfrm>
            <a:off x="7564902" y="1417320"/>
            <a:ext cx="4139418" cy="4754880"/>
          </a:xfrm>
          <a:prstGeom prst="roundRect">
            <a:avLst>
              <a:gd name="adj" fmla="val 2651"/>
            </a:avLst>
          </a:prstGeom>
          <a:solidFill>
            <a:srgbClr val="E8F1F8"/>
          </a:solidFill>
          <a:ln w="9525">
            <a:solidFill>
              <a:srgbClr val="DCE3EC"/>
            </a:solidFill>
            <a:prstDash val="solid"/>
          </a:ln>
        </p:spPr>
      </p:sp>
      <p:sp>
        <p:nvSpPr>
          <p:cNvPr id="11" name="Text 6"/>
          <p:cNvSpPr txBox="1"/>
          <p:nvPr/>
        </p:nvSpPr>
        <p:spPr>
          <a:xfrm>
            <a:off x="7766070" y="1554480"/>
            <a:ext cx="3737082" cy="4526280"/>
          </a:xfrm>
          <a:prstGeom prst="rect">
            <a:avLst/>
          </a:prstGeom>
          <a:noFill/>
          <a:ln/>
        </p:spPr>
        <p:txBody>
          <a:bodyPr wrap="square" lIns="0" tIns="0" rIns="0" bIns="0" rtlCol="0" anchor="t"/>
          <a:lstStyle/>
          <a:p>
            <a:pPr indent="0" marL="0">
              <a:spcAft>
                <a:spcPts val="300"/>
              </a:spcAft>
              <a:buNone/>
            </a:pPr>
            <a:r>
              <a:rPr lang="en-US" sz="1300" b="1" dirty="0">
                <a:solidFill>
                  <a:srgbClr val="14213D"/>
                </a:solidFill>
                <a:latin typeface="Calibri" pitchFamily="34" charset="0"/>
                <a:ea typeface="Calibri" pitchFamily="34" charset="-122"/>
                <a:cs typeface="Calibri" pitchFamily="34" charset="-120"/>
              </a:rPr>
              <a:t>Cas d'échec du flux A</a:t>
            </a:r>
            <a:endParaRPr lang="en-US" sz="1100" dirty="0"/>
          </a:p>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Compte inexistant ou PIN faux → « Identifiants incorrects », même message dans les deux cas ; freinage par origine, jamais de blocage du compte.</a:t>
            </a:r>
            <a:endParaRPr lang="en-US" sz="1100" dirty="0"/>
          </a:p>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OTP faux → compteur, puis nouvel OTP. OTP jamais reçu → renvoi après 60 s.</a:t>
            </a:r>
            <a:endParaRPr lang="en-US" sz="1100" dirty="0"/>
          </a:p>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Téléphone sans puce sécurisée ou Android trop ancien (&lt; 11) → E-27 : « Ce téléphone ne peut pas protéger votre compte », l'usager reste en USSD.</a:t>
            </a:r>
            <a:endParaRPr lang="en-US" sz="1100" dirty="0"/>
          </a:p>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Attestation refusée (émulateur, démarrage non vérifié) → refus, journalisé.</a:t>
            </a:r>
            <a:endParaRPr lang="en-US" sz="1100" dirty="0"/>
          </a:p>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Réseau coupé pendant E-07 → la clé locale est détruite, l'enrôlement expire (ENROL_TTL), on recommence.</a:t>
            </a:r>
            <a:endParaRPr lang="en-US" sz="1100" dirty="0"/>
          </a:p>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Limite déclarée : un SIM-swap fait AVANT ce premier enrôlement n'est pas couvert par la liaison (fenêtre d'amorçage, QF-01).</a:t>
            </a:r>
            <a:endParaRPr lang="en-US" sz="1100" dirty="0"/>
          </a:p>
        </p:txBody>
      </p:sp>
      <p:sp>
        <p:nvSpPr>
          <p:cNvPr id="12" name="Text 7"/>
          <p:cNvSpPr txBox="1"/>
          <p:nvPr/>
        </p:nvSpPr>
        <p:spPr>
          <a:xfrm>
            <a:off x="457200" y="6446520"/>
            <a:ext cx="8229600" cy="274320"/>
          </a:xfrm>
          <a:prstGeom prst="rect">
            <a:avLst/>
          </a:prstGeom>
          <a:noFill/>
          <a:ln/>
        </p:spPr>
        <p:txBody>
          <a:bodyPr wrap="square" lIns="0" tIns="0" rIns="0" bIns="0" rtlCol="0" anchor="ctr"/>
          <a:lstStyle/>
          <a:p>
            <a:pPr indent="0" marL="0">
              <a:buNone/>
            </a:pPr>
            <a:r>
              <a:rPr lang="en-US" sz="900" dirty="0">
                <a:solidFill>
                  <a:srgbClr val="5C6B7A"/>
                </a:solidFill>
                <a:latin typeface="Calibri" pitchFamily="34" charset="0"/>
                <a:ea typeface="Calibri" pitchFamily="34" charset="-122"/>
                <a:cs typeface="Calibri" pitchFamily="34" charset="-120"/>
              </a:rPr>
              <a:t>IdentiShield-CM · Dossier de design de l'application mobile · v1.0 · 25/09/2026</a:t>
            </a:r>
            <a:endParaRPr lang="en-US" sz="900" dirty="0"/>
          </a:p>
        </p:txBody>
      </p:sp>
      <p:sp>
        <p:nvSpPr>
          <p:cNvPr id="13" name="Text 8"/>
          <p:cNvSpPr txBox="1"/>
          <p:nvPr/>
        </p:nvSpPr>
        <p:spPr>
          <a:xfrm>
            <a:off x="11247120" y="6446520"/>
            <a:ext cx="548640" cy="274320"/>
          </a:xfrm>
          <a:prstGeom prst="rect">
            <a:avLst/>
          </a:prstGeom>
          <a:noFill/>
          <a:ln/>
        </p:spPr>
        <p:txBody>
          <a:bodyPr wrap="square" lIns="0" tIns="0" rIns="0" bIns="0"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3000" b="1" dirty="0">
                <a:solidFill>
                  <a:srgbClr val="10375C"/>
                </a:solidFill>
                <a:latin typeface="Calibri" pitchFamily="34" charset="0"/>
                <a:ea typeface="Calibri" pitchFamily="34" charset="-122"/>
                <a:cs typeface="Calibri" pitchFamily="34" charset="-120"/>
              </a:rPr>
              <a:t>Flux B — Le quotidien : PIN, déverrouillage local, signature. Aucun OTP.</a:t>
            </a:r>
            <a:endParaRPr lang="en-US" sz="3000" dirty="0"/>
          </a:p>
        </p:txBody>
      </p:sp>
      <p:sp>
        <p:nvSpPr>
          <p:cNvPr id="3" name="Text 1"/>
          <p:cNvSpPr txBox="1"/>
          <p:nvPr/>
        </p:nvSpPr>
        <p:spPr>
          <a:xfrm>
            <a:off x="457200" y="914400"/>
            <a:ext cx="11247120" cy="365760"/>
          </a:xfrm>
          <a:prstGeom prst="rect">
            <a:avLst/>
          </a:prstGeom>
          <a:noFill/>
          <a:ln/>
        </p:spPr>
        <p:txBody>
          <a:bodyPr wrap="square" lIns="0" tIns="0" rIns="0" bIns="0" rtlCol="0" anchor="ctr"/>
          <a:lstStyle/>
          <a:p>
            <a:pPr indent="0" marL="0">
              <a:buNone/>
            </a:pPr>
            <a:r>
              <a:rPr lang="en-US" sz="1400" dirty="0">
                <a:solidFill>
                  <a:srgbClr val="5C6B7A"/>
                </a:solidFill>
                <a:latin typeface="Calibri" pitchFamily="34" charset="0"/>
                <a:ea typeface="Calibri" pitchFamily="34" charset="-122"/>
                <a:cs typeface="Calibri" pitchFamily="34" charset="-120"/>
              </a:rPr>
              <a:t>Le numéro est mémorisé comme dans MoMo. L'usager tape son PIN ; la puce signe un défi ; le PDP reconnaît la clé. Plus jamais de SMS.</a:t>
            </a:r>
            <a:endParaRPr lang="en-US" sz="1400" dirty="0"/>
          </a:p>
        </p:txBody>
      </p:sp>
      <p:pic>
        <p:nvPicPr>
          <p:cNvPr id="4" name="Image 0" descr="/home/claude/mob/diag/D2_quotidien.png">    </p:cNvPr>
          <p:cNvPicPr>
            <a:picLocks noChangeAspect="1"/>
          </p:cNvPicPr>
          <p:nvPr/>
        </p:nvPicPr>
        <p:blipFill>
          <a:blip r:embed="rId1"/>
          <a:stretch>
            <a:fillRect/>
          </a:stretch>
        </p:blipFill>
        <p:spPr>
          <a:xfrm>
            <a:off x="457200" y="1371600"/>
            <a:ext cx="5852160" cy="3590420"/>
          </a:xfrm>
          <a:prstGeom prst="rect">
            <a:avLst/>
          </a:prstGeom>
        </p:spPr>
      </p:pic>
      <p:pic>
        <p:nvPicPr>
          <p:cNvPr id="5" name="Image 1" descr="/home/claude/design/out/E10.png">    </p:cNvPr>
          <p:cNvPicPr>
            <a:picLocks noChangeAspect="1"/>
          </p:cNvPicPr>
          <p:nvPr/>
        </p:nvPicPr>
        <p:blipFill>
          <a:blip r:embed="rId2"/>
          <a:stretch>
            <a:fillRect/>
          </a:stretch>
        </p:blipFill>
        <p:spPr>
          <a:xfrm>
            <a:off x="6675120" y="1371600"/>
            <a:ext cx="1826455" cy="3749040"/>
          </a:xfrm>
          <a:prstGeom prst="rect">
            <a:avLst/>
          </a:prstGeom>
        </p:spPr>
      </p:pic>
      <p:sp>
        <p:nvSpPr>
          <p:cNvPr id="6" name="Text 2"/>
          <p:cNvSpPr txBox="1"/>
          <p:nvPr/>
        </p:nvSpPr>
        <p:spPr>
          <a:xfrm>
            <a:off x="6537960" y="5166360"/>
            <a:ext cx="2100775" cy="457200"/>
          </a:xfrm>
          <a:prstGeom prst="rect">
            <a:avLst/>
          </a:prstGeom>
          <a:noFill/>
          <a:ln/>
        </p:spPr>
        <p:txBody>
          <a:bodyPr wrap="square" lIns="0" tIns="0" rIns="0" bIns="0" rtlCol="0" anchor="t"/>
          <a:lstStyle/>
          <a:p>
            <a:pPr algn="ctr" indent="0" marL="0">
              <a:buNone/>
            </a:pPr>
            <a:r>
              <a:rPr lang="en-US" sz="1050" dirty="0">
                <a:solidFill>
                  <a:srgbClr val="14213D"/>
                </a:solidFill>
                <a:latin typeface="Calibri" pitchFamily="34" charset="0"/>
                <a:ea typeface="Calibri" pitchFamily="34" charset="-122"/>
                <a:cs typeface="Calibri" pitchFamily="34" charset="-120"/>
              </a:rPr>
              <a:t>E-10 Déverrouillage</a:t>
            </a:r>
            <a:endParaRPr lang="en-US" sz="1050" dirty="0"/>
          </a:p>
        </p:txBody>
      </p:sp>
      <p:pic>
        <p:nvPicPr>
          <p:cNvPr id="7" name="Image 2" descr="/home/claude/design/out/E11.png">    </p:cNvPr>
          <p:cNvPicPr>
            <a:picLocks noChangeAspect="1"/>
          </p:cNvPicPr>
          <p:nvPr/>
        </p:nvPicPr>
        <p:blipFill>
          <a:blip r:embed="rId3"/>
          <a:stretch>
            <a:fillRect/>
          </a:stretch>
        </p:blipFill>
        <p:spPr>
          <a:xfrm>
            <a:off x="8821615" y="1371600"/>
            <a:ext cx="1826455" cy="3749040"/>
          </a:xfrm>
          <a:prstGeom prst="rect">
            <a:avLst/>
          </a:prstGeom>
        </p:spPr>
      </p:pic>
      <p:sp>
        <p:nvSpPr>
          <p:cNvPr id="8" name="Text 3"/>
          <p:cNvSpPr txBox="1"/>
          <p:nvPr/>
        </p:nvSpPr>
        <p:spPr>
          <a:xfrm>
            <a:off x="8684455" y="5166360"/>
            <a:ext cx="2100775" cy="457200"/>
          </a:xfrm>
          <a:prstGeom prst="rect">
            <a:avLst/>
          </a:prstGeom>
          <a:noFill/>
          <a:ln/>
        </p:spPr>
        <p:txBody>
          <a:bodyPr wrap="square" lIns="0" tIns="0" rIns="0" bIns="0" rtlCol="0" anchor="t"/>
          <a:lstStyle/>
          <a:p>
            <a:pPr algn="ctr" indent="0" marL="0">
              <a:buNone/>
            </a:pPr>
            <a:r>
              <a:rPr lang="en-US" sz="1050" dirty="0">
                <a:solidFill>
                  <a:srgbClr val="14213D"/>
                </a:solidFill>
                <a:latin typeface="Calibri" pitchFamily="34" charset="0"/>
                <a:ea typeface="Calibri" pitchFamily="34" charset="-122"/>
                <a:cs typeface="Calibri" pitchFamily="34" charset="-120"/>
              </a:rPr>
              <a:t>E-11 Accueil</a:t>
            </a:r>
            <a:endParaRPr lang="en-US" sz="1050" dirty="0"/>
          </a:p>
        </p:txBody>
      </p:sp>
      <p:sp>
        <p:nvSpPr>
          <p:cNvPr id="9" name="Shape 4"/>
          <p:cNvSpPr/>
          <p:nvPr/>
        </p:nvSpPr>
        <p:spPr>
          <a:xfrm>
            <a:off x="457200" y="5120640"/>
            <a:ext cx="5852160" cy="1097280"/>
          </a:xfrm>
          <a:prstGeom prst="roundRect">
            <a:avLst>
              <a:gd name="adj" fmla="val 10000"/>
            </a:avLst>
          </a:prstGeom>
          <a:solidFill>
            <a:srgbClr val="E3F5F2"/>
          </a:solidFill>
          <a:ln w="9525">
            <a:solidFill>
              <a:srgbClr val="DCE3EC"/>
            </a:solidFill>
            <a:prstDash val="solid"/>
          </a:ln>
        </p:spPr>
      </p:sp>
      <p:sp>
        <p:nvSpPr>
          <p:cNvPr id="10" name="Text 5"/>
          <p:cNvSpPr txBox="1"/>
          <p:nvPr/>
        </p:nvSpPr>
        <p:spPr>
          <a:xfrm>
            <a:off x="685800" y="5212080"/>
            <a:ext cx="5394960" cy="914400"/>
          </a:xfrm>
          <a:prstGeom prst="rect">
            <a:avLst/>
          </a:prstGeom>
          <a:noFill/>
          <a:ln/>
        </p:spPr>
        <p:txBody>
          <a:bodyPr wrap="square" lIns="0" tIns="0" rIns="0" bIns="0" rtlCol="0" anchor="t"/>
          <a:lstStyle/>
          <a:p>
            <a:pPr indent="0" marL="0">
              <a:spcAft>
                <a:spcPts val="600"/>
              </a:spcAft>
              <a:buNone/>
            </a:pPr>
            <a:r>
              <a:rPr lang="en-US" sz="1150" b="1" dirty="0">
                <a:solidFill>
                  <a:srgbClr val="14213D"/>
                </a:solidFill>
                <a:latin typeface="Calibri" pitchFamily="34" charset="0"/>
                <a:ea typeface="Calibri" pitchFamily="34" charset="-122"/>
                <a:cs typeface="Calibri" pitchFamily="34" charset="-120"/>
              </a:rPr>
              <a:t>Le déverrouillage n'est jamais transmis au serveur ; seule la signature l'est. </a:t>
            </a:r>
            <a:pPr indent="0" marL="0">
              <a:spcAft>
                <a:spcPts val="600"/>
              </a:spcAft>
              <a:buNone/>
            </a:pPr>
            <a:r>
              <a:rPr lang="en-US" sz="1150" dirty="0">
                <a:solidFill>
                  <a:srgbClr val="14213D"/>
                </a:solidFill>
                <a:latin typeface="Calibri" pitchFamily="34" charset="0"/>
                <a:ea typeface="Calibri" pitchFamily="34" charset="-122"/>
                <a:cs typeface="Calibri" pitchFamily="34" charset="-120"/>
              </a:rPr>
              <a:t>Si un autre téléphone a été lié entre-temps, la clé de celui-ci est révoquée : E-27 « Cet appareil n'est plus la clé de votre compte », et l'usager repasse par le flux D.</a:t>
            </a:r>
            <a:endParaRPr lang="en-US" sz="1150" dirty="0"/>
          </a:p>
        </p:txBody>
      </p:sp>
      <p:sp>
        <p:nvSpPr>
          <p:cNvPr id="11" name="Text 6"/>
          <p:cNvSpPr txBox="1"/>
          <p:nvPr/>
        </p:nvSpPr>
        <p:spPr>
          <a:xfrm>
            <a:off x="457200" y="6446520"/>
            <a:ext cx="8229600" cy="274320"/>
          </a:xfrm>
          <a:prstGeom prst="rect">
            <a:avLst/>
          </a:prstGeom>
          <a:noFill/>
          <a:ln/>
        </p:spPr>
        <p:txBody>
          <a:bodyPr wrap="square" lIns="0" tIns="0" rIns="0" bIns="0" rtlCol="0" anchor="ctr"/>
          <a:lstStyle/>
          <a:p>
            <a:pPr indent="0" marL="0">
              <a:buNone/>
            </a:pPr>
            <a:r>
              <a:rPr lang="en-US" sz="900" dirty="0">
                <a:solidFill>
                  <a:srgbClr val="5C6B7A"/>
                </a:solidFill>
                <a:latin typeface="Calibri" pitchFamily="34" charset="0"/>
                <a:ea typeface="Calibri" pitchFamily="34" charset="-122"/>
                <a:cs typeface="Calibri" pitchFamily="34" charset="-120"/>
              </a:rPr>
              <a:t>IdentiShield-CM · Dossier de design de l'application mobile · v1.0 · 25/09/2026</a:t>
            </a:r>
            <a:endParaRPr lang="en-US" sz="900" dirty="0"/>
          </a:p>
        </p:txBody>
      </p:sp>
      <p:sp>
        <p:nvSpPr>
          <p:cNvPr id="12" name="Text 7"/>
          <p:cNvSpPr txBox="1"/>
          <p:nvPr/>
        </p:nvSpPr>
        <p:spPr>
          <a:xfrm>
            <a:off x="11247120" y="6446520"/>
            <a:ext cx="548640" cy="274320"/>
          </a:xfrm>
          <a:prstGeom prst="rect">
            <a:avLst/>
          </a:prstGeom>
          <a:noFill/>
          <a:ln/>
        </p:spPr>
        <p:txBody>
          <a:bodyPr wrap="square" lIns="0" tIns="0" rIns="0" bIns="0"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2540"/>
        </a:solidFill>
      </p:bgPr>
    </p:bg>
    <p:spTree>
      <p:nvGrpSpPr>
        <p:cNvPr id="1" name=""/>
        <p:cNvGrpSpPr/>
        <p:nvPr/>
      </p:nvGrpSpPr>
      <p:grpSpPr>
        <a:xfrm>
          <a:off x="0" y="0"/>
          <a:ext cx="0" cy="0"/>
          <a:chOff x="0" y="0"/>
          <a:chExt cx="0" cy="0"/>
        </a:xfrm>
      </p:grpSpPr>
      <p:sp>
        <p:nvSpPr>
          <p:cNvPr id="2" name="Text 0"/>
          <p:cNvSpPr txBox="1"/>
          <p:nvPr/>
        </p:nvSpPr>
        <p:spPr>
          <a:xfrm>
            <a:off x="640080" y="457200"/>
            <a:ext cx="4572000" cy="548640"/>
          </a:xfrm>
          <a:prstGeom prst="rect">
            <a:avLst/>
          </a:prstGeom>
          <a:noFill/>
          <a:ln/>
        </p:spPr>
        <p:txBody>
          <a:bodyPr wrap="square" lIns="0" tIns="0" rIns="0" bIns="0" rtlCol="0" anchor="ctr"/>
          <a:lstStyle/>
          <a:p>
            <a:pPr indent="0" marL="0">
              <a:buNone/>
            </a:pPr>
            <a:r>
              <a:rPr lang="en-US" sz="1600" b="1" dirty="0">
                <a:solidFill>
                  <a:srgbClr val="5BD3C4"/>
                </a:solidFill>
                <a:latin typeface="Calibri" pitchFamily="34" charset="0"/>
                <a:ea typeface="Calibri" pitchFamily="34" charset="-122"/>
                <a:cs typeface="Calibri" pitchFamily="34" charset="-120"/>
              </a:rPr>
              <a:t>Flux C</a:t>
            </a:r>
            <a:endParaRPr lang="en-US" sz="1600" dirty="0"/>
          </a:p>
        </p:txBody>
      </p:sp>
      <p:sp>
        <p:nvSpPr>
          <p:cNvPr id="3" name="Text 1"/>
          <p:cNvSpPr txBox="1"/>
          <p:nvPr/>
        </p:nvSpPr>
        <p:spPr>
          <a:xfrm>
            <a:off x="640080" y="914400"/>
            <a:ext cx="5486400" cy="82296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Envoyer de l'argent</a:t>
            </a:r>
            <a:endParaRPr lang="en-US" sz="3600" dirty="0"/>
          </a:p>
        </p:txBody>
      </p:sp>
      <p:sp>
        <p:nvSpPr>
          <p:cNvPr id="4" name="Text 2"/>
          <p:cNvSpPr txBox="1"/>
          <p:nvPr/>
        </p:nvSpPr>
        <p:spPr>
          <a:xfrm>
            <a:off x="640080" y="1828800"/>
            <a:ext cx="5120640" cy="155448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Chaque envoi est signé par la clé du téléphone sur la chaîne fixée par ADR-018, avec un nonce à usage unique. Le PDP vérifie la signature (veto), puis ses règles, et répond : rejeté, autorisé, différé ou bloqué.</a:t>
            </a:r>
            <a:endParaRPr lang="en-US" sz="1400" dirty="0"/>
          </a:p>
        </p:txBody>
      </p:sp>
      <p:sp>
        <p:nvSpPr>
          <p:cNvPr id="5" name="Text 3"/>
          <p:cNvSpPr txBox="1"/>
          <p:nvPr/>
        </p:nvSpPr>
        <p:spPr>
          <a:xfrm>
            <a:off x="640080" y="3566160"/>
            <a:ext cx="5120640" cy="1280160"/>
          </a:xfrm>
          <a:prstGeom prst="rect">
            <a:avLst/>
          </a:prstGeom>
          <a:noFill/>
          <a:ln/>
        </p:spPr>
        <p:txBody>
          <a:bodyPr wrap="square" lIns="0" tIns="0" rIns="0" bIns="0" rtlCol="0" anchor="ctr"/>
          <a:lstStyle/>
          <a:p>
            <a:pPr indent="0" marL="0">
              <a:buNone/>
            </a:pPr>
            <a:r>
              <a:rPr lang="en-US" sz="1200" b="1" dirty="0">
                <a:solidFill>
                  <a:srgbClr val="A9BCD6"/>
                </a:solidFill>
                <a:latin typeface="Calibri" pitchFamily="34" charset="0"/>
                <a:ea typeface="Calibri" pitchFamily="34" charset="-122"/>
                <a:cs typeface="Calibri" pitchFamily="34" charset="-120"/>
              </a:rPr>
              <a:t>Sept écrans</a:t>
            </a:r>
            <a:endParaRPr lang="en-US" sz="1200" dirty="0"/>
          </a:p>
          <a:p>
            <a:pPr indent="0" marL="0">
              <a:buNone/>
            </a:pPr>
            <a:r>
              <a:rPr lang="en-US" sz="1200" dirty="0">
                <a:solidFill>
                  <a:srgbClr val="A9BCD6"/>
                </a:solidFill>
                <a:latin typeface="Calibri" pitchFamily="34" charset="0"/>
                <a:ea typeface="Calibri" pitchFamily="34" charset="-122"/>
                <a:cs typeface="Calibri" pitchFamily="34" charset="-120"/>
              </a:rPr>
              <a:t>E-12 → E-13 → E-14 → E-15 → E-16 | E-17 | E-18</a:t>
            </a:r>
            <a:endParaRPr lang="en-US" sz="1200" dirty="0"/>
          </a:p>
          <a:p>
            <a:pPr indent="0" marL="0">
              <a:buNone/>
            </a:pPr>
            <a:r>
              <a:rPr lang="en-US" sz="1200" dirty="0">
                <a:solidFill>
                  <a:srgbClr val="A9BCD6"/>
                </a:solidFill>
                <a:latin typeface="Calibri" pitchFamily="34" charset="0"/>
                <a:ea typeface="Calibri" pitchFamily="34" charset="-122"/>
                <a:cs typeface="Calibri" pitchFamily="34" charset="-120"/>
              </a:rPr>
              <a:t>Exigences : MOB-F-07, F-08, F-09 · ES-02, ES-10, ED-11 · contrat /evaluate inchangé</a:t>
            </a:r>
            <a:endParaRPr lang="en-US" sz="1200" dirty="0"/>
          </a:p>
        </p:txBody>
      </p:sp>
      <p:pic>
        <p:nvPicPr>
          <p:cNvPr id="6" name="Image 0" descr="/home/claude/mob/diag/D3_envoi.png">    </p:cNvPr>
          <p:cNvPicPr>
            <a:picLocks noChangeAspect="1"/>
          </p:cNvPicPr>
          <p:nvPr/>
        </p:nvPicPr>
        <p:blipFill>
          <a:blip r:embed="rId1"/>
          <a:stretch>
            <a:fillRect/>
          </a:stretch>
        </p:blipFill>
        <p:spPr>
          <a:xfrm>
            <a:off x="6035040" y="457200"/>
            <a:ext cx="5760720" cy="4989195"/>
          </a:xfrm>
          <a:prstGeom prst="rect">
            <a:avLst/>
          </a:prstGeom>
        </p:spPr>
      </p:pic>
      <p:sp>
        <p:nvSpPr>
          <p:cNvPr id="7" name="Text 4"/>
          <p:cNvSpPr txBox="1"/>
          <p:nvPr/>
        </p:nvSpPr>
        <p:spPr>
          <a:xfrm>
            <a:off x="457200" y="6446520"/>
            <a:ext cx="8229600" cy="274320"/>
          </a:xfrm>
          <a:prstGeom prst="rect">
            <a:avLst/>
          </a:prstGeom>
          <a:noFill/>
          <a:ln/>
        </p:spPr>
        <p:txBody>
          <a:bodyPr wrap="square" lIns="0" tIns="0" rIns="0" bIns="0" rtlCol="0" anchor="ctr"/>
          <a:lstStyle/>
          <a:p>
            <a:pPr indent="0" marL="0">
              <a:buNone/>
            </a:pPr>
            <a:r>
              <a:rPr lang="en-US" sz="900" dirty="0">
                <a:solidFill>
                  <a:srgbClr val="A9BCD6"/>
                </a:solidFill>
                <a:latin typeface="Calibri" pitchFamily="34" charset="0"/>
                <a:ea typeface="Calibri" pitchFamily="34" charset="-122"/>
                <a:cs typeface="Calibri" pitchFamily="34" charset="-120"/>
              </a:rPr>
              <a:t>IdentiShield-CM · Dossier de design de l'application mobile · v1.0 · 25/09/2026</a:t>
            </a:r>
            <a:endParaRPr lang="en-US" sz="900" dirty="0"/>
          </a:p>
        </p:txBody>
      </p:sp>
      <p:sp>
        <p:nvSpPr>
          <p:cNvPr id="8" name="Text 5"/>
          <p:cNvSpPr txBox="1"/>
          <p:nvPr/>
        </p:nvSpPr>
        <p:spPr>
          <a:xfrm>
            <a:off x="11247120" y="6446520"/>
            <a:ext cx="548640" cy="274320"/>
          </a:xfrm>
          <a:prstGeom prst="rect">
            <a:avLst/>
          </a:prstGeom>
          <a:noFill/>
          <a:ln/>
        </p:spPr>
        <p:txBody>
          <a:bodyPr wrap="square" lIns="0" tIns="0" rIns="0" bIns="0" rtlCol="0" anchor="ctr"/>
          <a:lstStyle/>
          <a:p>
            <a:pPr algn="r" indent="0" marL="0">
              <a:buNone/>
            </a:pPr>
            <a:r>
              <a:rPr lang="en-US" sz="900" dirty="0">
                <a:solidFill>
                  <a:srgbClr val="A9BCD6"/>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3000" b="1" dirty="0">
                <a:solidFill>
                  <a:srgbClr val="10375C"/>
                </a:solidFill>
                <a:latin typeface="Calibri" pitchFamily="34" charset="0"/>
                <a:ea typeface="Calibri" pitchFamily="34" charset="-122"/>
                <a:cs typeface="Calibri" pitchFamily="34" charset="-120"/>
              </a:rPr>
              <a:t>Flux C · 1/2 — Bénéficiaire, montant, confirmation, autorisation</a:t>
            </a:r>
            <a:endParaRPr lang="en-US" sz="3000" dirty="0"/>
          </a:p>
        </p:txBody>
      </p:sp>
      <p:sp>
        <p:nvSpPr>
          <p:cNvPr id="3" name="Text 1"/>
          <p:cNvSpPr txBox="1"/>
          <p:nvPr/>
        </p:nvSpPr>
        <p:spPr>
          <a:xfrm>
            <a:off x="457200" y="914400"/>
            <a:ext cx="11247120" cy="365760"/>
          </a:xfrm>
          <a:prstGeom prst="rect">
            <a:avLst/>
          </a:prstGeom>
          <a:noFill/>
          <a:ln/>
        </p:spPr>
        <p:txBody>
          <a:bodyPr wrap="square" lIns="0" tIns="0" rIns="0" bIns="0" rtlCol="0" anchor="ctr"/>
          <a:lstStyle/>
          <a:p>
            <a:pPr indent="0" marL="0">
              <a:buNone/>
            </a:pPr>
            <a:r>
              <a:rPr lang="en-US" sz="1400" dirty="0">
                <a:solidFill>
                  <a:srgbClr val="5C6B7A"/>
                </a:solidFill>
                <a:latin typeface="Calibri" pitchFamily="34" charset="0"/>
                <a:ea typeface="Calibri" pitchFamily="34" charset="-122"/>
                <a:cs typeface="Calibri" pitchFamily="34" charset="-120"/>
              </a:rPr>
              <a:t>Le nom du titulaire du bénéficiaire est affiché avant toute confirmation. Le PIN, puis le déverrouillage local, autorisent la puce à signer.</a:t>
            </a:r>
            <a:endParaRPr lang="en-US" sz="1400" dirty="0"/>
          </a:p>
        </p:txBody>
      </p:sp>
      <p:pic>
        <p:nvPicPr>
          <p:cNvPr id="4" name="Image 0" descr="/home/claude/design/out/E12.png">    </p:cNvPr>
          <p:cNvPicPr>
            <a:picLocks noChangeAspect="1"/>
          </p:cNvPicPr>
          <p:nvPr/>
        </p:nvPicPr>
        <p:blipFill>
          <a:blip r:embed="rId1"/>
          <a:stretch>
            <a:fillRect/>
          </a:stretch>
        </p:blipFill>
        <p:spPr>
          <a:xfrm>
            <a:off x="457200" y="1417320"/>
            <a:ext cx="1804182" cy="3703320"/>
          </a:xfrm>
          <a:prstGeom prst="rect">
            <a:avLst/>
          </a:prstGeom>
        </p:spPr>
      </p:pic>
      <p:sp>
        <p:nvSpPr>
          <p:cNvPr id="5" name="Text 2"/>
          <p:cNvSpPr txBox="1"/>
          <p:nvPr/>
        </p:nvSpPr>
        <p:spPr>
          <a:xfrm>
            <a:off x="320040" y="5166360"/>
            <a:ext cx="2078502" cy="457200"/>
          </a:xfrm>
          <a:prstGeom prst="rect">
            <a:avLst/>
          </a:prstGeom>
          <a:noFill/>
          <a:ln/>
        </p:spPr>
        <p:txBody>
          <a:bodyPr wrap="square" lIns="0" tIns="0" rIns="0" bIns="0" rtlCol="0" anchor="t"/>
          <a:lstStyle/>
          <a:p>
            <a:pPr algn="ctr" indent="0" marL="0">
              <a:buNone/>
            </a:pPr>
            <a:r>
              <a:rPr lang="en-US" sz="1050" dirty="0">
                <a:solidFill>
                  <a:srgbClr val="14213D"/>
                </a:solidFill>
                <a:latin typeface="Calibri" pitchFamily="34" charset="0"/>
                <a:ea typeface="Calibri" pitchFamily="34" charset="-122"/>
                <a:cs typeface="Calibri" pitchFamily="34" charset="-120"/>
              </a:rPr>
              <a:t>E-12 Bénéficiaire : numéro, récents « connus »</a:t>
            </a:r>
            <a:endParaRPr lang="en-US" sz="1050" dirty="0"/>
          </a:p>
        </p:txBody>
      </p:sp>
      <p:pic>
        <p:nvPicPr>
          <p:cNvPr id="6" name="Image 1" descr="/home/claude/design/out/E13.png">    </p:cNvPr>
          <p:cNvPicPr>
            <a:picLocks noChangeAspect="1"/>
          </p:cNvPicPr>
          <p:nvPr/>
        </p:nvPicPr>
        <p:blipFill>
          <a:blip r:embed="rId2"/>
          <a:stretch>
            <a:fillRect/>
          </a:stretch>
        </p:blipFill>
        <p:spPr>
          <a:xfrm>
            <a:off x="2535702" y="1417320"/>
            <a:ext cx="1804182" cy="3703320"/>
          </a:xfrm>
          <a:prstGeom prst="rect">
            <a:avLst/>
          </a:prstGeom>
        </p:spPr>
      </p:pic>
      <p:sp>
        <p:nvSpPr>
          <p:cNvPr id="7" name="Text 3"/>
          <p:cNvSpPr txBox="1"/>
          <p:nvPr/>
        </p:nvSpPr>
        <p:spPr>
          <a:xfrm>
            <a:off x="2398542" y="5166360"/>
            <a:ext cx="2078502" cy="457200"/>
          </a:xfrm>
          <a:prstGeom prst="rect">
            <a:avLst/>
          </a:prstGeom>
          <a:noFill/>
          <a:ln/>
        </p:spPr>
        <p:txBody>
          <a:bodyPr wrap="square" lIns="0" tIns="0" rIns="0" bIns="0" rtlCol="0" anchor="t"/>
          <a:lstStyle/>
          <a:p>
            <a:pPr algn="ctr" indent="0" marL="0">
              <a:buNone/>
            </a:pPr>
            <a:r>
              <a:rPr lang="en-US" sz="1050" dirty="0">
                <a:solidFill>
                  <a:srgbClr val="14213D"/>
                </a:solidFill>
                <a:latin typeface="Calibri" pitchFamily="34" charset="0"/>
                <a:ea typeface="Calibri" pitchFamily="34" charset="-122"/>
                <a:cs typeface="Calibri" pitchFamily="34" charset="-120"/>
              </a:rPr>
              <a:t>E-13 Montant : solde après envoi affiché</a:t>
            </a:r>
            <a:endParaRPr lang="en-US" sz="1050" dirty="0"/>
          </a:p>
        </p:txBody>
      </p:sp>
      <p:pic>
        <p:nvPicPr>
          <p:cNvPr id="8" name="Image 2" descr="/home/claude/design/out/E14.png">    </p:cNvPr>
          <p:cNvPicPr>
            <a:picLocks noChangeAspect="1"/>
          </p:cNvPicPr>
          <p:nvPr/>
        </p:nvPicPr>
        <p:blipFill>
          <a:blip r:embed="rId3"/>
          <a:stretch>
            <a:fillRect/>
          </a:stretch>
        </p:blipFill>
        <p:spPr>
          <a:xfrm>
            <a:off x="4614203" y="1417320"/>
            <a:ext cx="1804182" cy="3703320"/>
          </a:xfrm>
          <a:prstGeom prst="rect">
            <a:avLst/>
          </a:prstGeom>
        </p:spPr>
      </p:pic>
      <p:sp>
        <p:nvSpPr>
          <p:cNvPr id="9" name="Text 4"/>
          <p:cNvSpPr txBox="1"/>
          <p:nvPr/>
        </p:nvSpPr>
        <p:spPr>
          <a:xfrm>
            <a:off x="4477043" y="5166360"/>
            <a:ext cx="2078502" cy="457200"/>
          </a:xfrm>
          <a:prstGeom prst="rect">
            <a:avLst/>
          </a:prstGeom>
          <a:noFill/>
          <a:ln/>
        </p:spPr>
        <p:txBody>
          <a:bodyPr wrap="square" lIns="0" tIns="0" rIns="0" bIns="0" rtlCol="0" anchor="t"/>
          <a:lstStyle/>
          <a:p>
            <a:pPr algn="ctr" indent="0" marL="0">
              <a:buNone/>
            </a:pPr>
            <a:r>
              <a:rPr lang="en-US" sz="1050" dirty="0">
                <a:solidFill>
                  <a:srgbClr val="14213D"/>
                </a:solidFill>
                <a:latin typeface="Calibri" pitchFamily="34" charset="0"/>
                <a:ea typeface="Calibri" pitchFamily="34" charset="-122"/>
                <a:cs typeface="Calibri" pitchFamily="34" charset="-120"/>
              </a:rPr>
              <a:t>E-14 Confirmation 🔒 : nom du titulaire + badge « nouveau »</a:t>
            </a:r>
            <a:endParaRPr lang="en-US" sz="1050" dirty="0"/>
          </a:p>
        </p:txBody>
      </p:sp>
      <p:pic>
        <p:nvPicPr>
          <p:cNvPr id="10" name="Image 3" descr="/home/claude/design/out/E15.png">    </p:cNvPr>
          <p:cNvPicPr>
            <a:picLocks noChangeAspect="1"/>
          </p:cNvPicPr>
          <p:nvPr/>
        </p:nvPicPr>
        <p:blipFill>
          <a:blip r:embed="rId4"/>
          <a:stretch>
            <a:fillRect/>
          </a:stretch>
        </p:blipFill>
        <p:spPr>
          <a:xfrm>
            <a:off x="6692705" y="1417320"/>
            <a:ext cx="1804182" cy="3703320"/>
          </a:xfrm>
          <a:prstGeom prst="rect">
            <a:avLst/>
          </a:prstGeom>
        </p:spPr>
      </p:pic>
      <p:sp>
        <p:nvSpPr>
          <p:cNvPr id="11" name="Text 5"/>
          <p:cNvSpPr txBox="1"/>
          <p:nvPr/>
        </p:nvSpPr>
        <p:spPr>
          <a:xfrm>
            <a:off x="6555545" y="5166360"/>
            <a:ext cx="2078502" cy="457200"/>
          </a:xfrm>
          <a:prstGeom prst="rect">
            <a:avLst/>
          </a:prstGeom>
          <a:noFill/>
          <a:ln/>
        </p:spPr>
        <p:txBody>
          <a:bodyPr wrap="square" lIns="0" tIns="0" rIns="0" bIns="0" rtlCol="0" anchor="t"/>
          <a:lstStyle/>
          <a:p>
            <a:pPr algn="ctr" indent="0" marL="0">
              <a:buNone/>
            </a:pPr>
            <a:r>
              <a:rPr lang="en-US" sz="1050" dirty="0">
                <a:solidFill>
                  <a:srgbClr val="14213D"/>
                </a:solidFill>
                <a:latin typeface="Calibri" pitchFamily="34" charset="0"/>
                <a:ea typeface="Calibri" pitchFamily="34" charset="-122"/>
                <a:cs typeface="Calibri" pitchFamily="34" charset="-120"/>
              </a:rPr>
              <a:t>E-15 Autorisation 🔒 : PIN puis déverrouillage</a:t>
            </a:r>
            <a:endParaRPr lang="en-US" sz="1050" dirty="0"/>
          </a:p>
        </p:txBody>
      </p:sp>
      <p:sp>
        <p:nvSpPr>
          <p:cNvPr id="12" name="Shape 6"/>
          <p:cNvSpPr/>
          <p:nvPr/>
        </p:nvSpPr>
        <p:spPr>
          <a:xfrm>
            <a:off x="8908366" y="1417320"/>
            <a:ext cx="2795954" cy="4754880"/>
          </a:xfrm>
          <a:prstGeom prst="roundRect">
            <a:avLst>
              <a:gd name="adj" fmla="val 3925"/>
            </a:avLst>
          </a:prstGeom>
          <a:solidFill>
            <a:srgbClr val="E8F1F8"/>
          </a:solidFill>
          <a:ln w="9525">
            <a:solidFill>
              <a:srgbClr val="DCE3EC"/>
            </a:solidFill>
            <a:prstDash val="solid"/>
          </a:ln>
        </p:spPr>
      </p:sp>
      <p:sp>
        <p:nvSpPr>
          <p:cNvPr id="13" name="Text 7"/>
          <p:cNvSpPr txBox="1"/>
          <p:nvPr/>
        </p:nvSpPr>
        <p:spPr>
          <a:xfrm>
            <a:off x="9109534" y="1554480"/>
            <a:ext cx="2393618" cy="4526280"/>
          </a:xfrm>
          <a:prstGeom prst="rect">
            <a:avLst/>
          </a:prstGeom>
          <a:noFill/>
          <a:ln/>
        </p:spPr>
        <p:txBody>
          <a:bodyPr wrap="square" lIns="0" tIns="0" rIns="0" bIns="0" rtlCol="0" anchor="t"/>
          <a:lstStyle/>
          <a:p>
            <a:pPr indent="0" marL="0">
              <a:spcAft>
                <a:spcPts val="300"/>
              </a:spcAft>
              <a:buNone/>
            </a:pPr>
            <a:r>
              <a:rPr lang="en-US" sz="1300" b="1" dirty="0">
                <a:solidFill>
                  <a:srgbClr val="14213D"/>
                </a:solidFill>
                <a:latin typeface="Calibri" pitchFamily="34" charset="0"/>
                <a:ea typeface="Calibri" pitchFamily="34" charset="-122"/>
                <a:cs typeface="Calibri" pitchFamily="34" charset="-120"/>
              </a:rPr>
              <a:t>Ce qui se passe derrière</a:t>
            </a:r>
            <a:endParaRPr lang="en-US" sz="1050" dirty="0"/>
          </a:p>
          <a:p>
            <a:pPr marL="342900" indent="-342900">
              <a:spcAft>
                <a:spcPts val="300"/>
              </a:spcAft>
              <a:buSzPct val="100000"/>
              <a:buChar char="•"/>
            </a:pPr>
            <a:r>
              <a:rPr lang="en-US" sz="1050" dirty="0">
                <a:solidFill>
                  <a:srgbClr val="14213D"/>
                </a:solidFill>
                <a:latin typeface="Calibri" pitchFamily="34" charset="0"/>
                <a:ea typeface="Calibri" pitchFamily="34" charset="-122"/>
                <a:cs typeface="Calibri" pitchFamily="34" charset="-120"/>
              </a:rPr>
              <a:t>E-14 : l'app demande le nom du titulaire au serveur (freiné, session exigée). Badge rouge « Nouveau bénéficiaire » si ce numéro n'a jamais été payé.</a:t>
            </a:r>
            <a:endParaRPr lang="en-US" sz="1050" dirty="0"/>
          </a:p>
          <a:p>
            <a:pPr marL="342900" indent="-342900">
              <a:spcAft>
                <a:spcPts val="300"/>
              </a:spcAft>
              <a:buSzPct val="100000"/>
              <a:buChar char="•"/>
            </a:pPr>
            <a:r>
              <a:rPr lang="en-US" sz="1050" dirty="0">
                <a:solidFill>
                  <a:srgbClr val="14213D"/>
                </a:solidFill>
                <a:latin typeface="Calibri" pitchFamily="34" charset="0"/>
                <a:ea typeface="Calibri" pitchFamily="34" charset="-122"/>
                <a:cs typeface="Calibri" pitchFamily="34" charset="-120"/>
              </a:rPr>
              <a:t>E-15 : PIN saisi, puis déverrouillage local ; la puce signe accountId|type|amountXaf|beneficiaryId|nonce (ADR-018). Le nonce vient du serveur, sert une fois.</a:t>
            </a:r>
            <a:endParaRPr lang="en-US" sz="1050" dirty="0"/>
          </a:p>
          <a:p>
            <a:pPr marL="342900" indent="-342900">
              <a:spcAft>
                <a:spcPts val="300"/>
              </a:spcAft>
              <a:buSzPct val="100000"/>
              <a:buChar char="•"/>
            </a:pPr>
            <a:r>
              <a:rPr lang="en-US" sz="1050" dirty="0">
                <a:solidFill>
                  <a:srgbClr val="14213D"/>
                </a:solidFill>
                <a:latin typeface="Calibri" pitchFamily="34" charset="0"/>
                <a:ea typeface="Calibri" pitchFamily="34" charset="-122"/>
                <a:cs typeface="Calibri" pitchFamily="34" charset="-120"/>
              </a:rPr>
              <a:t>Le cœur vérifie PIN et solde, puis appelle /evaluate avec la signature. Le PDP vérifie la signature (veto ES-02), le nonce (ES-10), puis les règles.</a:t>
            </a:r>
            <a:endParaRPr lang="en-US" sz="1050" dirty="0"/>
          </a:p>
          <a:p>
            <a:pPr marL="342900" indent="-342900">
              <a:spcAft>
                <a:spcPts val="300"/>
              </a:spcAft>
              <a:buSzPct val="100000"/>
              <a:buChar char="•"/>
            </a:pPr>
            <a:r>
              <a:rPr lang="en-US" sz="1050" dirty="0">
                <a:solidFill>
                  <a:srgbClr val="14213D"/>
                </a:solidFill>
                <a:latin typeface="Calibri" pitchFamily="34" charset="0"/>
                <a:ea typeface="Calibri" pitchFamily="34" charset="-122"/>
                <a:cs typeface="Calibri" pitchFamily="34" charset="-120"/>
              </a:rPr>
              <a:t>Rejeu ou signature falsifiée → REJECTED, journalisé, aucune règle évaluée.</a:t>
            </a:r>
            <a:endParaRPr lang="en-US" sz="1050" dirty="0"/>
          </a:p>
        </p:txBody>
      </p:sp>
      <p:sp>
        <p:nvSpPr>
          <p:cNvPr id="14" name="Text 8"/>
          <p:cNvSpPr txBox="1"/>
          <p:nvPr/>
        </p:nvSpPr>
        <p:spPr>
          <a:xfrm>
            <a:off x="457200" y="6446520"/>
            <a:ext cx="8229600" cy="274320"/>
          </a:xfrm>
          <a:prstGeom prst="rect">
            <a:avLst/>
          </a:prstGeom>
          <a:noFill/>
          <a:ln/>
        </p:spPr>
        <p:txBody>
          <a:bodyPr wrap="square" lIns="0" tIns="0" rIns="0" bIns="0" rtlCol="0" anchor="ctr"/>
          <a:lstStyle/>
          <a:p>
            <a:pPr indent="0" marL="0">
              <a:buNone/>
            </a:pPr>
            <a:r>
              <a:rPr lang="en-US" sz="900" dirty="0">
                <a:solidFill>
                  <a:srgbClr val="5C6B7A"/>
                </a:solidFill>
                <a:latin typeface="Calibri" pitchFamily="34" charset="0"/>
                <a:ea typeface="Calibri" pitchFamily="34" charset="-122"/>
                <a:cs typeface="Calibri" pitchFamily="34" charset="-120"/>
              </a:rPr>
              <a:t>IdentiShield-CM · Dossier de design de l'application mobile · v1.0 · 25/09/2026</a:t>
            </a:r>
            <a:endParaRPr lang="en-US" sz="900" dirty="0"/>
          </a:p>
        </p:txBody>
      </p:sp>
      <p:sp>
        <p:nvSpPr>
          <p:cNvPr id="15" name="Text 9"/>
          <p:cNvSpPr txBox="1"/>
          <p:nvPr/>
        </p:nvSpPr>
        <p:spPr>
          <a:xfrm>
            <a:off x="11247120" y="6446520"/>
            <a:ext cx="548640" cy="274320"/>
          </a:xfrm>
          <a:prstGeom prst="rect">
            <a:avLst/>
          </a:prstGeom>
          <a:noFill/>
          <a:ln/>
        </p:spPr>
        <p:txBody>
          <a:bodyPr wrap="square" lIns="0" tIns="0" rIns="0" bIns="0"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3000" b="1" dirty="0">
                <a:solidFill>
                  <a:srgbClr val="10375C"/>
                </a:solidFill>
                <a:latin typeface="Calibri" pitchFamily="34" charset="0"/>
                <a:ea typeface="Calibri" pitchFamily="34" charset="-122"/>
                <a:cs typeface="Calibri" pitchFamily="34" charset="-120"/>
              </a:rPr>
              <a:t>Flux C · 2/2 — Les quatre issues d'un envoi</a:t>
            </a:r>
            <a:endParaRPr lang="en-US" sz="3000" dirty="0"/>
          </a:p>
        </p:txBody>
      </p:sp>
      <p:sp>
        <p:nvSpPr>
          <p:cNvPr id="3" name="Text 1"/>
          <p:cNvSpPr txBox="1"/>
          <p:nvPr/>
        </p:nvSpPr>
        <p:spPr>
          <a:xfrm>
            <a:off x="457200" y="914400"/>
            <a:ext cx="11247120" cy="365760"/>
          </a:xfrm>
          <a:prstGeom prst="rect">
            <a:avLst/>
          </a:prstGeom>
          <a:noFill/>
          <a:ln/>
        </p:spPr>
        <p:txBody>
          <a:bodyPr wrap="square" lIns="0" tIns="0" rIns="0" bIns="0" rtlCol="0" anchor="ctr"/>
          <a:lstStyle/>
          <a:p>
            <a:pPr indent="0" marL="0">
              <a:buNone/>
            </a:pPr>
            <a:r>
              <a:rPr lang="en-US" sz="1400" dirty="0">
                <a:solidFill>
                  <a:srgbClr val="5C6B7A"/>
                </a:solidFill>
                <a:latin typeface="Calibri" pitchFamily="34" charset="0"/>
                <a:ea typeface="Calibri" pitchFamily="34" charset="-122"/>
                <a:cs typeface="Calibri" pitchFamily="34" charset="-120"/>
              </a:rPr>
              <a:t>Le contrat /evaluate est inchangé : le PDP répond REJECTED, ALLOW, STEP_UP ou FREEZE. Sur l'app, STEP_UP devient une exécution différée (paramètre DEFER), annulable.</a:t>
            </a:r>
            <a:endParaRPr lang="en-US" sz="1400" dirty="0"/>
          </a:p>
        </p:txBody>
      </p:sp>
      <p:pic>
        <p:nvPicPr>
          <p:cNvPr id="4" name="Image 0" descr="/home/claude/design/out/E16.png">    </p:cNvPr>
          <p:cNvPicPr>
            <a:picLocks noChangeAspect="1"/>
          </p:cNvPicPr>
          <p:nvPr/>
        </p:nvPicPr>
        <p:blipFill>
          <a:blip r:embed="rId1"/>
          <a:stretch>
            <a:fillRect/>
          </a:stretch>
        </p:blipFill>
        <p:spPr>
          <a:xfrm>
            <a:off x="457200" y="1417320"/>
            <a:ext cx="2004646" cy="4114800"/>
          </a:xfrm>
          <a:prstGeom prst="rect">
            <a:avLst/>
          </a:prstGeom>
        </p:spPr>
      </p:pic>
      <p:sp>
        <p:nvSpPr>
          <p:cNvPr id="5" name="Text 2"/>
          <p:cNvSpPr txBox="1"/>
          <p:nvPr/>
        </p:nvSpPr>
        <p:spPr>
          <a:xfrm>
            <a:off x="320040" y="5577840"/>
            <a:ext cx="2278966" cy="457200"/>
          </a:xfrm>
          <a:prstGeom prst="rect">
            <a:avLst/>
          </a:prstGeom>
          <a:noFill/>
          <a:ln/>
        </p:spPr>
        <p:txBody>
          <a:bodyPr wrap="square" lIns="0" tIns="0" rIns="0" bIns="0" rtlCol="0" anchor="t"/>
          <a:lstStyle/>
          <a:p>
            <a:pPr algn="ctr" indent="0" marL="0">
              <a:buNone/>
            </a:pPr>
            <a:r>
              <a:rPr lang="en-US" sz="1050" dirty="0">
                <a:solidFill>
                  <a:srgbClr val="14213D"/>
                </a:solidFill>
                <a:latin typeface="Calibri" pitchFamily="34" charset="0"/>
                <a:ea typeface="Calibri" pitchFamily="34" charset="-122"/>
                <a:cs typeface="Calibri" pitchFamily="34" charset="-120"/>
              </a:rPr>
              <a:t>ALLOW → E-16 Envoyé</a:t>
            </a:r>
            <a:endParaRPr lang="en-US" sz="1050" dirty="0"/>
          </a:p>
        </p:txBody>
      </p:sp>
      <p:pic>
        <p:nvPicPr>
          <p:cNvPr id="6" name="Image 1" descr="/home/claude/design/out/E17.png">    </p:cNvPr>
          <p:cNvPicPr>
            <a:picLocks noChangeAspect="1"/>
          </p:cNvPicPr>
          <p:nvPr/>
        </p:nvPicPr>
        <p:blipFill>
          <a:blip r:embed="rId2"/>
          <a:stretch>
            <a:fillRect/>
          </a:stretch>
        </p:blipFill>
        <p:spPr>
          <a:xfrm>
            <a:off x="2781886" y="1417320"/>
            <a:ext cx="2004646" cy="4114800"/>
          </a:xfrm>
          <a:prstGeom prst="rect">
            <a:avLst/>
          </a:prstGeom>
        </p:spPr>
      </p:pic>
      <p:sp>
        <p:nvSpPr>
          <p:cNvPr id="7" name="Text 3"/>
          <p:cNvSpPr txBox="1"/>
          <p:nvPr/>
        </p:nvSpPr>
        <p:spPr>
          <a:xfrm>
            <a:off x="2644726" y="5577840"/>
            <a:ext cx="2278966" cy="457200"/>
          </a:xfrm>
          <a:prstGeom prst="rect">
            <a:avLst/>
          </a:prstGeom>
          <a:noFill/>
          <a:ln/>
        </p:spPr>
        <p:txBody>
          <a:bodyPr wrap="square" lIns="0" tIns="0" rIns="0" bIns="0" rtlCol="0" anchor="t"/>
          <a:lstStyle/>
          <a:p>
            <a:pPr algn="ctr" indent="0" marL="0">
              <a:buNone/>
            </a:pPr>
            <a:r>
              <a:rPr lang="en-US" sz="1050" dirty="0">
                <a:solidFill>
                  <a:srgbClr val="14213D"/>
                </a:solidFill>
                <a:latin typeface="Calibri" pitchFamily="34" charset="0"/>
                <a:ea typeface="Calibri" pitchFamily="34" charset="-122"/>
                <a:cs typeface="Calibri" pitchFamily="34" charset="-120"/>
              </a:rPr>
              <a:t>STEP_UP (DEFER) → E-17 Envoi programmé, annulable</a:t>
            </a:r>
            <a:endParaRPr lang="en-US" sz="1050" dirty="0"/>
          </a:p>
        </p:txBody>
      </p:sp>
      <p:pic>
        <p:nvPicPr>
          <p:cNvPr id="8" name="Image 2" descr="/home/claude/design/out/E18.png">    </p:cNvPr>
          <p:cNvPicPr>
            <a:picLocks noChangeAspect="1"/>
          </p:cNvPicPr>
          <p:nvPr/>
        </p:nvPicPr>
        <p:blipFill>
          <a:blip r:embed="rId3"/>
          <a:stretch>
            <a:fillRect/>
          </a:stretch>
        </p:blipFill>
        <p:spPr>
          <a:xfrm>
            <a:off x="5106572" y="1417320"/>
            <a:ext cx="2004646" cy="4114800"/>
          </a:xfrm>
          <a:prstGeom prst="rect">
            <a:avLst/>
          </a:prstGeom>
        </p:spPr>
      </p:pic>
      <p:sp>
        <p:nvSpPr>
          <p:cNvPr id="9" name="Text 4"/>
          <p:cNvSpPr txBox="1"/>
          <p:nvPr/>
        </p:nvSpPr>
        <p:spPr>
          <a:xfrm>
            <a:off x="4969412" y="5577840"/>
            <a:ext cx="2278966" cy="457200"/>
          </a:xfrm>
          <a:prstGeom prst="rect">
            <a:avLst/>
          </a:prstGeom>
          <a:noFill/>
          <a:ln/>
        </p:spPr>
        <p:txBody>
          <a:bodyPr wrap="square" lIns="0" tIns="0" rIns="0" bIns="0" rtlCol="0" anchor="t"/>
          <a:lstStyle/>
          <a:p>
            <a:pPr algn="ctr" indent="0" marL="0">
              <a:buNone/>
            </a:pPr>
            <a:r>
              <a:rPr lang="en-US" sz="1050" dirty="0">
                <a:solidFill>
                  <a:srgbClr val="14213D"/>
                </a:solidFill>
                <a:latin typeface="Calibri" pitchFamily="34" charset="0"/>
                <a:ea typeface="Calibri" pitchFamily="34" charset="-122"/>
                <a:cs typeface="Calibri" pitchFamily="34" charset="-120"/>
              </a:rPr>
              <a:t>FREEZE → E-18 Bloquée · REJECTED → variante « rejetée »</a:t>
            </a:r>
            <a:endParaRPr lang="en-US" sz="1050" dirty="0"/>
          </a:p>
        </p:txBody>
      </p:sp>
      <p:sp>
        <p:nvSpPr>
          <p:cNvPr id="10" name="Shape 5"/>
          <p:cNvSpPr/>
          <p:nvPr/>
        </p:nvSpPr>
        <p:spPr>
          <a:xfrm>
            <a:off x="7522698" y="1417320"/>
            <a:ext cx="4181622" cy="4754880"/>
          </a:xfrm>
          <a:prstGeom prst="roundRect">
            <a:avLst>
              <a:gd name="adj" fmla="val 2624"/>
            </a:avLst>
          </a:prstGeom>
          <a:solidFill>
            <a:srgbClr val="FDF1DC"/>
          </a:solidFill>
          <a:ln w="9525">
            <a:solidFill>
              <a:srgbClr val="DCE3EC"/>
            </a:solidFill>
            <a:prstDash val="solid"/>
          </a:ln>
        </p:spPr>
      </p:sp>
      <p:sp>
        <p:nvSpPr>
          <p:cNvPr id="11" name="Text 6"/>
          <p:cNvSpPr txBox="1"/>
          <p:nvPr/>
        </p:nvSpPr>
        <p:spPr>
          <a:xfrm>
            <a:off x="7751298" y="1572768"/>
            <a:ext cx="3724422" cy="4480560"/>
          </a:xfrm>
          <a:prstGeom prst="rect">
            <a:avLst/>
          </a:prstGeom>
          <a:noFill/>
          <a:ln/>
        </p:spPr>
        <p:txBody>
          <a:bodyPr wrap="square" lIns="0" tIns="0" rIns="0" bIns="0" rtlCol="0" anchor="t"/>
          <a:lstStyle/>
          <a:p>
            <a:pPr indent="0" marL="0">
              <a:spcAft>
                <a:spcPts val="400"/>
              </a:spcAft>
              <a:buNone/>
            </a:pPr>
            <a:r>
              <a:rPr lang="en-US" sz="1350" b="1" dirty="0">
                <a:solidFill>
                  <a:srgbClr val="14213D"/>
                </a:solidFill>
                <a:latin typeface="Calibri" pitchFamily="34" charset="0"/>
                <a:ea typeface="Calibri" pitchFamily="34" charset="-122"/>
                <a:cs typeface="Calibri" pitchFamily="34" charset="-120"/>
              </a:rPr>
              <a:t>Pourquoi différer plutôt que redemander un facteur</a:t>
            </a:r>
            <a:endParaRPr lang="en-US" sz="1100" dirty="0"/>
          </a:p>
          <a:p>
            <a:pPr marL="342900" indent="-342900">
              <a:spcAft>
                <a:spcPts val="400"/>
              </a:spcAft>
              <a:buSzPct val="100000"/>
              <a:buChar char="•"/>
            </a:pPr>
            <a:r>
              <a:rPr lang="en-US" sz="1100" dirty="0">
                <a:solidFill>
                  <a:srgbClr val="14213D"/>
                </a:solidFill>
                <a:latin typeface="Calibri" pitchFamily="34" charset="0"/>
                <a:ea typeface="Calibri" pitchFamily="34" charset="-122"/>
                <a:cs typeface="Calibri" pitchFamily="34" charset="-120"/>
              </a:rPr>
              <a:t>Sur l'app, l'usager a déjà donné le maximum : téléphone lié, déverrouillage, PIN. Un facteur de plus n'aurait pas de sens.</a:t>
            </a:r>
            <a:endParaRPr lang="en-US" sz="1100" dirty="0"/>
          </a:p>
          <a:p>
            <a:pPr marL="342900" indent="-342900">
              <a:spcAft>
                <a:spcPts val="400"/>
              </a:spcAft>
              <a:buSzPct val="100000"/>
              <a:buChar char="•"/>
            </a:pPr>
            <a:r>
              <a:rPr lang="en-US" sz="1100" dirty="0">
                <a:solidFill>
                  <a:srgbClr val="14213D"/>
                </a:solidFill>
                <a:latin typeface="Calibri" pitchFamily="34" charset="0"/>
                <a:ea typeface="Calibri" pitchFamily="34" charset="-122"/>
                <a:cs typeface="Calibri" pitchFamily="34" charset="-120"/>
              </a:rPr>
              <a:t>Ce qui protège encore contre un téléphone volé déverrouillé (MT-01), c'est le temps : N minutes pendant lesquelles le titulaire peut annuler depuis l'accueil, et une alerte.</a:t>
            </a:r>
            <a:endParaRPr lang="en-US" sz="1100" dirty="0"/>
          </a:p>
          <a:p>
            <a:pPr marL="342900" indent="-342900">
              <a:spcAft>
                <a:spcPts val="400"/>
              </a:spcAft>
              <a:buSzPct val="100000"/>
              <a:buChar char="•"/>
            </a:pPr>
            <a:r>
              <a:rPr lang="en-US" sz="1100" dirty="0">
                <a:solidFill>
                  <a:srgbClr val="14213D"/>
                </a:solidFill>
                <a:latin typeface="Calibri" pitchFamily="34" charset="0"/>
                <a:ea typeface="Calibri" pitchFamily="34" charset="-122"/>
                <a:cs typeface="Calibri" pitchFamily="34" charset="-120"/>
              </a:rPr>
              <a:t>La friction est mesurable au Mois 5 : combien d'envois honnêtes sont différés, combien sont annulés.</a:t>
            </a:r>
            <a:endParaRPr lang="en-US" sz="1100" dirty="0"/>
          </a:p>
          <a:p>
            <a:pPr marL="342900" indent="-342900">
              <a:spcAft>
                <a:spcPts val="400"/>
              </a:spcAft>
              <a:buSzPct val="100000"/>
              <a:buChar char="•"/>
            </a:pPr>
            <a:r>
              <a:rPr lang="en-US" sz="1100" dirty="0">
                <a:solidFill>
                  <a:srgbClr val="14213D"/>
                </a:solidFill>
                <a:latin typeface="Calibri" pitchFamily="34" charset="0"/>
                <a:ea typeface="Calibri" pitchFamily="34" charset="-122"/>
                <a:cs typeface="Calibri" pitchFamily="34" charset="-120"/>
              </a:rPr>
              <a:t>FREEZE : message clair, conduite à tenir, jamais de code demandé par téléphone.</a:t>
            </a:r>
            <a:endParaRPr lang="en-US" sz="1100" dirty="0"/>
          </a:p>
          <a:p>
            <a:pPr marL="342900" indent="-342900">
              <a:spcAft>
                <a:spcPts val="400"/>
              </a:spcAft>
              <a:buSzPct val="100000"/>
              <a:buChar char="•"/>
            </a:pPr>
            <a:r>
              <a:rPr lang="en-US" sz="1100" dirty="0">
                <a:solidFill>
                  <a:srgbClr val="14213D"/>
                </a:solidFill>
                <a:latin typeface="Calibri" pitchFamily="34" charset="0"/>
                <a:ea typeface="Calibri" pitchFamily="34" charset="-122"/>
                <a:cs typeface="Calibri" pitchFamily="34" charset="-120"/>
              </a:rPr>
              <a:t>REJECTED : « Opération rejetée. Réessayez depuis votre téléphone lié. » — sans détail, pour ne rien apprendre à un attaquant.</a:t>
            </a:r>
            <a:endParaRPr lang="en-US" sz="1100" dirty="0"/>
          </a:p>
        </p:txBody>
      </p:sp>
      <p:sp>
        <p:nvSpPr>
          <p:cNvPr id="12" name="Text 7"/>
          <p:cNvSpPr txBox="1"/>
          <p:nvPr/>
        </p:nvSpPr>
        <p:spPr>
          <a:xfrm>
            <a:off x="457200" y="6446520"/>
            <a:ext cx="8229600" cy="274320"/>
          </a:xfrm>
          <a:prstGeom prst="rect">
            <a:avLst/>
          </a:prstGeom>
          <a:noFill/>
          <a:ln/>
        </p:spPr>
        <p:txBody>
          <a:bodyPr wrap="square" lIns="0" tIns="0" rIns="0" bIns="0" rtlCol="0" anchor="ctr"/>
          <a:lstStyle/>
          <a:p>
            <a:pPr indent="0" marL="0">
              <a:buNone/>
            </a:pPr>
            <a:r>
              <a:rPr lang="en-US" sz="900" dirty="0">
                <a:solidFill>
                  <a:srgbClr val="5C6B7A"/>
                </a:solidFill>
                <a:latin typeface="Calibri" pitchFamily="34" charset="0"/>
                <a:ea typeface="Calibri" pitchFamily="34" charset="-122"/>
                <a:cs typeface="Calibri" pitchFamily="34" charset="-120"/>
              </a:rPr>
              <a:t>IdentiShield-CM · Dossier de design de l'application mobile · v1.0 · 25/09/2026</a:t>
            </a:r>
            <a:endParaRPr lang="en-US" sz="900" dirty="0"/>
          </a:p>
        </p:txBody>
      </p:sp>
      <p:sp>
        <p:nvSpPr>
          <p:cNvPr id="13" name="Text 8"/>
          <p:cNvSpPr txBox="1"/>
          <p:nvPr/>
        </p:nvSpPr>
        <p:spPr>
          <a:xfrm>
            <a:off x="11247120" y="6446520"/>
            <a:ext cx="548640" cy="274320"/>
          </a:xfrm>
          <a:prstGeom prst="rect">
            <a:avLst/>
          </a:prstGeom>
          <a:noFill/>
          <a:ln/>
        </p:spPr>
        <p:txBody>
          <a:bodyPr wrap="square" lIns="0" tIns="0" rIns="0" bIns="0"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2540"/>
        </a:solidFill>
      </p:bgPr>
    </p:bg>
    <p:spTree>
      <p:nvGrpSpPr>
        <p:cNvPr id="1" name=""/>
        <p:cNvGrpSpPr/>
        <p:nvPr/>
      </p:nvGrpSpPr>
      <p:grpSpPr>
        <a:xfrm>
          <a:off x="0" y="0"/>
          <a:ext cx="0" cy="0"/>
          <a:chOff x="0" y="0"/>
          <a:chExt cx="0" cy="0"/>
        </a:xfrm>
      </p:grpSpPr>
      <p:sp>
        <p:nvSpPr>
          <p:cNvPr id="2" name="Text 0"/>
          <p:cNvSpPr txBox="1"/>
          <p:nvPr/>
        </p:nvSpPr>
        <p:spPr>
          <a:xfrm>
            <a:off x="640080" y="457200"/>
            <a:ext cx="4572000" cy="548640"/>
          </a:xfrm>
          <a:prstGeom prst="rect">
            <a:avLst/>
          </a:prstGeom>
          <a:noFill/>
          <a:ln/>
        </p:spPr>
        <p:txBody>
          <a:bodyPr wrap="square" lIns="0" tIns="0" rIns="0" bIns="0" rtlCol="0" anchor="ctr"/>
          <a:lstStyle/>
          <a:p>
            <a:pPr indent="0" marL="0">
              <a:buNone/>
            </a:pPr>
            <a:r>
              <a:rPr lang="en-US" sz="1600" b="1" dirty="0">
                <a:solidFill>
                  <a:srgbClr val="5BD3C4"/>
                </a:solidFill>
                <a:latin typeface="Calibri" pitchFamily="34" charset="0"/>
                <a:ea typeface="Calibri" pitchFamily="34" charset="-122"/>
                <a:cs typeface="Calibri" pitchFamily="34" charset="-120"/>
              </a:rPr>
              <a:t>Flux D</a:t>
            </a:r>
            <a:endParaRPr lang="en-US" sz="1600" dirty="0"/>
          </a:p>
        </p:txBody>
      </p:sp>
      <p:sp>
        <p:nvSpPr>
          <p:cNvPr id="3" name="Text 1"/>
          <p:cNvSpPr txBox="1"/>
          <p:nvPr/>
        </p:nvSpPr>
        <p:spPr>
          <a:xfrm>
            <a:off x="640080" y="914400"/>
            <a:ext cx="5486400" cy="82296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Réenrôlement</a:t>
            </a:r>
            <a:endParaRPr lang="en-US" sz="3600" dirty="0"/>
          </a:p>
        </p:txBody>
      </p:sp>
      <p:sp>
        <p:nvSpPr>
          <p:cNvPr id="4" name="Text 2"/>
          <p:cNvSpPr txBox="1"/>
          <p:nvPr/>
        </p:nvSpPr>
        <p:spPr>
          <a:xfrm>
            <a:off x="640080" y="1828800"/>
            <a:ext cx="5120640" cy="164592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Le compte est déjà lié à un autre téléphone. Perdu, volé, cassé, réinstallé, ou un attaquant : le serveur ne distingue rien, il ne le peut pas. Il exige la clé de récupération. Aucun OTP : il irait à la SIM, donc peut-être à l'attaquant.</a:t>
            </a:r>
            <a:endParaRPr lang="en-US" sz="1400" dirty="0"/>
          </a:p>
        </p:txBody>
      </p:sp>
      <p:sp>
        <p:nvSpPr>
          <p:cNvPr id="5" name="Text 3"/>
          <p:cNvSpPr txBox="1"/>
          <p:nvPr/>
        </p:nvSpPr>
        <p:spPr>
          <a:xfrm>
            <a:off x="640080" y="3657600"/>
            <a:ext cx="5120640" cy="1371600"/>
          </a:xfrm>
          <a:prstGeom prst="rect">
            <a:avLst/>
          </a:prstGeom>
          <a:noFill/>
          <a:ln/>
        </p:spPr>
        <p:txBody>
          <a:bodyPr wrap="square" lIns="0" tIns="0" rIns="0" bIns="0" rtlCol="0" anchor="ctr"/>
          <a:lstStyle/>
          <a:p>
            <a:pPr indent="0" marL="0">
              <a:buNone/>
            </a:pPr>
            <a:r>
              <a:rPr lang="en-US" sz="1200" b="1" dirty="0">
                <a:solidFill>
                  <a:srgbClr val="A9BCD6"/>
                </a:solidFill>
                <a:latin typeface="Calibri" pitchFamily="34" charset="0"/>
                <a:ea typeface="Calibri" pitchFamily="34" charset="-122"/>
                <a:cs typeface="Calibri" pitchFamily="34" charset="-120"/>
              </a:rPr>
              <a:t>C'est le flux qui fait échouer AC-02 sur l'application</a:t>
            </a:r>
            <a:endParaRPr lang="en-US" sz="1200" dirty="0"/>
          </a:p>
          <a:p>
            <a:pPr indent="0" marL="0">
              <a:buNone/>
            </a:pPr>
            <a:r>
              <a:rPr lang="en-US" sz="1200" dirty="0">
                <a:solidFill>
                  <a:srgbClr val="A9BCD6"/>
                </a:solidFill>
                <a:latin typeface="Calibri" pitchFamily="34" charset="0"/>
                <a:ea typeface="Calibri" pitchFamily="34" charset="-122"/>
                <a:cs typeface="Calibri" pitchFamily="34" charset="-120"/>
              </a:rPr>
              <a:t>E-03 → E-06 → E-04 → E-20 → E-07 → E-08 → E-09 → E-11 (ou E-21 en cas d'échec)</a:t>
            </a:r>
            <a:endParaRPr lang="en-US" sz="1200" dirty="0"/>
          </a:p>
          <a:p>
            <a:pPr indent="0" marL="0">
              <a:buNone/>
            </a:pPr>
            <a:r>
              <a:rPr lang="en-US" sz="1200" dirty="0">
                <a:solidFill>
                  <a:srgbClr val="A9BCD6"/>
                </a:solidFill>
                <a:latin typeface="Calibri" pitchFamily="34" charset="0"/>
                <a:ea typeface="Calibri" pitchFamily="34" charset="-122"/>
                <a:cs typeface="Calibri" pitchFamily="34" charset="-120"/>
              </a:rPr>
              <a:t>Exigences : MOB-F-10, F-11 · ES-19, ES-21, ES-22, ES-25, ES-27 · ADR-029, 030, 031</a:t>
            </a:r>
            <a:endParaRPr lang="en-US" sz="1200" dirty="0"/>
          </a:p>
        </p:txBody>
      </p:sp>
      <p:pic>
        <p:nvPicPr>
          <p:cNvPr id="6" name="Image 0" descr="/home/claude/mob/diag/D4_reenrolement.png">    </p:cNvPr>
          <p:cNvPicPr>
            <a:picLocks noChangeAspect="1"/>
          </p:cNvPicPr>
          <p:nvPr/>
        </p:nvPicPr>
        <p:blipFill>
          <a:blip r:embed="rId1"/>
          <a:stretch>
            <a:fillRect/>
          </a:stretch>
        </p:blipFill>
        <p:spPr>
          <a:xfrm>
            <a:off x="6035040" y="365760"/>
            <a:ext cx="5852160" cy="5643154"/>
          </a:xfrm>
          <a:prstGeom prst="rect">
            <a:avLst/>
          </a:prstGeom>
        </p:spPr>
      </p:pic>
      <p:sp>
        <p:nvSpPr>
          <p:cNvPr id="7" name="Text 4"/>
          <p:cNvSpPr txBox="1"/>
          <p:nvPr/>
        </p:nvSpPr>
        <p:spPr>
          <a:xfrm>
            <a:off x="457200" y="6446520"/>
            <a:ext cx="8229600" cy="274320"/>
          </a:xfrm>
          <a:prstGeom prst="rect">
            <a:avLst/>
          </a:prstGeom>
          <a:noFill/>
          <a:ln/>
        </p:spPr>
        <p:txBody>
          <a:bodyPr wrap="square" lIns="0" tIns="0" rIns="0" bIns="0" rtlCol="0" anchor="ctr"/>
          <a:lstStyle/>
          <a:p>
            <a:pPr indent="0" marL="0">
              <a:buNone/>
            </a:pPr>
            <a:r>
              <a:rPr lang="en-US" sz="900" dirty="0">
                <a:solidFill>
                  <a:srgbClr val="A9BCD6"/>
                </a:solidFill>
                <a:latin typeface="Calibri" pitchFamily="34" charset="0"/>
                <a:ea typeface="Calibri" pitchFamily="34" charset="-122"/>
                <a:cs typeface="Calibri" pitchFamily="34" charset="-120"/>
              </a:rPr>
              <a:t>IdentiShield-CM · Dossier de design de l'application mobile · v1.0 · 25/09/2026</a:t>
            </a:r>
            <a:endParaRPr lang="en-US" sz="900" dirty="0"/>
          </a:p>
        </p:txBody>
      </p:sp>
      <p:sp>
        <p:nvSpPr>
          <p:cNvPr id="8" name="Text 5"/>
          <p:cNvSpPr txBox="1"/>
          <p:nvPr/>
        </p:nvSpPr>
        <p:spPr>
          <a:xfrm>
            <a:off x="11247120" y="6446520"/>
            <a:ext cx="548640" cy="274320"/>
          </a:xfrm>
          <a:prstGeom prst="rect">
            <a:avLst/>
          </a:prstGeom>
          <a:noFill/>
          <a:ln/>
        </p:spPr>
        <p:txBody>
          <a:bodyPr wrap="square" lIns="0" tIns="0" rIns="0" bIns="0" rtlCol="0" anchor="ctr"/>
          <a:lstStyle/>
          <a:p>
            <a:pPr algn="r" indent="0" marL="0">
              <a:buNone/>
            </a:pPr>
            <a:r>
              <a:rPr lang="en-US" sz="900" dirty="0">
                <a:solidFill>
                  <a:srgbClr val="A9BCD6"/>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3000" b="1" dirty="0">
                <a:solidFill>
                  <a:srgbClr val="10375C"/>
                </a:solidFill>
                <a:latin typeface="Calibri" pitchFamily="34" charset="0"/>
                <a:ea typeface="Calibri" pitchFamily="34" charset="-122"/>
                <a:cs typeface="Calibri" pitchFamily="34" charset="-120"/>
              </a:rPr>
              <a:t>Flux D · 1/3 — Le titulaire honnête, avec sa clé sur papier</a:t>
            </a:r>
            <a:endParaRPr lang="en-US" sz="3000" dirty="0"/>
          </a:p>
        </p:txBody>
      </p:sp>
      <p:sp>
        <p:nvSpPr>
          <p:cNvPr id="3" name="Text 1"/>
          <p:cNvSpPr txBox="1"/>
          <p:nvPr/>
        </p:nvSpPr>
        <p:spPr>
          <a:xfrm>
            <a:off x="457200" y="914400"/>
            <a:ext cx="11247120" cy="365760"/>
          </a:xfrm>
          <a:prstGeom prst="rect">
            <a:avLst/>
          </a:prstGeom>
          <a:noFill/>
          <a:ln/>
        </p:spPr>
        <p:txBody>
          <a:bodyPr wrap="square" lIns="0" tIns="0" rIns="0" bIns="0" rtlCol="0" anchor="ctr"/>
          <a:lstStyle/>
          <a:p>
            <a:pPr indent="0" marL="0">
              <a:buNone/>
            </a:pPr>
            <a:r>
              <a:rPr lang="en-US" sz="1400" dirty="0">
                <a:solidFill>
                  <a:srgbClr val="5C6B7A"/>
                </a:solidFill>
                <a:latin typeface="Calibri" pitchFamily="34" charset="0"/>
                <a:ea typeface="Calibri" pitchFamily="34" charset="-122"/>
                <a:cs typeface="Calibri" pitchFamily="34" charset="-120"/>
              </a:rPr>
              <a:t>Numéro, PIN, puis le serveur voit une clé enregistrée et aucune signature : « ce compte est déjà protégé par un autre téléphone ». La clé de récupération remplace l'OTP.</a:t>
            </a:r>
            <a:endParaRPr lang="en-US" sz="1400" dirty="0"/>
          </a:p>
        </p:txBody>
      </p:sp>
      <p:pic>
        <p:nvPicPr>
          <p:cNvPr id="4" name="Image 0" descr="/home/claude/design/out/E20.png">    </p:cNvPr>
          <p:cNvPicPr>
            <a:picLocks noChangeAspect="1"/>
          </p:cNvPicPr>
          <p:nvPr/>
        </p:nvPicPr>
        <p:blipFill>
          <a:blip r:embed="rId1"/>
          <a:stretch>
            <a:fillRect/>
          </a:stretch>
        </p:blipFill>
        <p:spPr>
          <a:xfrm>
            <a:off x="457200" y="1417320"/>
            <a:ext cx="1804182" cy="3703320"/>
          </a:xfrm>
          <a:prstGeom prst="rect">
            <a:avLst/>
          </a:prstGeom>
        </p:spPr>
      </p:pic>
      <p:sp>
        <p:nvSpPr>
          <p:cNvPr id="5" name="Text 2"/>
          <p:cNvSpPr txBox="1"/>
          <p:nvPr/>
        </p:nvSpPr>
        <p:spPr>
          <a:xfrm>
            <a:off x="320040" y="5166360"/>
            <a:ext cx="2078502" cy="457200"/>
          </a:xfrm>
          <a:prstGeom prst="rect">
            <a:avLst/>
          </a:prstGeom>
          <a:noFill/>
          <a:ln/>
        </p:spPr>
        <p:txBody>
          <a:bodyPr wrap="square" lIns="0" tIns="0" rIns="0" bIns="0" rtlCol="0" anchor="t"/>
          <a:lstStyle/>
          <a:p>
            <a:pPr algn="ctr" indent="0" marL="0">
              <a:buNone/>
            </a:pPr>
            <a:r>
              <a:rPr lang="en-US" sz="1050" dirty="0">
                <a:solidFill>
                  <a:srgbClr val="14213D"/>
                </a:solidFill>
                <a:latin typeface="Calibri" pitchFamily="34" charset="0"/>
                <a:ea typeface="Calibri" pitchFamily="34" charset="-122"/>
                <a:cs typeface="Calibri" pitchFamily="34" charset="-120"/>
              </a:rPr>
              <a:t>E-20 Clé de récupération 🔒 : saisie, lien « clé perdue »</a:t>
            </a:r>
            <a:endParaRPr lang="en-US" sz="1050" dirty="0"/>
          </a:p>
        </p:txBody>
      </p:sp>
      <p:pic>
        <p:nvPicPr>
          <p:cNvPr id="6" name="Image 1" descr="/home/claude/design/out/E07.png">    </p:cNvPr>
          <p:cNvPicPr>
            <a:picLocks noChangeAspect="1"/>
          </p:cNvPicPr>
          <p:nvPr/>
        </p:nvPicPr>
        <p:blipFill>
          <a:blip r:embed="rId2"/>
          <a:stretch>
            <a:fillRect/>
          </a:stretch>
        </p:blipFill>
        <p:spPr>
          <a:xfrm>
            <a:off x="2535702" y="1417320"/>
            <a:ext cx="1804182" cy="3703320"/>
          </a:xfrm>
          <a:prstGeom prst="rect">
            <a:avLst/>
          </a:prstGeom>
        </p:spPr>
      </p:pic>
      <p:sp>
        <p:nvSpPr>
          <p:cNvPr id="7" name="Text 3"/>
          <p:cNvSpPr txBox="1"/>
          <p:nvPr/>
        </p:nvSpPr>
        <p:spPr>
          <a:xfrm>
            <a:off x="2398542" y="5166360"/>
            <a:ext cx="2078502" cy="457200"/>
          </a:xfrm>
          <a:prstGeom prst="rect">
            <a:avLst/>
          </a:prstGeom>
          <a:noFill/>
          <a:ln/>
        </p:spPr>
        <p:txBody>
          <a:bodyPr wrap="square" lIns="0" tIns="0" rIns="0" bIns="0" rtlCol="0" anchor="t"/>
          <a:lstStyle/>
          <a:p>
            <a:pPr algn="ctr" indent="0" marL="0">
              <a:buNone/>
            </a:pPr>
            <a:r>
              <a:rPr lang="en-US" sz="1050" dirty="0">
                <a:solidFill>
                  <a:srgbClr val="14213D"/>
                </a:solidFill>
                <a:latin typeface="Calibri" pitchFamily="34" charset="0"/>
                <a:ea typeface="Calibri" pitchFamily="34" charset="-122"/>
                <a:cs typeface="Calibri" pitchFamily="34" charset="-120"/>
              </a:rPr>
              <a:t>E-07 Sécurisation du nouveau téléphone</a:t>
            </a:r>
            <a:endParaRPr lang="en-US" sz="1050" dirty="0"/>
          </a:p>
        </p:txBody>
      </p:sp>
      <p:pic>
        <p:nvPicPr>
          <p:cNvPr id="8" name="Image 2" descr="/home/claude/design/out/E22.png">    </p:cNvPr>
          <p:cNvPicPr>
            <a:picLocks noChangeAspect="1"/>
          </p:cNvPicPr>
          <p:nvPr/>
        </p:nvPicPr>
        <p:blipFill>
          <a:blip r:embed="rId3"/>
          <a:stretch>
            <a:fillRect/>
          </a:stretch>
        </p:blipFill>
        <p:spPr>
          <a:xfrm>
            <a:off x="4614203" y="1417320"/>
            <a:ext cx="1804182" cy="3703320"/>
          </a:xfrm>
          <a:prstGeom prst="rect">
            <a:avLst/>
          </a:prstGeom>
        </p:spPr>
      </p:pic>
      <p:sp>
        <p:nvSpPr>
          <p:cNvPr id="9" name="Text 4"/>
          <p:cNvSpPr txBox="1"/>
          <p:nvPr/>
        </p:nvSpPr>
        <p:spPr>
          <a:xfrm>
            <a:off x="4477043" y="5166360"/>
            <a:ext cx="2078502" cy="457200"/>
          </a:xfrm>
          <a:prstGeom prst="rect">
            <a:avLst/>
          </a:prstGeom>
          <a:noFill/>
          <a:ln/>
        </p:spPr>
        <p:txBody>
          <a:bodyPr wrap="square" lIns="0" tIns="0" rIns="0" bIns="0" rtlCol="0" anchor="t"/>
          <a:lstStyle/>
          <a:p>
            <a:pPr algn="ctr" indent="0" marL="0">
              <a:buNone/>
            </a:pPr>
            <a:r>
              <a:rPr lang="en-US" sz="1050" dirty="0">
                <a:solidFill>
                  <a:srgbClr val="14213D"/>
                </a:solidFill>
                <a:latin typeface="Calibri" pitchFamily="34" charset="0"/>
                <a:ea typeface="Calibri" pitchFamily="34" charset="-122"/>
                <a:cs typeface="Calibri" pitchFamily="34" charset="-120"/>
              </a:rPr>
              <a:t>E-22 Nouveau téléphone lié, ancien délié</a:t>
            </a:r>
            <a:endParaRPr lang="en-US" sz="1050" dirty="0"/>
          </a:p>
        </p:txBody>
      </p:sp>
      <p:pic>
        <p:nvPicPr>
          <p:cNvPr id="10" name="Image 3" descr="/home/claude/design/out/E08.png">    </p:cNvPr>
          <p:cNvPicPr>
            <a:picLocks noChangeAspect="1"/>
          </p:cNvPicPr>
          <p:nvPr/>
        </p:nvPicPr>
        <p:blipFill>
          <a:blip r:embed="rId4"/>
          <a:stretch>
            <a:fillRect/>
          </a:stretch>
        </p:blipFill>
        <p:spPr>
          <a:xfrm>
            <a:off x="6692705" y="1417320"/>
            <a:ext cx="1804182" cy="3703320"/>
          </a:xfrm>
          <a:prstGeom prst="rect">
            <a:avLst/>
          </a:prstGeom>
        </p:spPr>
      </p:pic>
      <p:sp>
        <p:nvSpPr>
          <p:cNvPr id="11" name="Text 5"/>
          <p:cNvSpPr txBox="1"/>
          <p:nvPr/>
        </p:nvSpPr>
        <p:spPr>
          <a:xfrm>
            <a:off x="6555545" y="5166360"/>
            <a:ext cx="2078502" cy="457200"/>
          </a:xfrm>
          <a:prstGeom prst="rect">
            <a:avLst/>
          </a:prstGeom>
          <a:noFill/>
          <a:ln/>
        </p:spPr>
        <p:txBody>
          <a:bodyPr wrap="square" lIns="0" tIns="0" rIns="0" bIns="0" rtlCol="0" anchor="t"/>
          <a:lstStyle/>
          <a:p>
            <a:pPr algn="ctr" indent="0" marL="0">
              <a:buNone/>
            </a:pPr>
            <a:r>
              <a:rPr lang="en-US" sz="1050" dirty="0">
                <a:solidFill>
                  <a:srgbClr val="14213D"/>
                </a:solidFill>
                <a:latin typeface="Calibri" pitchFamily="34" charset="0"/>
                <a:ea typeface="Calibri" pitchFamily="34" charset="-122"/>
                <a:cs typeface="Calibri" pitchFamily="34" charset="-120"/>
              </a:rPr>
              <a:t>E-08 Nouvelle clé de récupération 🔒</a:t>
            </a:r>
            <a:endParaRPr lang="en-US" sz="1050" dirty="0"/>
          </a:p>
        </p:txBody>
      </p:sp>
      <p:sp>
        <p:nvSpPr>
          <p:cNvPr id="12" name="Shape 6"/>
          <p:cNvSpPr/>
          <p:nvPr/>
        </p:nvSpPr>
        <p:spPr>
          <a:xfrm>
            <a:off x="8908366" y="1417320"/>
            <a:ext cx="2795954" cy="4754880"/>
          </a:xfrm>
          <a:prstGeom prst="roundRect">
            <a:avLst>
              <a:gd name="adj" fmla="val 3925"/>
            </a:avLst>
          </a:prstGeom>
          <a:solidFill>
            <a:srgbClr val="E8F1F8"/>
          </a:solidFill>
          <a:ln w="9525">
            <a:solidFill>
              <a:srgbClr val="DCE3EC"/>
            </a:solidFill>
            <a:prstDash val="solid"/>
          </a:ln>
        </p:spPr>
      </p:sp>
      <p:sp>
        <p:nvSpPr>
          <p:cNvPr id="13" name="Text 7"/>
          <p:cNvSpPr txBox="1"/>
          <p:nvPr/>
        </p:nvSpPr>
        <p:spPr>
          <a:xfrm>
            <a:off x="9109534" y="1554480"/>
            <a:ext cx="2393618" cy="4526280"/>
          </a:xfrm>
          <a:prstGeom prst="rect">
            <a:avLst/>
          </a:prstGeom>
          <a:noFill/>
          <a:ln/>
        </p:spPr>
        <p:txBody>
          <a:bodyPr wrap="square" lIns="0" tIns="0" rIns="0" bIns="0" rtlCol="0" anchor="t"/>
          <a:lstStyle/>
          <a:p>
            <a:pPr indent="0" marL="0">
              <a:spcAft>
                <a:spcPts val="300"/>
              </a:spcAft>
              <a:buNone/>
            </a:pPr>
            <a:r>
              <a:rPr lang="en-US" sz="1300" b="1" dirty="0">
                <a:solidFill>
                  <a:srgbClr val="14213D"/>
                </a:solidFill>
                <a:latin typeface="Calibri" pitchFamily="34" charset="0"/>
                <a:ea typeface="Calibri" pitchFamily="34" charset="-122"/>
                <a:cs typeface="Calibri" pitchFamily="34" charset="-120"/>
              </a:rPr>
              <a:t>Ce qui se passe derrière</a:t>
            </a:r>
            <a:endParaRPr lang="en-US" sz="1050" dirty="0"/>
          </a:p>
          <a:p>
            <a:pPr marL="342900" indent="-342900">
              <a:spcAft>
                <a:spcPts val="300"/>
              </a:spcAft>
              <a:buSzPct val="100000"/>
              <a:buChar char="•"/>
            </a:pPr>
            <a:r>
              <a:rPr lang="en-US" sz="1050" dirty="0">
                <a:solidFill>
                  <a:srgbClr val="14213D"/>
                </a:solidFill>
                <a:latin typeface="Calibri" pitchFamily="34" charset="0"/>
                <a:ea typeface="Calibri" pitchFamily="34" charset="-122"/>
                <a:cs typeface="Calibri" pitchFamily="34" charset="-120"/>
              </a:rPr>
              <a:t>E-20 : le PDP compare le haché salé (RecoveryCodeStore). Ce n'est qu'après validation que la puce du nouveau téléphone fabrique sa clé (P-4).</a:t>
            </a:r>
            <a:endParaRPr lang="en-US" sz="1050" dirty="0"/>
          </a:p>
          <a:p>
            <a:pPr marL="342900" indent="-342900">
              <a:spcAft>
                <a:spcPts val="300"/>
              </a:spcAft>
              <a:buSzPct val="100000"/>
              <a:buChar char="•"/>
            </a:pPr>
            <a:r>
              <a:rPr lang="en-US" sz="1050" dirty="0">
                <a:solidFill>
                  <a:srgbClr val="14213D"/>
                </a:solidFill>
                <a:latin typeface="Calibri" pitchFamily="34" charset="0"/>
                <a:ea typeface="Calibri" pitchFamily="34" charset="-122"/>
                <a:cs typeface="Calibri" pitchFamily="34" charset="-120"/>
              </a:rPr>
              <a:t>E-22 : le PDP remplace la clé, l'ancienne est révoquée immédiatement (ADR-031). L'ancien téléphone reçoit une notification informative, sans action (EF-47).</a:t>
            </a:r>
            <a:endParaRPr lang="en-US" sz="1050" dirty="0"/>
          </a:p>
          <a:p>
            <a:pPr marL="342900" indent="-342900">
              <a:spcAft>
                <a:spcPts val="300"/>
              </a:spcAft>
              <a:buSzPct val="100000"/>
              <a:buChar char="•"/>
            </a:pPr>
            <a:r>
              <a:rPr lang="en-US" sz="1050" dirty="0">
                <a:solidFill>
                  <a:srgbClr val="14213D"/>
                </a:solidFill>
                <a:latin typeface="Calibri" pitchFamily="34" charset="0"/>
                <a:ea typeface="Calibri" pitchFamily="34" charset="-122"/>
                <a:cs typeface="Calibri" pitchFamily="34" charset="-120"/>
              </a:rPr>
              <a:t>E-08 : nouvelle clé de récupération, l'ancienne ne vaut plus rien, confirmation à quatre caractères.</a:t>
            </a:r>
            <a:endParaRPr lang="en-US" sz="1050" dirty="0"/>
          </a:p>
          <a:p>
            <a:pPr marL="342900" indent="-342900">
              <a:spcAft>
                <a:spcPts val="300"/>
              </a:spcAft>
              <a:buSzPct val="100000"/>
              <a:buChar char="•"/>
            </a:pPr>
            <a:r>
              <a:rPr lang="en-US" sz="1050" dirty="0">
                <a:solidFill>
                  <a:srgbClr val="14213D"/>
                </a:solidFill>
                <a:latin typeface="Calibri" pitchFamily="34" charset="0"/>
                <a:ea typeface="Calibri" pitchFamily="34" charset="-122"/>
                <a:cs typeface="Calibri" pitchFamily="34" charset="-120"/>
              </a:rPr>
              <a:t>Pas de quarantaine après réenrôlement : la clé de récupération est la preuve suffisante (ES-03c).</a:t>
            </a:r>
            <a:endParaRPr lang="en-US" sz="1050" dirty="0"/>
          </a:p>
          <a:p>
            <a:pPr marL="342900" indent="-342900">
              <a:spcAft>
                <a:spcPts val="300"/>
              </a:spcAft>
              <a:buSzPct val="100000"/>
              <a:buChar char="•"/>
            </a:pPr>
            <a:r>
              <a:rPr lang="en-US" sz="1050" dirty="0">
                <a:solidFill>
                  <a:srgbClr val="14213D"/>
                </a:solidFill>
                <a:latin typeface="Calibri" pitchFamily="34" charset="0"/>
                <a:ea typeface="Calibri" pitchFamily="34" charset="-122"/>
                <a:cs typeface="Calibri" pitchFamily="34" charset="-120"/>
              </a:rPr>
              <a:t>Réinstaller l'app sur le même téléphone = ce flux, parce que désinstaller détruit la clé (spike 1).</a:t>
            </a:r>
            <a:endParaRPr lang="en-US" sz="1050" dirty="0"/>
          </a:p>
        </p:txBody>
      </p:sp>
      <p:sp>
        <p:nvSpPr>
          <p:cNvPr id="14" name="Text 8"/>
          <p:cNvSpPr txBox="1"/>
          <p:nvPr/>
        </p:nvSpPr>
        <p:spPr>
          <a:xfrm>
            <a:off x="457200" y="6446520"/>
            <a:ext cx="8229600" cy="274320"/>
          </a:xfrm>
          <a:prstGeom prst="rect">
            <a:avLst/>
          </a:prstGeom>
          <a:noFill/>
          <a:ln/>
        </p:spPr>
        <p:txBody>
          <a:bodyPr wrap="square" lIns="0" tIns="0" rIns="0" bIns="0" rtlCol="0" anchor="ctr"/>
          <a:lstStyle/>
          <a:p>
            <a:pPr indent="0" marL="0">
              <a:buNone/>
            </a:pPr>
            <a:r>
              <a:rPr lang="en-US" sz="900" dirty="0">
                <a:solidFill>
                  <a:srgbClr val="5C6B7A"/>
                </a:solidFill>
                <a:latin typeface="Calibri" pitchFamily="34" charset="0"/>
                <a:ea typeface="Calibri" pitchFamily="34" charset="-122"/>
                <a:cs typeface="Calibri" pitchFamily="34" charset="-120"/>
              </a:rPr>
              <a:t>IdentiShield-CM · Dossier de design de l'application mobile · v1.0 · 25/09/2026</a:t>
            </a:r>
            <a:endParaRPr lang="en-US" sz="900" dirty="0"/>
          </a:p>
        </p:txBody>
      </p:sp>
      <p:sp>
        <p:nvSpPr>
          <p:cNvPr id="15" name="Text 9"/>
          <p:cNvSpPr txBox="1"/>
          <p:nvPr/>
        </p:nvSpPr>
        <p:spPr>
          <a:xfrm>
            <a:off x="11247120" y="6446520"/>
            <a:ext cx="548640" cy="274320"/>
          </a:xfrm>
          <a:prstGeom prst="rect">
            <a:avLst/>
          </a:prstGeom>
          <a:noFill/>
          <a:ln/>
        </p:spPr>
        <p:txBody>
          <a:bodyPr wrap="square" lIns="0" tIns="0" rIns="0" bIns="0"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3000" b="1" dirty="0">
                <a:solidFill>
                  <a:srgbClr val="10375C"/>
                </a:solidFill>
                <a:latin typeface="Calibri" pitchFamily="34" charset="0"/>
                <a:ea typeface="Calibri" pitchFamily="34" charset="-122"/>
                <a:cs typeface="Calibri" pitchFamily="34" charset="-120"/>
              </a:rPr>
              <a:t>Flux D · 2/3 — Le même flux vu par l'attaquant</a:t>
            </a:r>
            <a:endParaRPr lang="en-US" sz="3000" dirty="0"/>
          </a:p>
        </p:txBody>
      </p:sp>
      <p:sp>
        <p:nvSpPr>
          <p:cNvPr id="3" name="Text 1"/>
          <p:cNvSpPr txBox="1"/>
          <p:nvPr/>
        </p:nvSpPr>
        <p:spPr>
          <a:xfrm>
            <a:off x="457200" y="914400"/>
            <a:ext cx="11247120" cy="365760"/>
          </a:xfrm>
          <a:prstGeom prst="rect">
            <a:avLst/>
          </a:prstGeom>
          <a:noFill/>
          <a:ln/>
        </p:spPr>
        <p:txBody>
          <a:bodyPr wrap="square" lIns="0" tIns="0" rIns="0" bIns="0" rtlCol="0" anchor="ctr"/>
          <a:lstStyle/>
          <a:p>
            <a:pPr indent="0" marL="0">
              <a:buNone/>
            </a:pPr>
            <a:r>
              <a:rPr lang="en-US" sz="1400" dirty="0">
                <a:solidFill>
                  <a:srgbClr val="5C6B7A"/>
                </a:solidFill>
                <a:latin typeface="Calibri" pitchFamily="34" charset="0"/>
                <a:ea typeface="Calibri" pitchFamily="34" charset="-122"/>
                <a:cs typeface="Calibri" pitchFamily="34" charset="-120"/>
              </a:rPr>
              <a:t>Il a la SIM et souvent le PIN. Il installe l'application. Rien ne lui dit qu'il est détecté : le message est le même pour tout le monde. L'alerte part chez la victime.</a:t>
            </a:r>
            <a:endParaRPr lang="en-US" sz="1400" dirty="0"/>
          </a:p>
        </p:txBody>
      </p:sp>
      <p:sp>
        <p:nvSpPr>
          <p:cNvPr id="4" name="Text 2"/>
          <p:cNvSpPr txBox="1"/>
          <p:nvPr/>
        </p:nvSpPr>
        <p:spPr>
          <a:xfrm>
            <a:off x="457200" y="1325880"/>
            <a:ext cx="5029200" cy="365760"/>
          </a:xfrm>
          <a:prstGeom prst="rect">
            <a:avLst/>
          </a:prstGeom>
          <a:noFill/>
          <a:ln/>
        </p:spPr>
        <p:txBody>
          <a:bodyPr wrap="square" lIns="0" tIns="0" rIns="0" bIns="0" rtlCol="0" anchor="ctr"/>
          <a:lstStyle/>
          <a:p>
            <a:pPr indent="0" marL="0">
              <a:buNone/>
            </a:pPr>
            <a:r>
              <a:rPr lang="en-US" sz="1400" b="1" dirty="0">
                <a:solidFill>
                  <a:srgbClr val="8A1522"/>
                </a:solidFill>
                <a:latin typeface="Calibri" pitchFamily="34" charset="0"/>
                <a:ea typeface="Calibri" pitchFamily="34" charset="-122"/>
                <a:cs typeface="Calibri" pitchFamily="34" charset="-120"/>
              </a:rPr>
              <a:t>Téléphone de l'attaquant</a:t>
            </a:r>
            <a:endParaRPr lang="en-US" sz="1400" dirty="0"/>
          </a:p>
        </p:txBody>
      </p:sp>
      <p:sp>
        <p:nvSpPr>
          <p:cNvPr id="5" name="Text 3"/>
          <p:cNvSpPr txBox="1"/>
          <p:nvPr/>
        </p:nvSpPr>
        <p:spPr>
          <a:xfrm>
            <a:off x="6675120" y="1325880"/>
            <a:ext cx="5029200" cy="365760"/>
          </a:xfrm>
          <a:prstGeom prst="rect">
            <a:avLst/>
          </a:prstGeom>
          <a:noFill/>
          <a:ln/>
        </p:spPr>
        <p:txBody>
          <a:bodyPr wrap="square" lIns="0" tIns="0" rIns="0" bIns="0" rtlCol="0" anchor="ctr"/>
          <a:lstStyle/>
          <a:p>
            <a:pPr indent="0" marL="0">
              <a:buNone/>
            </a:pPr>
            <a:r>
              <a:rPr lang="en-US" sz="1400" b="1" dirty="0">
                <a:solidFill>
                  <a:srgbClr val="12776C"/>
                </a:solidFill>
                <a:latin typeface="Calibri" pitchFamily="34" charset="0"/>
                <a:ea typeface="Calibri" pitchFamily="34" charset="-122"/>
                <a:cs typeface="Calibri" pitchFamily="34" charset="-120"/>
              </a:rPr>
              <a:t>Téléphone de la victime (toujours lié)</a:t>
            </a:r>
            <a:endParaRPr lang="en-US" sz="1400" dirty="0"/>
          </a:p>
        </p:txBody>
      </p:sp>
      <p:pic>
        <p:nvPicPr>
          <p:cNvPr id="6" name="Image 0" descr="/home/claude/design/out/E20.png">    </p:cNvPr>
          <p:cNvPicPr>
            <a:picLocks noChangeAspect="1"/>
          </p:cNvPicPr>
          <p:nvPr/>
        </p:nvPicPr>
        <p:blipFill>
          <a:blip r:embed="rId1"/>
          <a:stretch>
            <a:fillRect/>
          </a:stretch>
        </p:blipFill>
        <p:spPr>
          <a:xfrm>
            <a:off x="457200" y="1737360"/>
            <a:ext cx="1692812" cy="3474720"/>
          </a:xfrm>
          <a:prstGeom prst="rect">
            <a:avLst/>
          </a:prstGeom>
        </p:spPr>
      </p:pic>
      <p:sp>
        <p:nvSpPr>
          <p:cNvPr id="7" name="Text 4"/>
          <p:cNvSpPr txBox="1"/>
          <p:nvPr/>
        </p:nvSpPr>
        <p:spPr>
          <a:xfrm>
            <a:off x="320040" y="5257800"/>
            <a:ext cx="1967132" cy="457200"/>
          </a:xfrm>
          <a:prstGeom prst="rect">
            <a:avLst/>
          </a:prstGeom>
          <a:noFill/>
          <a:ln/>
        </p:spPr>
        <p:txBody>
          <a:bodyPr wrap="square" lIns="0" tIns="0" rIns="0" bIns="0" rtlCol="0" anchor="t"/>
          <a:lstStyle/>
          <a:p>
            <a:pPr algn="ctr" indent="0" marL="0">
              <a:buNone/>
            </a:pPr>
            <a:r>
              <a:rPr lang="en-US" sz="1050" dirty="0">
                <a:solidFill>
                  <a:srgbClr val="14213D"/>
                </a:solidFill>
                <a:latin typeface="Calibri" pitchFamily="34" charset="0"/>
                <a:ea typeface="Calibri" pitchFamily="34" charset="-122"/>
                <a:cs typeface="Calibri" pitchFamily="34" charset="-120"/>
              </a:rPr>
              <a:t>1. Le serveur exige la clé de récupération</a:t>
            </a:r>
            <a:endParaRPr lang="en-US" sz="1050" dirty="0"/>
          </a:p>
        </p:txBody>
      </p:sp>
      <p:pic>
        <p:nvPicPr>
          <p:cNvPr id="8" name="Image 1" descr="/home/claude/design/out/E21.png">    </p:cNvPr>
          <p:cNvPicPr>
            <a:picLocks noChangeAspect="1"/>
          </p:cNvPicPr>
          <p:nvPr/>
        </p:nvPicPr>
        <p:blipFill>
          <a:blip r:embed="rId2"/>
          <a:stretch>
            <a:fillRect/>
          </a:stretch>
        </p:blipFill>
        <p:spPr>
          <a:xfrm>
            <a:off x="2470052" y="1737360"/>
            <a:ext cx="1692812" cy="3474720"/>
          </a:xfrm>
          <a:prstGeom prst="rect">
            <a:avLst/>
          </a:prstGeom>
        </p:spPr>
      </p:pic>
      <p:sp>
        <p:nvSpPr>
          <p:cNvPr id="9" name="Text 5"/>
          <p:cNvSpPr txBox="1"/>
          <p:nvPr/>
        </p:nvSpPr>
        <p:spPr>
          <a:xfrm>
            <a:off x="2332892" y="5257800"/>
            <a:ext cx="1967132" cy="457200"/>
          </a:xfrm>
          <a:prstGeom prst="rect">
            <a:avLst/>
          </a:prstGeom>
          <a:noFill/>
          <a:ln/>
        </p:spPr>
        <p:txBody>
          <a:bodyPr wrap="square" lIns="0" tIns="0" rIns="0" bIns="0" rtlCol="0" anchor="t"/>
          <a:lstStyle/>
          <a:p>
            <a:pPr algn="ctr" indent="0" marL="0">
              <a:buNone/>
            </a:pPr>
            <a:r>
              <a:rPr lang="en-US" sz="1050" dirty="0">
                <a:solidFill>
                  <a:srgbClr val="14213D"/>
                </a:solidFill>
                <a:latin typeface="Calibri" pitchFamily="34" charset="0"/>
                <a:ea typeface="Calibri" pitchFamily="34" charset="-122"/>
                <a:cs typeface="Calibri" pitchFamily="34" charset="-120"/>
              </a:rPr>
              <a:t>2. Deux essais, puis attente croissante : 2, 4, 8 min… jusqu'à LOCK_MAX</a:t>
            </a:r>
            <a:endParaRPr lang="en-US" sz="1050" dirty="0"/>
          </a:p>
        </p:txBody>
      </p:sp>
      <p:pic>
        <p:nvPicPr>
          <p:cNvPr id="10" name="Image 2" descr="/home/claude/design/out/E23.png">    </p:cNvPr>
          <p:cNvPicPr>
            <a:picLocks noChangeAspect="1"/>
          </p:cNvPicPr>
          <p:nvPr/>
        </p:nvPicPr>
        <p:blipFill>
          <a:blip r:embed="rId3"/>
          <a:stretch>
            <a:fillRect/>
          </a:stretch>
        </p:blipFill>
        <p:spPr>
          <a:xfrm>
            <a:off x="6675120" y="1737360"/>
            <a:ext cx="1692812" cy="3474720"/>
          </a:xfrm>
          <a:prstGeom prst="rect">
            <a:avLst/>
          </a:prstGeom>
        </p:spPr>
      </p:pic>
      <p:sp>
        <p:nvSpPr>
          <p:cNvPr id="11" name="Text 6"/>
          <p:cNvSpPr txBox="1"/>
          <p:nvPr/>
        </p:nvSpPr>
        <p:spPr>
          <a:xfrm>
            <a:off x="6537960" y="5257800"/>
            <a:ext cx="1967132" cy="457200"/>
          </a:xfrm>
          <a:prstGeom prst="rect">
            <a:avLst/>
          </a:prstGeom>
          <a:noFill/>
          <a:ln/>
        </p:spPr>
        <p:txBody>
          <a:bodyPr wrap="square" lIns="0" tIns="0" rIns="0" bIns="0" rtlCol="0" anchor="t"/>
          <a:lstStyle/>
          <a:p>
            <a:pPr algn="ctr" indent="0" marL="0">
              <a:buNone/>
            </a:pPr>
            <a:r>
              <a:rPr lang="en-US" sz="1050" dirty="0">
                <a:solidFill>
                  <a:srgbClr val="14213D"/>
                </a:solidFill>
                <a:latin typeface="Calibri" pitchFamily="34" charset="0"/>
                <a:ea typeface="Calibri" pitchFamily="34" charset="-122"/>
                <a:cs typeface="Calibri" pitchFamily="34" charset="-120"/>
              </a:rPr>
              <a:t>3. Dès ALERT_REENROL échecs : alerte « tentative de liaison »</a:t>
            </a:r>
            <a:endParaRPr lang="en-US" sz="1050" dirty="0"/>
          </a:p>
        </p:txBody>
      </p:sp>
      <p:pic>
        <p:nvPicPr>
          <p:cNvPr id="12" name="Image 3" descr="/home/claude/design/out/E24.png">    </p:cNvPr>
          <p:cNvPicPr>
            <a:picLocks noChangeAspect="1"/>
          </p:cNvPicPr>
          <p:nvPr/>
        </p:nvPicPr>
        <p:blipFill>
          <a:blip r:embed="rId4"/>
          <a:stretch>
            <a:fillRect/>
          </a:stretch>
        </p:blipFill>
        <p:spPr>
          <a:xfrm>
            <a:off x="8687972" y="1737360"/>
            <a:ext cx="1692812" cy="3474720"/>
          </a:xfrm>
          <a:prstGeom prst="rect">
            <a:avLst/>
          </a:prstGeom>
        </p:spPr>
      </p:pic>
      <p:sp>
        <p:nvSpPr>
          <p:cNvPr id="13" name="Text 7"/>
          <p:cNvSpPr txBox="1"/>
          <p:nvPr/>
        </p:nvSpPr>
        <p:spPr>
          <a:xfrm>
            <a:off x="8550812" y="5257800"/>
            <a:ext cx="1967132" cy="457200"/>
          </a:xfrm>
          <a:prstGeom prst="rect">
            <a:avLst/>
          </a:prstGeom>
          <a:noFill/>
          <a:ln/>
        </p:spPr>
        <p:txBody>
          <a:bodyPr wrap="square" lIns="0" tIns="0" rIns="0" bIns="0" rtlCol="0" anchor="t"/>
          <a:lstStyle/>
          <a:p>
            <a:pPr algn="ctr" indent="0" marL="0">
              <a:buNone/>
            </a:pPr>
            <a:r>
              <a:rPr lang="en-US" sz="1050" dirty="0">
                <a:solidFill>
                  <a:srgbClr val="14213D"/>
                </a:solidFill>
                <a:latin typeface="Calibri" pitchFamily="34" charset="0"/>
                <a:ea typeface="Calibri" pitchFamily="34" charset="-122"/>
                <a:cs typeface="Calibri" pitchFamily="34" charset="-120"/>
              </a:rPr>
              <a:t>4. « Ce n'est pas moi » : réenrôlements gelés (REENROL_FREEZE)</a:t>
            </a:r>
            <a:endParaRPr lang="en-US" sz="1050" dirty="0"/>
          </a:p>
        </p:txBody>
      </p:sp>
      <p:sp>
        <p:nvSpPr>
          <p:cNvPr id="14" name="Shape 8"/>
          <p:cNvSpPr/>
          <p:nvPr/>
        </p:nvSpPr>
        <p:spPr>
          <a:xfrm>
            <a:off x="4572000" y="3108960"/>
            <a:ext cx="1737360" cy="640080"/>
          </a:xfrm>
          <a:prstGeom prst="rightArrow">
            <a:avLst/>
          </a:prstGeom>
          <a:solidFill>
            <a:srgbClr val="F2A93B"/>
          </a:solidFill>
          <a:ln w="12700">
            <a:solidFill>
              <a:srgbClr val="F2A93B"/>
            </a:solidFill>
            <a:prstDash val="solid"/>
          </a:ln>
        </p:spPr>
      </p:sp>
      <p:sp>
        <p:nvSpPr>
          <p:cNvPr id="15" name="Shape 9"/>
          <p:cNvSpPr/>
          <p:nvPr/>
        </p:nvSpPr>
        <p:spPr>
          <a:xfrm>
            <a:off x="457200" y="5760720"/>
            <a:ext cx="11247120" cy="566928"/>
          </a:xfrm>
          <a:prstGeom prst="roundRect">
            <a:avLst>
              <a:gd name="adj" fmla="val 19355"/>
            </a:avLst>
          </a:prstGeom>
          <a:solidFill>
            <a:srgbClr val="FDE7EA"/>
          </a:solidFill>
          <a:ln w="9525">
            <a:solidFill>
              <a:srgbClr val="DCE3EC"/>
            </a:solidFill>
            <a:prstDash val="solid"/>
          </a:ln>
        </p:spPr>
      </p:sp>
      <p:sp>
        <p:nvSpPr>
          <p:cNvPr id="16" name="Text 10"/>
          <p:cNvSpPr txBox="1"/>
          <p:nvPr/>
        </p:nvSpPr>
        <p:spPr>
          <a:xfrm>
            <a:off x="685800" y="5788152"/>
            <a:ext cx="10881360" cy="512064"/>
          </a:xfrm>
          <a:prstGeom prst="rect">
            <a:avLst/>
          </a:prstGeom>
          <a:noFill/>
          <a:ln/>
        </p:spPr>
        <p:txBody>
          <a:bodyPr wrap="square" lIns="0" tIns="0" rIns="0" bIns="0" rtlCol="0" anchor="ctr"/>
          <a:lstStyle/>
          <a:p>
            <a:pPr indent="0" marL="0">
              <a:buNone/>
            </a:pPr>
            <a:r>
              <a:rPr lang="en-US" sz="1050" dirty="0">
                <a:solidFill>
                  <a:srgbClr val="8A1522"/>
                </a:solidFill>
                <a:latin typeface="Calibri" pitchFamily="34" charset="0"/>
                <a:ea typeface="Calibri" pitchFamily="34" charset="-122"/>
                <a:cs typeface="Calibri" pitchFamily="34" charset="-120"/>
              </a:rPr>
              <a:t>Le compte de la victime n'est jamais bloqué : c'est l'appareil de l'attaquant qui attend (ADR-030). Chaque tentative va aussi à la console (ES-24). L'attaquant abandonne l'app et tente l'USSD : là, c'est le PDP seul qui décide — et c'est ce que le Mois 5 mesure.</a:t>
            </a:r>
            <a:endParaRPr lang="en-US" sz="1050" dirty="0"/>
          </a:p>
        </p:txBody>
      </p:sp>
      <p:sp>
        <p:nvSpPr>
          <p:cNvPr id="17" name="Text 11"/>
          <p:cNvSpPr txBox="1"/>
          <p:nvPr/>
        </p:nvSpPr>
        <p:spPr>
          <a:xfrm>
            <a:off x="457200" y="6446520"/>
            <a:ext cx="8229600" cy="274320"/>
          </a:xfrm>
          <a:prstGeom prst="rect">
            <a:avLst/>
          </a:prstGeom>
          <a:noFill/>
          <a:ln/>
        </p:spPr>
        <p:txBody>
          <a:bodyPr wrap="square" lIns="0" tIns="0" rIns="0" bIns="0" rtlCol="0" anchor="ctr"/>
          <a:lstStyle/>
          <a:p>
            <a:pPr indent="0" marL="0">
              <a:buNone/>
            </a:pPr>
            <a:r>
              <a:rPr lang="en-US" sz="900" dirty="0">
                <a:solidFill>
                  <a:srgbClr val="5C6B7A"/>
                </a:solidFill>
                <a:latin typeface="Calibri" pitchFamily="34" charset="0"/>
                <a:ea typeface="Calibri" pitchFamily="34" charset="-122"/>
                <a:cs typeface="Calibri" pitchFamily="34" charset="-120"/>
              </a:rPr>
              <a:t>IdentiShield-CM · Dossier de design de l'application mobile · v1.0 · 25/09/2026</a:t>
            </a:r>
            <a:endParaRPr lang="en-US" sz="900" dirty="0"/>
          </a:p>
        </p:txBody>
      </p:sp>
      <p:sp>
        <p:nvSpPr>
          <p:cNvPr id="18" name="Text 12"/>
          <p:cNvSpPr txBox="1"/>
          <p:nvPr/>
        </p:nvSpPr>
        <p:spPr>
          <a:xfrm>
            <a:off x="11247120" y="6446520"/>
            <a:ext cx="548640" cy="274320"/>
          </a:xfrm>
          <a:prstGeom prst="rect">
            <a:avLst/>
          </a:prstGeom>
          <a:noFill/>
          <a:ln/>
        </p:spPr>
        <p:txBody>
          <a:bodyPr wrap="square" lIns="0" tIns="0" rIns="0" bIns="0"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3000" b="1" dirty="0">
                <a:solidFill>
                  <a:srgbClr val="10375C"/>
                </a:solidFill>
                <a:latin typeface="Calibri" pitchFamily="34" charset="0"/>
                <a:ea typeface="Calibri" pitchFamily="34" charset="-122"/>
                <a:cs typeface="Calibri" pitchFamily="34" charset="-120"/>
              </a:rPr>
              <a:t>Flux D · 3/3 — Cas d'échec et signaux</a:t>
            </a:r>
            <a:endParaRPr lang="en-US" sz="3000" dirty="0"/>
          </a:p>
        </p:txBody>
      </p:sp>
      <p:sp>
        <p:nvSpPr>
          <p:cNvPr id="3" name="Text 1"/>
          <p:cNvSpPr txBox="1"/>
          <p:nvPr/>
        </p:nvSpPr>
        <p:spPr>
          <a:xfrm>
            <a:off x="457200" y="914400"/>
            <a:ext cx="11247120" cy="365760"/>
          </a:xfrm>
          <a:prstGeom prst="rect">
            <a:avLst/>
          </a:prstGeom>
          <a:noFill/>
          <a:ln/>
        </p:spPr>
        <p:txBody>
          <a:bodyPr wrap="square" lIns="0" tIns="0" rIns="0" bIns="0" rtlCol="0" anchor="ctr"/>
          <a:lstStyle/>
          <a:p>
            <a:pPr indent="0" marL="0">
              <a:buNone/>
            </a:pPr>
            <a:r>
              <a:rPr lang="en-US" sz="1400" dirty="0">
                <a:solidFill>
                  <a:srgbClr val="5C6B7A"/>
                </a:solidFill>
                <a:latin typeface="Calibri" pitchFamily="34" charset="0"/>
                <a:ea typeface="Calibri" pitchFamily="34" charset="-122"/>
                <a:cs typeface="Calibri" pitchFamily="34" charset="-120"/>
              </a:rPr>
              <a:t>Un échec n'est pas une preuve de fraude (le titulaire peut se tromper en recopiant). C'est un signal : alerte et freinage. La fraude est décidée par le titulaire (« ce n'est pas moi ») ou par le PDP.</a:t>
            </a:r>
            <a:endParaRPr lang="en-US" sz="14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47120" cy="914400"/>
        </p:xfrm>
        <a:graphic>
          <a:graphicData uri="http://schemas.openxmlformats.org/drawingml/2006/table">
            <a:tbl>
              <a:tblPr/>
              <a:tblGrid>
                <a:gridCol w="2926080"/>
                <a:gridCol w="3108960"/>
                <a:gridCol w="3931920"/>
                <a:gridCol w="1280160"/>
              </a:tblGrid>
              <a:tr h="56692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Cas</a:t>
                      </a:r>
                      <a:endParaRPr lang="en-US" sz="1150" dirty="0">
                        <a:latin typeface="Calibri" charset="0"/>
                        <a:ea typeface="Calibri" charset="0"/>
                        <a:cs typeface="Calibri" charset="0"/>
                      </a:endParaRPr>
                    </a:p>
                  </a:txBody>
                  <a:tcPr marL="64008" marR="64008" marT="64008" marB="64008">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10375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Ce que voit la personne</a:t>
                      </a:r>
                      <a:endParaRPr lang="en-US" sz="1150" dirty="0">
                        <a:latin typeface="Calibri" charset="0"/>
                        <a:ea typeface="Calibri" charset="0"/>
                        <a:cs typeface="Calibri" charset="0"/>
                      </a:endParaRPr>
                    </a:p>
                  </a:txBody>
                  <a:tcPr marL="64008" marR="64008" marT="64008" marB="64008">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10375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Ce que fait le serveur</a:t>
                      </a:r>
                      <a:endParaRPr lang="en-US" sz="1150" dirty="0">
                        <a:latin typeface="Calibri" charset="0"/>
                        <a:ea typeface="Calibri" charset="0"/>
                        <a:cs typeface="Calibri" charset="0"/>
                      </a:endParaRPr>
                    </a:p>
                  </a:txBody>
                  <a:tcPr marL="64008" marR="64008" marT="64008" marB="64008">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10375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Signal</a:t>
                      </a:r>
                      <a:endParaRPr lang="en-US" sz="1150" dirty="0">
                        <a:latin typeface="Calibri" charset="0"/>
                        <a:ea typeface="Calibri" charset="0"/>
                        <a:cs typeface="Calibri" charset="0"/>
                      </a:endParaRPr>
                    </a:p>
                  </a:txBody>
                  <a:tcPr marL="64008" marR="64008" marT="64008" marB="64008">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10375C"/>
                    </a:solidFill>
                  </a:tcPr>
                </a:tc>
              </a:tr>
              <a:tr h="566928">
                <a:tc>
                  <a:txBody>
                    <a:bodyPr/>
                    <a:lstStyle/>
                    <a:p>
                      <a:pPr indent="0" marL="0">
                        <a:buNone/>
                      </a:pPr>
                      <a:r>
                        <a:rPr lang="en-US" sz="1150" dirty="0">
                          <a:solidFill>
                            <a:srgbClr val="14213D"/>
                          </a:solidFill>
                          <a:latin typeface="Calibri" pitchFamily="34" charset="0"/>
                          <a:ea typeface="Calibri" pitchFamily="34" charset="-122"/>
                          <a:cs typeface="Calibri" pitchFamily="34" charset="-120"/>
                        </a:rPr>
                        <a:t>Clé fausse, 1re et 2e fois</a:t>
                      </a:r>
                      <a:endParaRPr lang="en-US" sz="1150" dirty="0">
                        <a:latin typeface="Calibri" charset="0"/>
                        <a:ea typeface="Calibri" charset="0"/>
                        <a:cs typeface="Calibri" charset="0"/>
                      </a:endParaRPr>
                    </a:p>
                  </a:txBody>
                  <a:tcPr marL="64008" marR="64008" marT="64008" marB="64008">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FFFFF"/>
                    </a:solidFill>
                  </a:tcPr>
                </a:tc>
                <a:tc>
                  <a:txBody>
                    <a:bodyPr/>
                    <a:lstStyle/>
                    <a:p>
                      <a:pPr indent="0" marL="0">
                        <a:buNone/>
                      </a:pPr>
                      <a:r>
                        <a:rPr lang="en-US" sz="1150" dirty="0">
                          <a:solidFill>
                            <a:srgbClr val="14213D"/>
                          </a:solidFill>
                          <a:latin typeface="Calibri" pitchFamily="34" charset="0"/>
                          <a:ea typeface="Calibri" pitchFamily="34" charset="-122"/>
                          <a:cs typeface="Calibri" pitchFamily="34" charset="-120"/>
                        </a:rPr>
                        <a:t>« Clé incorrecte »</a:t>
                      </a:r>
                      <a:endParaRPr lang="en-US" sz="1150" dirty="0">
                        <a:latin typeface="Calibri" charset="0"/>
                        <a:ea typeface="Calibri" charset="0"/>
                        <a:cs typeface="Calibri" charset="0"/>
                      </a:endParaRPr>
                    </a:p>
                  </a:txBody>
                  <a:tcPr marL="64008" marR="64008" marT="64008" marB="64008">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FFFFF"/>
                    </a:solidFill>
                  </a:tcPr>
                </a:tc>
                <a:tc>
                  <a:txBody>
                    <a:bodyPr/>
                    <a:lstStyle/>
                    <a:p>
                      <a:pPr indent="0" marL="0">
                        <a:buNone/>
                      </a:pPr>
                      <a:r>
                        <a:rPr lang="en-US" sz="1150" dirty="0">
                          <a:solidFill>
                            <a:srgbClr val="14213D"/>
                          </a:solidFill>
                          <a:latin typeface="Calibri" pitchFamily="34" charset="0"/>
                          <a:ea typeface="Calibri" pitchFamily="34" charset="-122"/>
                          <a:cs typeface="Calibri" pitchFamily="34" charset="-120"/>
                        </a:rPr>
                        <a:t>Compteur par appareil et origine</a:t>
                      </a:r>
                      <a:endParaRPr lang="en-US" sz="1150" dirty="0">
                        <a:latin typeface="Calibri" charset="0"/>
                        <a:ea typeface="Calibri" charset="0"/>
                        <a:cs typeface="Calibri" charset="0"/>
                      </a:endParaRPr>
                    </a:p>
                  </a:txBody>
                  <a:tcPr marL="64008" marR="64008" marT="64008" marB="64008">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FFFFF"/>
                    </a:solidFill>
                  </a:tcPr>
                </a:tc>
                <a:tc>
                  <a:txBody>
                    <a:bodyPr/>
                    <a:lstStyle/>
                    <a:p>
                      <a:pPr indent="0" marL="0">
                        <a:buNone/>
                      </a:pPr>
                      <a:r>
                        <a:rPr lang="en-US" sz="1150" dirty="0">
                          <a:solidFill>
                            <a:srgbClr val="14213D"/>
                          </a:solidFill>
                          <a:latin typeface="Calibri" pitchFamily="34" charset="0"/>
                          <a:ea typeface="Calibri" pitchFamily="34" charset="-122"/>
                          <a:cs typeface="Calibri" pitchFamily="34" charset="-120"/>
                        </a:rPr>
                        <a:t>Faible</a:t>
                      </a:r>
                      <a:endParaRPr lang="en-US" sz="1150" dirty="0">
                        <a:latin typeface="Calibri" charset="0"/>
                        <a:ea typeface="Calibri" charset="0"/>
                        <a:cs typeface="Calibri" charset="0"/>
                      </a:endParaRPr>
                    </a:p>
                  </a:txBody>
                  <a:tcPr marL="64008" marR="64008" marT="64008" marB="64008">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FFFFF"/>
                    </a:solidFill>
                  </a:tcPr>
                </a:tc>
              </a:tr>
              <a:tr h="566928">
                <a:tc>
                  <a:txBody>
                    <a:bodyPr/>
                    <a:lstStyle/>
                    <a:p>
                      <a:pPr indent="0" marL="0">
                        <a:buNone/>
                      </a:pPr>
                      <a:r>
                        <a:rPr lang="en-US" sz="1150" dirty="0">
                          <a:solidFill>
                            <a:srgbClr val="14213D"/>
                          </a:solidFill>
                          <a:latin typeface="Calibri" pitchFamily="34" charset="0"/>
                          <a:ea typeface="Calibri" pitchFamily="34" charset="-122"/>
                          <a:cs typeface="Calibri" pitchFamily="34" charset="-120"/>
                        </a:rPr>
                        <a:t>Clé fausse, 3e fois et suivantes</a:t>
                      </a:r>
                      <a:endParaRPr lang="en-US" sz="1150" dirty="0">
                        <a:latin typeface="Calibri" charset="0"/>
                        <a:ea typeface="Calibri" charset="0"/>
                        <a:cs typeface="Calibri" charset="0"/>
                      </a:endParaRPr>
                    </a:p>
                  </a:txBody>
                  <a:tcPr marL="64008" marR="64008" marT="64008" marB="64008">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4F7FB"/>
                    </a:solidFill>
                  </a:tcPr>
                </a:tc>
                <a:tc>
                  <a:txBody>
                    <a:bodyPr/>
                    <a:lstStyle/>
                    <a:p>
                      <a:pPr indent="0" marL="0">
                        <a:buNone/>
                      </a:pPr>
                      <a:r>
                        <a:rPr lang="en-US" sz="1150" dirty="0">
                          <a:solidFill>
                            <a:srgbClr val="14213D"/>
                          </a:solidFill>
                          <a:latin typeface="Calibri" pitchFamily="34" charset="0"/>
                          <a:ea typeface="Calibri" pitchFamily="34" charset="-122"/>
                          <a:cs typeface="Calibri" pitchFamily="34" charset="-120"/>
                        </a:rPr>
                        <a:t>E-21 compte à rebours ; « votre compte n'est pas bloqué »</a:t>
                      </a:r>
                      <a:endParaRPr lang="en-US" sz="1150" dirty="0">
                        <a:latin typeface="Calibri" charset="0"/>
                        <a:ea typeface="Calibri" charset="0"/>
                        <a:cs typeface="Calibri" charset="0"/>
                      </a:endParaRPr>
                    </a:p>
                  </a:txBody>
                  <a:tcPr marL="64008" marR="64008" marT="64008" marB="64008">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4F7FB"/>
                    </a:solidFill>
                  </a:tcPr>
                </a:tc>
                <a:tc>
                  <a:txBody>
                    <a:bodyPr/>
                    <a:lstStyle/>
                    <a:p>
                      <a:pPr indent="0" marL="0">
                        <a:buNone/>
                      </a:pPr>
                      <a:r>
                        <a:rPr lang="en-US" sz="1150" dirty="0">
                          <a:solidFill>
                            <a:srgbClr val="14213D"/>
                          </a:solidFill>
                          <a:latin typeface="Calibri" pitchFamily="34" charset="0"/>
                          <a:ea typeface="Calibri" pitchFamily="34" charset="-122"/>
                          <a:cs typeface="Calibri" pitchFamily="34" charset="-120"/>
                        </a:rPr>
                        <a:t>Délai croissant sur l'origine (LOCK_BASE → LOCK_MAX) ; alerte au téléphone lié dès ALERT_REENROL</a:t>
                      </a:r>
                      <a:endParaRPr lang="en-US" sz="1150" dirty="0">
                        <a:latin typeface="Calibri" charset="0"/>
                        <a:ea typeface="Calibri" charset="0"/>
                        <a:cs typeface="Calibri" charset="0"/>
                      </a:endParaRPr>
                    </a:p>
                  </a:txBody>
                  <a:tcPr marL="64008" marR="64008" marT="64008" marB="64008">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4F7FB"/>
                    </a:solidFill>
                  </a:tcPr>
                </a:tc>
                <a:tc>
                  <a:txBody>
                    <a:bodyPr/>
                    <a:lstStyle/>
                    <a:p>
                      <a:pPr indent="0" marL="0">
                        <a:buNone/>
                      </a:pPr>
                      <a:r>
                        <a:rPr lang="en-US" sz="1150" dirty="0">
                          <a:solidFill>
                            <a:srgbClr val="14213D"/>
                          </a:solidFill>
                          <a:latin typeface="Calibri" pitchFamily="34" charset="0"/>
                          <a:ea typeface="Calibri" pitchFamily="34" charset="-122"/>
                          <a:cs typeface="Calibri" pitchFamily="34" charset="-120"/>
                        </a:rPr>
                        <a:t>Fort</a:t>
                      </a:r>
                      <a:endParaRPr lang="en-US" sz="1150" dirty="0">
                        <a:latin typeface="Calibri" charset="0"/>
                        <a:ea typeface="Calibri" charset="0"/>
                        <a:cs typeface="Calibri" charset="0"/>
                      </a:endParaRPr>
                    </a:p>
                  </a:txBody>
                  <a:tcPr marL="64008" marR="64008" marT="64008" marB="64008">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4F7FB"/>
                    </a:solidFill>
                  </a:tcPr>
                </a:tc>
              </a:tr>
              <a:tr h="566928">
                <a:tc>
                  <a:txBody>
                    <a:bodyPr/>
                    <a:lstStyle/>
                    <a:p>
                      <a:pPr indent="0" marL="0">
                        <a:buNone/>
                      </a:pPr>
                      <a:r>
                        <a:rPr lang="en-US" sz="1150" dirty="0">
                          <a:solidFill>
                            <a:srgbClr val="14213D"/>
                          </a:solidFill>
                          <a:latin typeface="Calibri" pitchFamily="34" charset="0"/>
                          <a:ea typeface="Calibri" pitchFamily="34" charset="-122"/>
                          <a:cs typeface="Calibri" pitchFamily="34" charset="-120"/>
                        </a:rPr>
                        <a:t>Clé perdue</a:t>
                      </a:r>
                      <a:endParaRPr lang="en-US" sz="1150" dirty="0">
                        <a:latin typeface="Calibri" charset="0"/>
                        <a:ea typeface="Calibri" charset="0"/>
                        <a:cs typeface="Calibri" charset="0"/>
                      </a:endParaRPr>
                    </a:p>
                  </a:txBody>
                  <a:tcPr marL="64008" marR="64008" marT="64008" marB="64008">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FFFFF"/>
                    </a:solidFill>
                  </a:tcPr>
                </a:tc>
                <a:tc>
                  <a:txBody>
                    <a:bodyPr/>
                    <a:lstStyle/>
                    <a:p>
                      <a:pPr indent="0" marL="0">
                        <a:buNone/>
                      </a:pPr>
                      <a:r>
                        <a:rPr lang="en-US" sz="1150" dirty="0">
                          <a:solidFill>
                            <a:srgbClr val="14213D"/>
                          </a:solidFill>
                          <a:latin typeface="Calibri" pitchFamily="34" charset="0"/>
                          <a:ea typeface="Calibri" pitchFamily="34" charset="-122"/>
                          <a:cs typeface="Calibri" pitchFamily="34" charset="-120"/>
                        </a:rPr>
                        <a:t>E-26 : orientation vers un agent</a:t>
                      </a:r>
                      <a:endParaRPr lang="en-US" sz="1150" dirty="0">
                        <a:latin typeface="Calibri" charset="0"/>
                        <a:ea typeface="Calibri" charset="0"/>
                        <a:cs typeface="Calibri" charset="0"/>
                      </a:endParaRPr>
                    </a:p>
                  </a:txBody>
                  <a:tcPr marL="64008" marR="64008" marT="64008" marB="64008">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FFFFF"/>
                    </a:solidFill>
                  </a:tcPr>
                </a:tc>
                <a:tc>
                  <a:txBody>
                    <a:bodyPr/>
                    <a:lstStyle/>
                    <a:p>
                      <a:pPr indent="0" marL="0">
                        <a:buNone/>
                      </a:pPr>
                      <a:r>
                        <a:rPr lang="en-US" sz="1150" dirty="0">
                          <a:solidFill>
                            <a:srgbClr val="14213D"/>
                          </a:solidFill>
                          <a:latin typeface="Calibri" pitchFamily="34" charset="0"/>
                          <a:ea typeface="Calibri" pitchFamily="34" charset="-122"/>
                          <a:cs typeface="Calibri" pitchFamily="34" charset="-120"/>
                        </a:rPr>
                        <a:t>Décision QM-05 en attente</a:t>
                      </a:r>
                      <a:endParaRPr lang="en-US" sz="1150" dirty="0">
                        <a:latin typeface="Calibri" charset="0"/>
                        <a:ea typeface="Calibri" charset="0"/>
                        <a:cs typeface="Calibri" charset="0"/>
                      </a:endParaRPr>
                    </a:p>
                  </a:txBody>
                  <a:tcPr marL="64008" marR="64008" marT="64008" marB="64008">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FFFFF"/>
                    </a:solidFill>
                  </a:tcPr>
                </a:tc>
                <a:tc>
                  <a:txBody>
                    <a:bodyPr/>
                    <a:lstStyle/>
                    <a:p>
                      <a:pPr indent="0" marL="0">
                        <a:buNone/>
                      </a:pPr>
                      <a:r>
                        <a:rPr lang="en-US" sz="1150" dirty="0">
                          <a:solidFill>
                            <a:srgbClr val="14213D"/>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64008" marR="64008" marT="64008" marB="64008">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FFFFF"/>
                    </a:solidFill>
                  </a:tcPr>
                </a:tc>
              </a:tr>
              <a:tr h="566928">
                <a:tc>
                  <a:txBody>
                    <a:bodyPr/>
                    <a:lstStyle/>
                    <a:p>
                      <a:pPr indent="0" marL="0">
                        <a:buNone/>
                      </a:pPr>
                      <a:r>
                        <a:rPr lang="en-US" sz="1150" dirty="0">
                          <a:solidFill>
                            <a:srgbClr val="14213D"/>
                          </a:solidFill>
                          <a:latin typeface="Calibri" pitchFamily="34" charset="0"/>
                          <a:ea typeface="Calibri" pitchFamily="34" charset="-122"/>
                          <a:cs typeface="Calibri" pitchFamily="34" charset="-120"/>
                        </a:rPr>
                        <a:t>Réseau coupé après validation de la clé, avant la liaison</a:t>
                      </a:r>
                      <a:endParaRPr lang="en-US" sz="1150" dirty="0">
                        <a:latin typeface="Calibri" charset="0"/>
                        <a:ea typeface="Calibri" charset="0"/>
                        <a:cs typeface="Calibri" charset="0"/>
                      </a:endParaRPr>
                    </a:p>
                  </a:txBody>
                  <a:tcPr marL="64008" marR="64008" marT="64008" marB="64008">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4F7FB"/>
                    </a:solidFill>
                  </a:tcPr>
                </a:tc>
                <a:tc>
                  <a:txBody>
                    <a:bodyPr/>
                    <a:lstStyle/>
                    <a:p>
                      <a:pPr indent="0" marL="0">
                        <a:buNone/>
                      </a:pPr>
                      <a:r>
                        <a:rPr lang="en-US" sz="1150" dirty="0">
                          <a:solidFill>
                            <a:srgbClr val="14213D"/>
                          </a:solidFill>
                          <a:latin typeface="Calibri" pitchFamily="34" charset="0"/>
                          <a:ea typeface="Calibri" pitchFamily="34" charset="-122"/>
                          <a:cs typeface="Calibri" pitchFamily="34" charset="-120"/>
                        </a:rPr>
                        <a:t>Reprise depuis E-03</a:t>
                      </a:r>
                      <a:endParaRPr lang="en-US" sz="1150" dirty="0">
                        <a:latin typeface="Calibri" charset="0"/>
                        <a:ea typeface="Calibri" charset="0"/>
                        <a:cs typeface="Calibri" charset="0"/>
                      </a:endParaRPr>
                    </a:p>
                  </a:txBody>
                  <a:tcPr marL="64008" marR="64008" marT="64008" marB="64008">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4F7FB"/>
                    </a:solidFill>
                  </a:tcPr>
                </a:tc>
                <a:tc>
                  <a:txBody>
                    <a:bodyPr/>
                    <a:lstStyle/>
                    <a:p>
                      <a:pPr indent="0" marL="0">
                        <a:buNone/>
                      </a:pPr>
                      <a:r>
                        <a:rPr lang="en-US" sz="1150" dirty="0">
                          <a:solidFill>
                            <a:srgbClr val="14213D"/>
                          </a:solidFill>
                          <a:latin typeface="Calibri" pitchFamily="34" charset="0"/>
                          <a:ea typeface="Calibri" pitchFamily="34" charset="-122"/>
                          <a:cs typeface="Calibri" pitchFamily="34" charset="-120"/>
                        </a:rPr>
                        <a:t>L'enrôlement expire ; la clé de récupération n'est pas consommée</a:t>
                      </a:r>
                      <a:endParaRPr lang="en-US" sz="1150" dirty="0">
                        <a:latin typeface="Calibri" charset="0"/>
                        <a:ea typeface="Calibri" charset="0"/>
                        <a:cs typeface="Calibri" charset="0"/>
                      </a:endParaRPr>
                    </a:p>
                  </a:txBody>
                  <a:tcPr marL="64008" marR="64008" marT="64008" marB="64008">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4F7FB"/>
                    </a:solidFill>
                  </a:tcPr>
                </a:tc>
                <a:tc>
                  <a:txBody>
                    <a:bodyPr/>
                    <a:lstStyle/>
                    <a:p>
                      <a:pPr indent="0" marL="0">
                        <a:buNone/>
                      </a:pPr>
                      <a:r>
                        <a:rPr lang="en-US" sz="1150" dirty="0">
                          <a:solidFill>
                            <a:srgbClr val="14213D"/>
                          </a:solidFill>
                          <a:latin typeface="Calibri" pitchFamily="34" charset="0"/>
                          <a:ea typeface="Calibri" pitchFamily="34" charset="-122"/>
                          <a:cs typeface="Calibri" pitchFamily="34" charset="-120"/>
                        </a:rPr>
                        <a:t>Non</a:t>
                      </a:r>
                      <a:endParaRPr lang="en-US" sz="1150" dirty="0">
                        <a:latin typeface="Calibri" charset="0"/>
                        <a:ea typeface="Calibri" charset="0"/>
                        <a:cs typeface="Calibri" charset="0"/>
                      </a:endParaRPr>
                    </a:p>
                  </a:txBody>
                  <a:tcPr marL="64008" marR="64008" marT="64008" marB="64008">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4F7FB"/>
                    </a:solidFill>
                  </a:tcPr>
                </a:tc>
              </a:tr>
              <a:tr h="566928">
                <a:tc>
                  <a:txBody>
                    <a:bodyPr/>
                    <a:lstStyle/>
                    <a:p>
                      <a:pPr indent="0" marL="0">
                        <a:buNone/>
                      </a:pPr>
                      <a:r>
                        <a:rPr lang="en-US" sz="1150" dirty="0">
                          <a:solidFill>
                            <a:srgbClr val="14213D"/>
                          </a:solidFill>
                          <a:latin typeface="Calibri" pitchFamily="34" charset="0"/>
                          <a:ea typeface="Calibri" pitchFamily="34" charset="-122"/>
                          <a:cs typeface="Calibri" pitchFamily="34" charset="-120"/>
                        </a:rPr>
                        <a:t>Téléphone lié hors ligne pendant les tentatives</a:t>
                      </a:r>
                      <a:endParaRPr lang="en-US" sz="1150" dirty="0">
                        <a:latin typeface="Calibri" charset="0"/>
                        <a:ea typeface="Calibri" charset="0"/>
                        <a:cs typeface="Calibri" charset="0"/>
                      </a:endParaRPr>
                    </a:p>
                  </a:txBody>
                  <a:tcPr marL="64008" marR="64008" marT="64008" marB="64008">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FFFFF"/>
                    </a:solidFill>
                  </a:tcPr>
                </a:tc>
                <a:tc>
                  <a:txBody>
                    <a:bodyPr/>
                    <a:lstStyle/>
                    <a:p>
                      <a:pPr indent="0" marL="0">
                        <a:buNone/>
                      </a:pPr>
                      <a:r>
                        <a:rPr lang="en-US" sz="1150" dirty="0">
                          <a:solidFill>
                            <a:srgbClr val="14213D"/>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64008" marR="64008" marT="64008" marB="64008">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FFFFF"/>
                    </a:solidFill>
                  </a:tcPr>
                </a:tc>
                <a:tc>
                  <a:txBody>
                    <a:bodyPr/>
                    <a:lstStyle/>
                    <a:p>
                      <a:pPr indent="0" marL="0">
                        <a:buNone/>
                      </a:pPr>
                      <a:r>
                        <a:rPr lang="en-US" sz="1150" dirty="0">
                          <a:solidFill>
                            <a:srgbClr val="14213D"/>
                          </a:solidFill>
                          <a:latin typeface="Calibri" pitchFamily="34" charset="0"/>
                          <a:ea typeface="Calibri" pitchFamily="34" charset="-122"/>
                          <a:cs typeface="Calibri" pitchFamily="34" charset="-120"/>
                        </a:rPr>
                        <a:t>L'alerte attend qu'il se reconnecte</a:t>
                      </a:r>
                      <a:endParaRPr lang="en-US" sz="1150" dirty="0">
                        <a:latin typeface="Calibri" charset="0"/>
                        <a:ea typeface="Calibri" charset="0"/>
                        <a:cs typeface="Calibri" charset="0"/>
                      </a:endParaRPr>
                    </a:p>
                  </a:txBody>
                  <a:tcPr marL="64008" marR="64008" marT="64008" marB="64008">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FFFFF"/>
                    </a:solidFill>
                  </a:tcPr>
                </a:tc>
                <a:tc>
                  <a:txBody>
                    <a:bodyPr/>
                    <a:lstStyle/>
                    <a:p>
                      <a:pPr indent="0" marL="0">
                        <a:buNone/>
                      </a:pPr>
                      <a:r>
                        <a:rPr lang="en-US" sz="1150" dirty="0">
                          <a:solidFill>
                            <a:srgbClr val="14213D"/>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64008" marR="64008" marT="64008" marB="64008">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FFFFF"/>
                    </a:solidFill>
                  </a:tcPr>
                </a:tc>
              </a:tr>
              <a:tr h="566928">
                <a:tc>
                  <a:txBody>
                    <a:bodyPr/>
                    <a:lstStyle/>
                    <a:p>
                      <a:pPr indent="0" marL="0">
                        <a:buNone/>
                      </a:pPr>
                      <a:r>
                        <a:rPr lang="en-US" sz="1150" dirty="0">
                          <a:solidFill>
                            <a:srgbClr val="14213D"/>
                          </a:solidFill>
                          <a:latin typeface="Calibri" pitchFamily="34" charset="0"/>
                          <a:ea typeface="Calibri" pitchFamily="34" charset="-122"/>
                          <a:cs typeface="Calibri" pitchFamily="34" charset="-120"/>
                        </a:rPr>
                        <a:t>Réenrôlement réussi par un attaquant (il avait la clé)</a:t>
                      </a:r>
                      <a:endParaRPr lang="en-US" sz="1150" dirty="0">
                        <a:latin typeface="Calibri" charset="0"/>
                        <a:ea typeface="Calibri" charset="0"/>
                        <a:cs typeface="Calibri" charset="0"/>
                      </a:endParaRPr>
                    </a:p>
                  </a:txBody>
                  <a:tcPr marL="64008" marR="64008" marT="64008" marB="64008">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4F7FB"/>
                    </a:solidFill>
                  </a:tcPr>
                </a:tc>
                <a:tc>
                  <a:txBody>
                    <a:bodyPr/>
                    <a:lstStyle/>
                    <a:p>
                      <a:pPr indent="0" marL="0">
                        <a:buNone/>
                      </a:pPr>
                      <a:r>
                        <a:rPr lang="en-US" sz="1150" dirty="0">
                          <a:solidFill>
                            <a:srgbClr val="14213D"/>
                          </a:solidFill>
                          <a:latin typeface="Calibri" pitchFamily="34" charset="0"/>
                          <a:ea typeface="Calibri" pitchFamily="34" charset="-122"/>
                          <a:cs typeface="Calibri" pitchFamily="34" charset="-120"/>
                        </a:rPr>
                        <a:t>Ancien téléphone : E-27 « n'est plus la clé », informatif</a:t>
                      </a:r>
                      <a:endParaRPr lang="en-US" sz="1150" dirty="0">
                        <a:latin typeface="Calibri" charset="0"/>
                        <a:ea typeface="Calibri" charset="0"/>
                        <a:cs typeface="Calibri" charset="0"/>
                      </a:endParaRPr>
                    </a:p>
                  </a:txBody>
                  <a:tcPr marL="64008" marR="64008" marT="64008" marB="64008">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4F7FB"/>
                    </a:solidFill>
                  </a:tcPr>
                </a:tc>
                <a:tc>
                  <a:txBody>
                    <a:bodyPr/>
                    <a:lstStyle/>
                    <a:p>
                      <a:pPr indent="0" marL="0">
                        <a:buNone/>
                      </a:pPr>
                      <a:r>
                        <a:rPr lang="en-US" sz="1150" dirty="0">
                          <a:solidFill>
                            <a:srgbClr val="14213D"/>
                          </a:solidFill>
                          <a:latin typeface="Calibri" pitchFamily="34" charset="0"/>
                          <a:ea typeface="Calibri" pitchFamily="34" charset="-122"/>
                          <a:cs typeface="Calibri" pitchFamily="34" charset="-120"/>
                        </a:rPr>
                        <a:t>Ancienne clé révoquée ; le titulaire va chez un agent</a:t>
                      </a:r>
                      <a:endParaRPr lang="en-US" sz="1150" dirty="0">
                        <a:latin typeface="Calibri" charset="0"/>
                        <a:ea typeface="Calibri" charset="0"/>
                        <a:cs typeface="Calibri" charset="0"/>
                      </a:endParaRPr>
                    </a:p>
                  </a:txBody>
                  <a:tcPr marL="64008" marR="64008" marT="64008" marB="64008">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4F7FB"/>
                    </a:solidFill>
                  </a:tcPr>
                </a:tc>
                <a:tc>
                  <a:txBody>
                    <a:bodyPr/>
                    <a:lstStyle/>
                    <a:p>
                      <a:pPr indent="0" marL="0">
                        <a:buNone/>
                      </a:pPr>
                      <a:r>
                        <a:rPr lang="en-US" sz="1150" dirty="0">
                          <a:solidFill>
                            <a:srgbClr val="14213D"/>
                          </a:solidFill>
                          <a:latin typeface="Calibri" pitchFamily="34" charset="0"/>
                          <a:ea typeface="Calibri" pitchFamily="34" charset="-122"/>
                          <a:cs typeface="Calibri" pitchFamily="34" charset="-120"/>
                        </a:rPr>
                        <a:t>À traiter par l'opérateur</a:t>
                      </a:r>
                      <a:endParaRPr lang="en-US" sz="1150" dirty="0">
                        <a:latin typeface="Calibri" charset="0"/>
                        <a:ea typeface="Calibri" charset="0"/>
                        <a:cs typeface="Calibri" charset="0"/>
                      </a:endParaRPr>
                    </a:p>
                  </a:txBody>
                  <a:tcPr marL="64008" marR="64008" marT="64008" marB="64008">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4F7FB"/>
                    </a:solidFill>
                  </a:tcPr>
                </a:tc>
              </a:tr>
            </a:tbl>
          </a:graphicData>
        </a:graphic>
      </p:graphicFrame>
      <p:sp>
        <p:nvSpPr>
          <p:cNvPr id="5" name="Text 2"/>
          <p:cNvSpPr txBox="1"/>
          <p:nvPr/>
        </p:nvSpPr>
        <p:spPr>
          <a:xfrm>
            <a:off x="457200" y="6446520"/>
            <a:ext cx="8229600" cy="274320"/>
          </a:xfrm>
          <a:prstGeom prst="rect">
            <a:avLst/>
          </a:prstGeom>
          <a:noFill/>
          <a:ln/>
        </p:spPr>
        <p:txBody>
          <a:bodyPr wrap="square" lIns="0" tIns="0" rIns="0" bIns="0" rtlCol="0" anchor="ctr"/>
          <a:lstStyle/>
          <a:p>
            <a:pPr indent="0" marL="0">
              <a:buNone/>
            </a:pPr>
            <a:r>
              <a:rPr lang="en-US" sz="900" dirty="0">
                <a:solidFill>
                  <a:srgbClr val="5C6B7A"/>
                </a:solidFill>
                <a:latin typeface="Calibri" pitchFamily="34" charset="0"/>
                <a:ea typeface="Calibri" pitchFamily="34" charset="-122"/>
                <a:cs typeface="Calibri" pitchFamily="34" charset="-120"/>
              </a:rPr>
              <a:t>IdentiShield-CM · Dossier de design de l'application mobile · v1.0 · 25/09/2026</a:t>
            </a:r>
            <a:endParaRPr lang="en-US" sz="900" dirty="0"/>
          </a:p>
        </p:txBody>
      </p:sp>
      <p:sp>
        <p:nvSpPr>
          <p:cNvPr id="6" name="Text 3"/>
          <p:cNvSpPr txBox="1"/>
          <p:nvPr/>
        </p:nvSpPr>
        <p:spPr>
          <a:xfrm>
            <a:off x="11247120" y="6446520"/>
            <a:ext cx="548640" cy="274320"/>
          </a:xfrm>
          <a:prstGeom prst="rect">
            <a:avLst/>
          </a:prstGeom>
          <a:noFill/>
          <a:ln/>
        </p:spPr>
        <p:txBody>
          <a:bodyPr wrap="square" lIns="0" tIns="0" rIns="0" bIns="0"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3000" b="1" dirty="0">
                <a:solidFill>
                  <a:srgbClr val="10375C"/>
                </a:solidFill>
                <a:latin typeface="Calibri" pitchFamily="34" charset="0"/>
                <a:ea typeface="Calibri" pitchFamily="34" charset="-122"/>
                <a:cs typeface="Calibri" pitchFamily="34" charset="-120"/>
              </a:rPr>
              <a:t>Flux F — Les alertes : le téléphone lié est le témoin</a:t>
            </a:r>
            <a:endParaRPr lang="en-US" sz="3000" dirty="0"/>
          </a:p>
        </p:txBody>
      </p:sp>
      <p:sp>
        <p:nvSpPr>
          <p:cNvPr id="3" name="Text 1"/>
          <p:cNvSpPr txBox="1"/>
          <p:nvPr/>
        </p:nvSpPr>
        <p:spPr>
          <a:xfrm>
            <a:off x="457200" y="914400"/>
            <a:ext cx="11247120" cy="365760"/>
          </a:xfrm>
          <a:prstGeom prst="rect">
            <a:avLst/>
          </a:prstGeom>
          <a:noFill/>
          <a:ln/>
        </p:spPr>
        <p:txBody>
          <a:bodyPr wrap="square" lIns="0" tIns="0" rIns="0" bIns="0" rtlCol="0" anchor="ctr"/>
          <a:lstStyle/>
          <a:p>
            <a:pPr indent="0" marL="0">
              <a:buNone/>
            </a:pPr>
            <a:r>
              <a:rPr lang="en-US" sz="1400" dirty="0">
                <a:solidFill>
                  <a:srgbClr val="5C6B7A"/>
                </a:solidFill>
                <a:latin typeface="Calibri" pitchFamily="34" charset="0"/>
                <a:ea typeface="Calibri" pitchFamily="34" charset="-122"/>
                <a:cs typeface="Calibri" pitchFamily="34" charset="-120"/>
              </a:rPr>
              <a:t>Changement de SIM, tentative de liaison ailleurs, envoi bloqué, envoi différé. Le titulaire répond par un geste signé. Un téléphone révoqué ne reçoit qu'une information.</a:t>
            </a:r>
            <a:endParaRPr lang="en-US" sz="1400" dirty="0"/>
          </a:p>
        </p:txBody>
      </p:sp>
      <p:pic>
        <p:nvPicPr>
          <p:cNvPr id="4" name="Image 0" descr="/home/claude/mob/diag/D5_alertes.png">    </p:cNvPr>
          <p:cNvPicPr>
            <a:picLocks noChangeAspect="1"/>
          </p:cNvPicPr>
          <p:nvPr/>
        </p:nvPicPr>
        <p:blipFill>
          <a:blip r:embed="rId1"/>
          <a:stretch>
            <a:fillRect/>
          </a:stretch>
        </p:blipFill>
        <p:spPr>
          <a:xfrm>
            <a:off x="457200" y="1371600"/>
            <a:ext cx="6035040" cy="3417803"/>
          </a:xfrm>
          <a:prstGeom prst="rect">
            <a:avLst/>
          </a:prstGeom>
        </p:spPr>
      </p:pic>
      <p:pic>
        <p:nvPicPr>
          <p:cNvPr id="5" name="Image 1" descr="/home/claude/design/out/E23.png">    </p:cNvPr>
          <p:cNvPicPr>
            <a:picLocks noChangeAspect="1"/>
          </p:cNvPicPr>
          <p:nvPr/>
        </p:nvPicPr>
        <p:blipFill>
          <a:blip r:embed="rId2"/>
          <a:stretch>
            <a:fillRect/>
          </a:stretch>
        </p:blipFill>
        <p:spPr>
          <a:xfrm>
            <a:off x="6858000" y="1371600"/>
            <a:ext cx="1826455" cy="3749040"/>
          </a:xfrm>
          <a:prstGeom prst="rect">
            <a:avLst/>
          </a:prstGeom>
        </p:spPr>
      </p:pic>
      <p:sp>
        <p:nvSpPr>
          <p:cNvPr id="6" name="Text 2"/>
          <p:cNvSpPr txBox="1"/>
          <p:nvPr/>
        </p:nvSpPr>
        <p:spPr>
          <a:xfrm>
            <a:off x="6720840" y="5166360"/>
            <a:ext cx="2100775" cy="457200"/>
          </a:xfrm>
          <a:prstGeom prst="rect">
            <a:avLst/>
          </a:prstGeom>
          <a:noFill/>
          <a:ln/>
        </p:spPr>
        <p:txBody>
          <a:bodyPr wrap="square" lIns="0" tIns="0" rIns="0" bIns="0" rtlCol="0" anchor="t"/>
          <a:lstStyle/>
          <a:p>
            <a:pPr algn="ctr" indent="0" marL="0">
              <a:buNone/>
            </a:pPr>
            <a:r>
              <a:rPr lang="en-US" sz="1050" dirty="0">
                <a:solidFill>
                  <a:srgbClr val="14213D"/>
                </a:solidFill>
                <a:latin typeface="Calibri" pitchFamily="34" charset="0"/>
                <a:ea typeface="Calibri" pitchFamily="34" charset="-122"/>
                <a:cs typeface="Calibri" pitchFamily="34" charset="-120"/>
              </a:rPr>
              <a:t>E-23 Alertes : à traiter / information</a:t>
            </a:r>
            <a:endParaRPr lang="en-US" sz="1050" dirty="0"/>
          </a:p>
        </p:txBody>
      </p:sp>
      <p:pic>
        <p:nvPicPr>
          <p:cNvPr id="7" name="Image 2" descr="/home/claude/design/out/E24.png">    </p:cNvPr>
          <p:cNvPicPr>
            <a:picLocks noChangeAspect="1"/>
          </p:cNvPicPr>
          <p:nvPr/>
        </p:nvPicPr>
        <p:blipFill>
          <a:blip r:embed="rId3"/>
          <a:stretch>
            <a:fillRect/>
          </a:stretch>
        </p:blipFill>
        <p:spPr>
          <a:xfrm>
            <a:off x="9004495" y="1371600"/>
            <a:ext cx="1826455" cy="3749040"/>
          </a:xfrm>
          <a:prstGeom prst="rect">
            <a:avLst/>
          </a:prstGeom>
        </p:spPr>
      </p:pic>
      <p:sp>
        <p:nvSpPr>
          <p:cNvPr id="8" name="Text 3"/>
          <p:cNvSpPr txBox="1"/>
          <p:nvPr/>
        </p:nvSpPr>
        <p:spPr>
          <a:xfrm>
            <a:off x="8867335" y="5166360"/>
            <a:ext cx="2100775" cy="457200"/>
          </a:xfrm>
          <a:prstGeom prst="rect">
            <a:avLst/>
          </a:prstGeom>
          <a:noFill/>
          <a:ln/>
        </p:spPr>
        <p:txBody>
          <a:bodyPr wrap="square" lIns="0" tIns="0" rIns="0" bIns="0" rtlCol="0" anchor="t"/>
          <a:lstStyle/>
          <a:p>
            <a:pPr algn="ctr" indent="0" marL="0">
              <a:buNone/>
            </a:pPr>
            <a:r>
              <a:rPr lang="en-US" sz="1050" dirty="0">
                <a:solidFill>
                  <a:srgbClr val="14213D"/>
                </a:solidFill>
                <a:latin typeface="Calibri" pitchFamily="34" charset="0"/>
                <a:ea typeface="Calibri" pitchFamily="34" charset="-122"/>
                <a:cs typeface="Calibri" pitchFamily="34" charset="-120"/>
              </a:rPr>
              <a:t>E-24 Détail : « C'est vous ? » Oui / Non</a:t>
            </a:r>
            <a:endParaRPr lang="en-US" sz="1050" dirty="0"/>
          </a:p>
        </p:txBody>
      </p:sp>
      <p:sp>
        <p:nvSpPr>
          <p:cNvPr id="9" name="Shape 4"/>
          <p:cNvSpPr/>
          <p:nvPr/>
        </p:nvSpPr>
        <p:spPr>
          <a:xfrm>
            <a:off x="457200" y="4892040"/>
            <a:ext cx="6035040" cy="1325880"/>
          </a:xfrm>
          <a:prstGeom prst="roundRect">
            <a:avLst>
              <a:gd name="adj" fmla="val 8276"/>
            </a:avLst>
          </a:prstGeom>
          <a:solidFill>
            <a:srgbClr val="E3F5F2"/>
          </a:solidFill>
          <a:ln w="9525">
            <a:solidFill>
              <a:srgbClr val="DCE3EC"/>
            </a:solidFill>
            <a:prstDash val="solid"/>
          </a:ln>
        </p:spPr>
      </p:sp>
      <p:sp>
        <p:nvSpPr>
          <p:cNvPr id="10" name="Text 5"/>
          <p:cNvSpPr txBox="1"/>
          <p:nvPr/>
        </p:nvSpPr>
        <p:spPr>
          <a:xfrm>
            <a:off x="685800" y="4983480"/>
            <a:ext cx="5577840" cy="1188720"/>
          </a:xfrm>
          <a:prstGeom prst="rect">
            <a:avLst/>
          </a:prstGeom>
          <a:noFill/>
          <a:ln/>
        </p:spPr>
        <p:txBody>
          <a:bodyPr wrap="square" lIns="0" tIns="0" rIns="0" bIns="0" rtlCol="0" anchor="t"/>
          <a:lstStyle/>
          <a:p>
            <a:pPr indent="0" marL="0">
              <a:spcAft>
                <a:spcPts val="600"/>
              </a:spcAft>
              <a:buNone/>
            </a:pPr>
            <a:r>
              <a:rPr lang="en-US" sz="1100" b="1" dirty="0">
                <a:solidFill>
                  <a:srgbClr val="14213D"/>
                </a:solidFill>
                <a:latin typeface="Calibri" pitchFamily="34" charset="0"/>
                <a:ea typeface="Calibri" pitchFamily="34" charset="-122"/>
                <a:cs typeface="Calibri" pitchFamily="34" charset="-120"/>
              </a:rPr>
              <a:t>La règle d'or. </a:t>
            </a:r>
            <a:pPr indent="0" marL="0">
              <a:spcAft>
                <a:spcPts val="600"/>
              </a:spcAft>
              <a:buNone/>
            </a:pPr>
            <a:r>
              <a:rPr lang="en-US" sz="1100" dirty="0">
                <a:solidFill>
                  <a:srgbClr val="14213D"/>
                </a:solidFill>
                <a:latin typeface="Calibri" pitchFamily="34" charset="0"/>
                <a:ea typeface="Calibri" pitchFamily="34" charset="-122"/>
                <a:cs typeface="Calibri" pitchFamily="34" charset="-120"/>
              </a:rPr>
              <a:t>Une alerte ne contient jamais de lien, de code, ni de demande de saisie de PIN ou de clé (ES-28). Elle n'offre qu'un « oui / non » signé par le téléphone. Un usager qui apprend qu'on ne lui demande jamais de code dans une alerte devient résistant au hameçonnage par SMS. « Non » → compte FROZEN pour les sorties, réenrôlements gelés, levée par l'opérateur.</a:t>
            </a:r>
            <a:endParaRPr lang="en-US" sz="1100" dirty="0"/>
          </a:p>
        </p:txBody>
      </p:sp>
      <p:sp>
        <p:nvSpPr>
          <p:cNvPr id="11" name="Text 6"/>
          <p:cNvSpPr txBox="1"/>
          <p:nvPr/>
        </p:nvSpPr>
        <p:spPr>
          <a:xfrm>
            <a:off x="457200" y="6446520"/>
            <a:ext cx="8229600" cy="274320"/>
          </a:xfrm>
          <a:prstGeom prst="rect">
            <a:avLst/>
          </a:prstGeom>
          <a:noFill/>
          <a:ln/>
        </p:spPr>
        <p:txBody>
          <a:bodyPr wrap="square" lIns="0" tIns="0" rIns="0" bIns="0" rtlCol="0" anchor="ctr"/>
          <a:lstStyle/>
          <a:p>
            <a:pPr indent="0" marL="0">
              <a:buNone/>
            </a:pPr>
            <a:r>
              <a:rPr lang="en-US" sz="900" dirty="0">
                <a:solidFill>
                  <a:srgbClr val="5C6B7A"/>
                </a:solidFill>
                <a:latin typeface="Calibri" pitchFamily="34" charset="0"/>
                <a:ea typeface="Calibri" pitchFamily="34" charset="-122"/>
                <a:cs typeface="Calibri" pitchFamily="34" charset="-120"/>
              </a:rPr>
              <a:t>IdentiShield-CM · Dossier de design de l'application mobile · v1.0 · 25/09/2026</a:t>
            </a:r>
            <a:endParaRPr lang="en-US" sz="900" dirty="0"/>
          </a:p>
        </p:txBody>
      </p:sp>
      <p:sp>
        <p:nvSpPr>
          <p:cNvPr id="12" name="Text 7"/>
          <p:cNvSpPr txBox="1"/>
          <p:nvPr/>
        </p:nvSpPr>
        <p:spPr>
          <a:xfrm>
            <a:off x="11247120" y="6446520"/>
            <a:ext cx="548640" cy="274320"/>
          </a:xfrm>
          <a:prstGeom prst="rect">
            <a:avLst/>
          </a:prstGeom>
          <a:noFill/>
          <a:ln/>
        </p:spPr>
        <p:txBody>
          <a:bodyPr wrap="square" lIns="0" tIns="0" rIns="0" bIns="0"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3000" b="1" dirty="0">
                <a:solidFill>
                  <a:srgbClr val="10375C"/>
                </a:solidFill>
                <a:latin typeface="Calibri" pitchFamily="34" charset="0"/>
                <a:ea typeface="Calibri" pitchFamily="34" charset="-122"/>
                <a:cs typeface="Calibri" pitchFamily="34" charset="-120"/>
              </a:rPr>
              <a:t>Catalogue des alertes</a:t>
            </a:r>
            <a:endParaRPr lang="en-US" sz="3000" dirty="0"/>
          </a:p>
        </p:txBody>
      </p:sp>
      <p:sp>
        <p:nvSpPr>
          <p:cNvPr id="3" name="Text 1"/>
          <p:cNvSpPr txBox="1"/>
          <p:nvPr/>
        </p:nvSpPr>
        <p:spPr>
          <a:xfrm>
            <a:off x="457200" y="914400"/>
            <a:ext cx="11247120" cy="365760"/>
          </a:xfrm>
          <a:prstGeom prst="rect">
            <a:avLst/>
          </a:prstGeom>
          <a:noFill/>
          <a:ln/>
        </p:spPr>
        <p:txBody>
          <a:bodyPr wrap="square" lIns="0" tIns="0" rIns="0" bIns="0" rtlCol="0" anchor="ctr"/>
          <a:lstStyle/>
          <a:p>
            <a:pPr indent="0" marL="0">
              <a:buNone/>
            </a:pPr>
            <a:r>
              <a:rPr lang="en-US" sz="1400" dirty="0">
                <a:solidFill>
                  <a:srgbClr val="5C6B7A"/>
                </a:solidFill>
                <a:latin typeface="Calibri" pitchFamily="34" charset="0"/>
                <a:ea typeface="Calibri" pitchFamily="34" charset="-122"/>
                <a:cs typeface="Calibri" pitchFamily="34" charset="-120"/>
              </a:rPr>
              <a:t>Qui est prévenu, avec quels mots, et ce que « ce n'est pas moi » déclenche. Sans FCM (pas d'Internet dans le bac à sable) : interrogation à l'ouverture, puis périodique.</a:t>
            </a:r>
            <a:endParaRPr lang="en-US" sz="14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47120" cy="914400"/>
        </p:xfrm>
        <a:graphic>
          <a:graphicData uri="http://schemas.openxmlformats.org/drawingml/2006/table">
            <a:tbl>
              <a:tblPr/>
              <a:tblGrid>
                <a:gridCol w="2377440"/>
                <a:gridCol w="1737360"/>
                <a:gridCol w="3383280"/>
                <a:gridCol w="1645920"/>
                <a:gridCol w="2103120"/>
              </a:tblGrid>
              <a:tr h="54864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Événement</a:t>
                      </a:r>
                      <a:endParaRPr lang="en-US" sz="1100" dirty="0">
                        <a:latin typeface="Calibri" charset="0"/>
                        <a:ea typeface="Calibri" charset="0"/>
                        <a:cs typeface="Calibri" charset="0"/>
                      </a:endParaRPr>
                    </a:p>
                  </a:txBody>
                  <a:tcPr marL="64008" marR="64008" marT="64008" marB="64008">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1037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Qui</a:t>
                      </a:r>
                      <a:endParaRPr lang="en-US" sz="1100" dirty="0">
                        <a:latin typeface="Calibri" charset="0"/>
                        <a:ea typeface="Calibri" charset="0"/>
                        <a:cs typeface="Calibri" charset="0"/>
                      </a:endParaRPr>
                    </a:p>
                  </a:txBody>
                  <a:tcPr marL="64008" marR="64008" marT="64008" marB="64008">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1037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Texte affiché</a:t>
                      </a:r>
                      <a:endParaRPr lang="en-US" sz="1100" dirty="0">
                        <a:latin typeface="Calibri" charset="0"/>
                        <a:ea typeface="Calibri" charset="0"/>
                        <a:cs typeface="Calibri" charset="0"/>
                      </a:endParaRPr>
                    </a:p>
                  </a:txBody>
                  <a:tcPr marL="64008" marR="64008" marT="64008" marB="64008">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1037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Réponse</a:t>
                      </a:r>
                      <a:endParaRPr lang="en-US" sz="1100" dirty="0">
                        <a:latin typeface="Calibri" charset="0"/>
                        <a:ea typeface="Calibri" charset="0"/>
                        <a:cs typeface="Calibri" charset="0"/>
                      </a:endParaRPr>
                    </a:p>
                  </a:txBody>
                  <a:tcPr marL="64008" marR="64008" marT="64008" marB="64008">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1037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Effet de « non »</a:t>
                      </a:r>
                      <a:endParaRPr lang="en-US" sz="1100" dirty="0">
                        <a:latin typeface="Calibri" charset="0"/>
                        <a:ea typeface="Calibri" charset="0"/>
                        <a:cs typeface="Calibri" charset="0"/>
                      </a:endParaRPr>
                    </a:p>
                  </a:txBody>
                  <a:tcPr marL="64008" marR="64008" marT="64008" marB="64008">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10375C"/>
                    </a:solidFill>
                  </a:tcPr>
                </a:tc>
              </a:tr>
              <a:tr h="548640">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Carte SIM changée (HLR)</a:t>
                      </a:r>
                      <a:endParaRPr lang="en-US" sz="1100" dirty="0">
                        <a:latin typeface="Calibri" charset="0"/>
                        <a:ea typeface="Calibri" charset="0"/>
                        <a:cs typeface="Calibri" charset="0"/>
                      </a:endParaRPr>
                    </a:p>
                  </a:txBody>
                  <a:tcPr marL="64008" marR="64008" marT="64008" marB="64008">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FFFFF"/>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Téléphone lié</a:t>
                      </a:r>
                      <a:endParaRPr lang="en-US" sz="1100" dirty="0">
                        <a:latin typeface="Calibri" charset="0"/>
                        <a:ea typeface="Calibri" charset="0"/>
                        <a:cs typeface="Calibri" charset="0"/>
                      </a:endParaRPr>
                    </a:p>
                  </a:txBody>
                  <a:tcPr marL="64008" marR="64008" marT="64008" marB="64008">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FFFFF"/>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 La carte SIM de votre numéro a été changée à 14 h 02. C'est vous ? »</a:t>
                      </a:r>
                      <a:endParaRPr lang="en-US" sz="1100" dirty="0">
                        <a:latin typeface="Calibri" charset="0"/>
                        <a:ea typeface="Calibri" charset="0"/>
                        <a:cs typeface="Calibri" charset="0"/>
                      </a:endParaRPr>
                    </a:p>
                  </a:txBody>
                  <a:tcPr marL="64008" marR="64008" marT="64008" marB="64008">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FFFFF"/>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Oui / Non</a:t>
                      </a:r>
                      <a:endParaRPr lang="en-US" sz="1100" dirty="0">
                        <a:latin typeface="Calibri" charset="0"/>
                        <a:ea typeface="Calibri" charset="0"/>
                        <a:cs typeface="Calibri" charset="0"/>
                      </a:endParaRPr>
                    </a:p>
                  </a:txBody>
                  <a:tcPr marL="64008" marR="64008" marT="64008" marB="64008">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FFFFF"/>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FROZEN pour les sorties ; réenrôlement gelé</a:t>
                      </a:r>
                      <a:endParaRPr lang="en-US" sz="1100" dirty="0">
                        <a:latin typeface="Calibri" charset="0"/>
                        <a:ea typeface="Calibri" charset="0"/>
                        <a:cs typeface="Calibri" charset="0"/>
                      </a:endParaRPr>
                    </a:p>
                  </a:txBody>
                  <a:tcPr marL="64008" marR="64008" marT="64008" marB="64008">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FFFFF"/>
                    </a:solidFill>
                  </a:tcPr>
                </a:tc>
              </a:tr>
              <a:tr h="548640">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Tentative de liaison échouée (≥ ALERT_REENROL)</a:t>
                      </a:r>
                      <a:endParaRPr lang="en-US" sz="1100" dirty="0">
                        <a:latin typeface="Calibri" charset="0"/>
                        <a:ea typeface="Calibri" charset="0"/>
                        <a:cs typeface="Calibri" charset="0"/>
                      </a:endParaRPr>
                    </a:p>
                  </a:txBody>
                  <a:tcPr marL="64008" marR="64008" marT="64008" marB="64008">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4F7FB"/>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Téléphone lié</a:t>
                      </a:r>
                      <a:endParaRPr lang="en-US" sz="1100" dirty="0">
                        <a:latin typeface="Calibri" charset="0"/>
                        <a:ea typeface="Calibri" charset="0"/>
                        <a:cs typeface="Calibri" charset="0"/>
                      </a:endParaRPr>
                    </a:p>
                  </a:txBody>
                  <a:tcPr marL="64008" marR="64008" marT="64008" marB="64008">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4F7FB"/>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 Quelqu'un tente de lier un nouveau téléphone à votre compte. »</a:t>
                      </a:r>
                      <a:endParaRPr lang="en-US" sz="1100" dirty="0">
                        <a:latin typeface="Calibri" charset="0"/>
                        <a:ea typeface="Calibri" charset="0"/>
                        <a:cs typeface="Calibri" charset="0"/>
                      </a:endParaRPr>
                    </a:p>
                  </a:txBody>
                  <a:tcPr marL="64008" marR="64008" marT="64008" marB="64008">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4F7FB"/>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 Ce n'est pas moi »</a:t>
                      </a:r>
                      <a:endParaRPr lang="en-US" sz="1100" dirty="0">
                        <a:latin typeface="Calibri" charset="0"/>
                        <a:ea typeface="Calibri" charset="0"/>
                        <a:cs typeface="Calibri" charset="0"/>
                      </a:endParaRPr>
                    </a:p>
                  </a:txBody>
                  <a:tcPr marL="64008" marR="64008" marT="64008" marB="64008">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4F7FB"/>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Réenrôlements gelés (REENROL_FREEZE)</a:t>
                      </a:r>
                      <a:endParaRPr lang="en-US" sz="1100" dirty="0">
                        <a:latin typeface="Calibri" charset="0"/>
                        <a:ea typeface="Calibri" charset="0"/>
                        <a:cs typeface="Calibri" charset="0"/>
                      </a:endParaRPr>
                    </a:p>
                  </a:txBody>
                  <a:tcPr marL="64008" marR="64008" marT="64008" marB="64008">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4F7FB"/>
                    </a:solidFill>
                  </a:tcPr>
                </a:tc>
              </a:tr>
              <a:tr h="548640">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Nouveau téléphone lié</a:t>
                      </a:r>
                      <a:endParaRPr lang="en-US" sz="1100" dirty="0">
                        <a:latin typeface="Calibri" charset="0"/>
                        <a:ea typeface="Calibri" charset="0"/>
                        <a:cs typeface="Calibri" charset="0"/>
                      </a:endParaRPr>
                    </a:p>
                  </a:txBody>
                  <a:tcPr marL="64008" marR="64008" marT="64008" marB="64008">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FFFFF"/>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Ancien téléphone (révoqué)</a:t>
                      </a:r>
                      <a:endParaRPr lang="en-US" sz="1100" dirty="0">
                        <a:latin typeface="Calibri" charset="0"/>
                        <a:ea typeface="Calibri" charset="0"/>
                        <a:cs typeface="Calibri" charset="0"/>
                      </a:endParaRPr>
                    </a:p>
                  </a:txBody>
                  <a:tcPr marL="64008" marR="64008" marT="64008" marB="64008">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FFFFF"/>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 Un nouveau téléphone a été lié à votre compte. »</a:t>
                      </a:r>
                      <a:endParaRPr lang="en-US" sz="1100" dirty="0">
                        <a:latin typeface="Calibri" charset="0"/>
                        <a:ea typeface="Calibri" charset="0"/>
                        <a:cs typeface="Calibri" charset="0"/>
                      </a:endParaRPr>
                    </a:p>
                  </a:txBody>
                  <a:tcPr marL="64008" marR="64008" marT="64008" marB="64008">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FFFFF"/>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Aucune (informatif, EF-47)</a:t>
                      </a:r>
                      <a:endParaRPr lang="en-US" sz="1100" dirty="0">
                        <a:latin typeface="Calibri" charset="0"/>
                        <a:ea typeface="Calibri" charset="0"/>
                        <a:cs typeface="Calibri" charset="0"/>
                      </a:endParaRPr>
                    </a:p>
                  </a:txBody>
                  <a:tcPr marL="64008" marR="64008" marT="64008" marB="64008">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FFFFF"/>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4008" marR="64008" marT="64008" marB="64008">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FFFFF"/>
                    </a:solidFill>
                  </a:tcPr>
                </a:tc>
              </a:tr>
              <a:tr h="548640">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Envoi différé (STEP_UP / DEFER)</a:t>
                      </a:r>
                      <a:endParaRPr lang="en-US" sz="1100" dirty="0">
                        <a:latin typeface="Calibri" charset="0"/>
                        <a:ea typeface="Calibri" charset="0"/>
                        <a:cs typeface="Calibri" charset="0"/>
                      </a:endParaRPr>
                    </a:p>
                  </a:txBody>
                  <a:tcPr marL="64008" marR="64008" marT="64008" marB="64008">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4F7FB"/>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Même téléphone</a:t>
                      </a:r>
                      <a:endParaRPr lang="en-US" sz="1100" dirty="0">
                        <a:latin typeface="Calibri" charset="0"/>
                        <a:ea typeface="Calibri" charset="0"/>
                        <a:cs typeface="Calibri" charset="0"/>
                      </a:endParaRPr>
                    </a:p>
                  </a:txBody>
                  <a:tcPr marL="64008" marR="64008" marT="64008" marB="64008">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4F7FB"/>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 Votre envoi de X sera exécuté dans N min. »</a:t>
                      </a:r>
                      <a:endParaRPr lang="en-US" sz="1100" dirty="0">
                        <a:latin typeface="Calibri" charset="0"/>
                        <a:ea typeface="Calibri" charset="0"/>
                        <a:cs typeface="Calibri" charset="0"/>
                      </a:endParaRPr>
                    </a:p>
                  </a:txBody>
                  <a:tcPr marL="64008" marR="64008" marT="64008" marB="64008">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4F7FB"/>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 Annuler »</a:t>
                      </a:r>
                      <a:endParaRPr lang="en-US" sz="1100" dirty="0">
                        <a:latin typeface="Calibri" charset="0"/>
                        <a:ea typeface="Calibri" charset="0"/>
                        <a:cs typeface="Calibri" charset="0"/>
                      </a:endParaRPr>
                    </a:p>
                  </a:txBody>
                  <a:tcPr marL="64008" marR="64008" marT="64008" marB="64008">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4F7FB"/>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Annulation</a:t>
                      </a:r>
                      <a:endParaRPr lang="en-US" sz="1100" dirty="0">
                        <a:latin typeface="Calibri" charset="0"/>
                        <a:ea typeface="Calibri" charset="0"/>
                        <a:cs typeface="Calibri" charset="0"/>
                      </a:endParaRPr>
                    </a:p>
                  </a:txBody>
                  <a:tcPr marL="64008" marR="64008" marT="64008" marB="64008">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4F7FB"/>
                    </a:solidFill>
                  </a:tcPr>
                </a:tc>
              </a:tr>
              <a:tr h="548640">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Envoi bloqué (FREEZE)</a:t>
                      </a:r>
                      <a:endParaRPr lang="en-US" sz="1100" dirty="0">
                        <a:latin typeface="Calibri" charset="0"/>
                        <a:ea typeface="Calibri" charset="0"/>
                        <a:cs typeface="Calibri" charset="0"/>
                      </a:endParaRPr>
                    </a:p>
                  </a:txBody>
                  <a:tcPr marL="64008" marR="64008" marT="64008" marB="64008">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FFFFF"/>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Téléphone lié</a:t>
                      </a:r>
                      <a:endParaRPr lang="en-US" sz="1100" dirty="0">
                        <a:latin typeface="Calibri" charset="0"/>
                        <a:ea typeface="Calibri" charset="0"/>
                        <a:cs typeface="Calibri" charset="0"/>
                      </a:endParaRPr>
                    </a:p>
                  </a:txBody>
                  <a:tcPr marL="64008" marR="64008" marT="64008" marB="64008">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FFFFF"/>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 Une opération a été bloquée pour votre sécurité. »</a:t>
                      </a:r>
                      <a:endParaRPr lang="en-US" sz="1100" dirty="0">
                        <a:latin typeface="Calibri" charset="0"/>
                        <a:ea typeface="Calibri" charset="0"/>
                        <a:cs typeface="Calibri" charset="0"/>
                      </a:endParaRPr>
                    </a:p>
                  </a:txBody>
                  <a:tcPr marL="64008" marR="64008" marT="64008" marB="64008">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FFFFF"/>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 Voir »</a:t>
                      </a:r>
                      <a:endParaRPr lang="en-US" sz="1100" dirty="0">
                        <a:latin typeface="Calibri" charset="0"/>
                        <a:ea typeface="Calibri" charset="0"/>
                        <a:cs typeface="Calibri" charset="0"/>
                      </a:endParaRPr>
                    </a:p>
                  </a:txBody>
                  <a:tcPr marL="64008" marR="64008" marT="64008" marB="64008">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FFFFF"/>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Information</a:t>
                      </a:r>
                      <a:endParaRPr lang="en-US" sz="1100" dirty="0">
                        <a:latin typeface="Calibri" charset="0"/>
                        <a:ea typeface="Calibri" charset="0"/>
                        <a:cs typeface="Calibri" charset="0"/>
                      </a:endParaRPr>
                    </a:p>
                  </a:txBody>
                  <a:tcPr marL="64008" marR="64008" marT="64008" marB="64008">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FFFFF"/>
                    </a:solidFill>
                  </a:tcPr>
                </a:tc>
              </a:tr>
              <a:tr h="548640">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Clé révoquée</a:t>
                      </a:r>
                      <a:endParaRPr lang="en-US" sz="1100" dirty="0">
                        <a:latin typeface="Calibri" charset="0"/>
                        <a:ea typeface="Calibri" charset="0"/>
                        <a:cs typeface="Calibri" charset="0"/>
                      </a:endParaRPr>
                    </a:p>
                  </a:txBody>
                  <a:tcPr marL="64008" marR="64008" marT="64008" marB="64008">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4F7FB"/>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Téléphone révoqué</a:t>
                      </a:r>
                      <a:endParaRPr lang="en-US" sz="1100" dirty="0">
                        <a:latin typeface="Calibri" charset="0"/>
                        <a:ea typeface="Calibri" charset="0"/>
                        <a:cs typeface="Calibri" charset="0"/>
                      </a:endParaRPr>
                    </a:p>
                  </a:txBody>
                  <a:tcPr marL="64008" marR="64008" marT="64008" marB="64008">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4F7FB"/>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 Cet appareil n'est plus la clé de votre compte. »</a:t>
                      </a:r>
                      <a:endParaRPr lang="en-US" sz="1100" dirty="0">
                        <a:latin typeface="Calibri" charset="0"/>
                        <a:ea typeface="Calibri" charset="0"/>
                        <a:cs typeface="Calibri" charset="0"/>
                      </a:endParaRPr>
                    </a:p>
                  </a:txBody>
                  <a:tcPr marL="64008" marR="64008" marT="64008" marB="64008">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4F7FB"/>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 Sécuriser à nouveau »</a:t>
                      </a:r>
                      <a:endParaRPr lang="en-US" sz="1100" dirty="0">
                        <a:latin typeface="Calibri" charset="0"/>
                        <a:ea typeface="Calibri" charset="0"/>
                        <a:cs typeface="Calibri" charset="0"/>
                      </a:endParaRPr>
                    </a:p>
                  </a:txBody>
                  <a:tcPr marL="64008" marR="64008" marT="64008" marB="64008">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4F7FB"/>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Flux D</a:t>
                      </a:r>
                      <a:endParaRPr lang="en-US" sz="1100" dirty="0">
                        <a:latin typeface="Calibri" charset="0"/>
                        <a:ea typeface="Calibri" charset="0"/>
                        <a:cs typeface="Calibri" charset="0"/>
                      </a:endParaRPr>
                    </a:p>
                  </a:txBody>
                  <a:tcPr marL="64008" marR="64008" marT="64008" marB="64008">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4F7FB"/>
                    </a:solidFill>
                  </a:tcPr>
                </a:tc>
              </a:tr>
            </a:tbl>
          </a:graphicData>
        </a:graphic>
      </p:graphicFrame>
      <p:sp>
        <p:nvSpPr>
          <p:cNvPr id="5" name="Text 2"/>
          <p:cNvSpPr txBox="1"/>
          <p:nvPr/>
        </p:nvSpPr>
        <p:spPr>
          <a:xfrm>
            <a:off x="457200" y="5806440"/>
            <a:ext cx="11247120" cy="457200"/>
          </a:xfrm>
          <a:prstGeom prst="rect">
            <a:avLst/>
          </a:prstGeom>
          <a:noFill/>
          <a:ln/>
        </p:spPr>
        <p:txBody>
          <a:bodyPr wrap="square" lIns="0" tIns="0" rIns="0" bIns="0" rtlCol="0" anchor="ctr"/>
          <a:lstStyle/>
          <a:p>
            <a:pPr indent="0" marL="0">
              <a:buNone/>
            </a:pPr>
            <a:r>
              <a:rPr lang="en-US" sz="1100" i="1" dirty="0">
                <a:solidFill>
                  <a:srgbClr val="5C6B7A"/>
                </a:solidFill>
                <a:latin typeface="Calibri" pitchFamily="34" charset="0"/>
                <a:ea typeface="Calibri" pitchFamily="34" charset="-122"/>
                <a:cs typeface="Calibri" pitchFamily="34" charset="-120"/>
              </a:rPr>
              <a:t>Limite déclarée : application fermée, l'alerte arrive avec retard (au mieux toutes les 15 minutes en arrière-plan, limite Android). En production réelle, on utiliserait FCM.</a:t>
            </a:r>
            <a:endParaRPr lang="en-US" sz="1100" dirty="0"/>
          </a:p>
        </p:txBody>
      </p:sp>
      <p:sp>
        <p:nvSpPr>
          <p:cNvPr id="6" name="Text 3"/>
          <p:cNvSpPr txBox="1"/>
          <p:nvPr/>
        </p:nvSpPr>
        <p:spPr>
          <a:xfrm>
            <a:off x="457200" y="6446520"/>
            <a:ext cx="8229600" cy="274320"/>
          </a:xfrm>
          <a:prstGeom prst="rect">
            <a:avLst/>
          </a:prstGeom>
          <a:noFill/>
          <a:ln/>
        </p:spPr>
        <p:txBody>
          <a:bodyPr wrap="square" lIns="0" tIns="0" rIns="0" bIns="0" rtlCol="0" anchor="ctr"/>
          <a:lstStyle/>
          <a:p>
            <a:pPr indent="0" marL="0">
              <a:buNone/>
            </a:pPr>
            <a:r>
              <a:rPr lang="en-US" sz="900" dirty="0">
                <a:solidFill>
                  <a:srgbClr val="5C6B7A"/>
                </a:solidFill>
                <a:latin typeface="Calibri" pitchFamily="34" charset="0"/>
                <a:ea typeface="Calibri" pitchFamily="34" charset="-122"/>
                <a:cs typeface="Calibri" pitchFamily="34" charset="-120"/>
              </a:rPr>
              <a:t>IdentiShield-CM · Dossier de design de l'application mobile · v1.0 · 25/09/2026</a:t>
            </a:r>
            <a:endParaRPr lang="en-US" sz="900" dirty="0"/>
          </a:p>
        </p:txBody>
      </p:sp>
      <p:sp>
        <p:nvSpPr>
          <p:cNvPr id="7" name="Text 4"/>
          <p:cNvSpPr txBox="1"/>
          <p:nvPr/>
        </p:nvSpPr>
        <p:spPr>
          <a:xfrm>
            <a:off x="11247120" y="6446520"/>
            <a:ext cx="548640" cy="274320"/>
          </a:xfrm>
          <a:prstGeom prst="rect">
            <a:avLst/>
          </a:prstGeom>
          <a:noFill/>
          <a:ln/>
        </p:spPr>
        <p:txBody>
          <a:bodyPr wrap="square" lIns="0" tIns="0" rIns="0" bIns="0"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3000" b="1" dirty="0">
                <a:solidFill>
                  <a:srgbClr val="10375C"/>
                </a:solidFill>
                <a:latin typeface="Calibri" pitchFamily="34" charset="0"/>
                <a:ea typeface="Calibri" pitchFamily="34" charset="-122"/>
                <a:cs typeface="Calibri" pitchFamily="34" charset="-120"/>
              </a:rPr>
              <a:t>Écrans de service : sécurité, clé perdue, erreurs</a:t>
            </a:r>
            <a:endParaRPr lang="en-US" sz="3000" dirty="0"/>
          </a:p>
        </p:txBody>
      </p:sp>
      <p:sp>
        <p:nvSpPr>
          <p:cNvPr id="3" name="Text 1"/>
          <p:cNvSpPr txBox="1"/>
          <p:nvPr/>
        </p:nvSpPr>
        <p:spPr>
          <a:xfrm>
            <a:off x="457200" y="914400"/>
            <a:ext cx="11247120" cy="365760"/>
          </a:xfrm>
          <a:prstGeom prst="rect">
            <a:avLst/>
          </a:prstGeom>
          <a:noFill/>
          <a:ln/>
        </p:spPr>
        <p:txBody>
          <a:bodyPr wrap="square" lIns="0" tIns="0" rIns="0" bIns="0" rtlCol="0" anchor="ctr"/>
          <a:lstStyle/>
          <a:p>
            <a:pPr indent="0" marL="0">
              <a:buNone/>
            </a:pPr>
            <a:r>
              <a:rPr lang="en-US" sz="1400" dirty="0">
                <a:solidFill>
                  <a:srgbClr val="5C6B7A"/>
                </a:solidFill>
                <a:latin typeface="Calibri" pitchFamily="34" charset="0"/>
                <a:ea typeface="Calibri" pitchFamily="34" charset="-122"/>
                <a:cs typeface="Calibri" pitchFamily="34" charset="-120"/>
              </a:rPr>
              <a:t>Ce que l'usager trouve en dehors des parcours principaux. Chaque erreur dit quoi faire, sans jargon, et rappelle que le compte reste utilisable par USSD.</a:t>
            </a:r>
            <a:endParaRPr lang="en-US" sz="1400" dirty="0"/>
          </a:p>
        </p:txBody>
      </p:sp>
      <p:pic>
        <p:nvPicPr>
          <p:cNvPr id="4" name="Image 0" descr="/home/claude/design/out/E25.png">    </p:cNvPr>
          <p:cNvPicPr>
            <a:picLocks noChangeAspect="1"/>
          </p:cNvPicPr>
          <p:nvPr/>
        </p:nvPicPr>
        <p:blipFill>
          <a:blip r:embed="rId1"/>
          <a:stretch>
            <a:fillRect/>
          </a:stretch>
        </p:blipFill>
        <p:spPr>
          <a:xfrm>
            <a:off x="457200" y="1417320"/>
            <a:ext cx="1804182" cy="3703320"/>
          </a:xfrm>
          <a:prstGeom prst="rect">
            <a:avLst/>
          </a:prstGeom>
        </p:spPr>
      </p:pic>
      <p:sp>
        <p:nvSpPr>
          <p:cNvPr id="5" name="Text 2"/>
          <p:cNvSpPr txBox="1"/>
          <p:nvPr/>
        </p:nvSpPr>
        <p:spPr>
          <a:xfrm>
            <a:off x="320040" y="5166360"/>
            <a:ext cx="2078502" cy="457200"/>
          </a:xfrm>
          <a:prstGeom prst="rect">
            <a:avLst/>
          </a:prstGeom>
          <a:noFill/>
          <a:ln/>
        </p:spPr>
        <p:txBody>
          <a:bodyPr wrap="square" lIns="0" tIns="0" rIns="0" bIns="0" rtlCol="0" anchor="t"/>
          <a:lstStyle/>
          <a:p>
            <a:pPr algn="ctr" indent="0" marL="0">
              <a:buNone/>
            </a:pPr>
            <a:r>
              <a:rPr lang="en-US" sz="1050" dirty="0">
                <a:solidFill>
                  <a:srgbClr val="14213D"/>
                </a:solidFill>
                <a:latin typeface="Calibri" pitchFamily="34" charset="0"/>
                <a:ea typeface="Calibri" pitchFamily="34" charset="-122"/>
                <a:cs typeface="Calibri" pitchFamily="34" charset="-120"/>
              </a:rPr>
              <a:t>E-25 Sécurité : appareil lié, régénérer, délier, mode démo, langue</a:t>
            </a:r>
            <a:endParaRPr lang="en-US" sz="1050" dirty="0"/>
          </a:p>
        </p:txBody>
      </p:sp>
      <p:pic>
        <p:nvPicPr>
          <p:cNvPr id="6" name="Image 1" descr="/home/claude/design/out/E26.png">    </p:cNvPr>
          <p:cNvPicPr>
            <a:picLocks noChangeAspect="1"/>
          </p:cNvPicPr>
          <p:nvPr/>
        </p:nvPicPr>
        <p:blipFill>
          <a:blip r:embed="rId2"/>
          <a:stretch>
            <a:fillRect/>
          </a:stretch>
        </p:blipFill>
        <p:spPr>
          <a:xfrm>
            <a:off x="2535702" y="1417320"/>
            <a:ext cx="1804182" cy="3703320"/>
          </a:xfrm>
          <a:prstGeom prst="rect">
            <a:avLst/>
          </a:prstGeom>
        </p:spPr>
      </p:pic>
      <p:sp>
        <p:nvSpPr>
          <p:cNvPr id="7" name="Text 3"/>
          <p:cNvSpPr txBox="1"/>
          <p:nvPr/>
        </p:nvSpPr>
        <p:spPr>
          <a:xfrm>
            <a:off x="2398542" y="5166360"/>
            <a:ext cx="2078502" cy="457200"/>
          </a:xfrm>
          <a:prstGeom prst="rect">
            <a:avLst/>
          </a:prstGeom>
          <a:noFill/>
          <a:ln/>
        </p:spPr>
        <p:txBody>
          <a:bodyPr wrap="square" lIns="0" tIns="0" rIns="0" bIns="0" rtlCol="0" anchor="t"/>
          <a:lstStyle/>
          <a:p>
            <a:pPr algn="ctr" indent="0" marL="0">
              <a:buNone/>
            </a:pPr>
            <a:r>
              <a:rPr lang="en-US" sz="1050" dirty="0">
                <a:solidFill>
                  <a:srgbClr val="14213D"/>
                </a:solidFill>
                <a:latin typeface="Calibri" pitchFamily="34" charset="0"/>
                <a:ea typeface="Calibri" pitchFamily="34" charset="-122"/>
                <a:cs typeface="Calibri" pitchFamily="34" charset="-120"/>
              </a:rPr>
              <a:t>E-26 Clé perdue : orientation (QM-05 ouvert)</a:t>
            </a:r>
            <a:endParaRPr lang="en-US" sz="1050" dirty="0"/>
          </a:p>
        </p:txBody>
      </p:sp>
      <p:pic>
        <p:nvPicPr>
          <p:cNvPr id="8" name="Image 2" descr="/home/claude/design/out/E27a.png">    </p:cNvPr>
          <p:cNvPicPr>
            <a:picLocks noChangeAspect="1"/>
          </p:cNvPicPr>
          <p:nvPr/>
        </p:nvPicPr>
        <p:blipFill>
          <a:blip r:embed="rId3"/>
          <a:stretch>
            <a:fillRect/>
          </a:stretch>
        </p:blipFill>
        <p:spPr>
          <a:xfrm>
            <a:off x="4614203" y="1417320"/>
            <a:ext cx="1804182" cy="3703320"/>
          </a:xfrm>
          <a:prstGeom prst="rect">
            <a:avLst/>
          </a:prstGeom>
        </p:spPr>
      </p:pic>
      <p:sp>
        <p:nvSpPr>
          <p:cNvPr id="9" name="Text 4"/>
          <p:cNvSpPr txBox="1"/>
          <p:nvPr/>
        </p:nvSpPr>
        <p:spPr>
          <a:xfrm>
            <a:off x="4477043" y="5166360"/>
            <a:ext cx="2078502" cy="457200"/>
          </a:xfrm>
          <a:prstGeom prst="rect">
            <a:avLst/>
          </a:prstGeom>
          <a:noFill/>
          <a:ln/>
        </p:spPr>
        <p:txBody>
          <a:bodyPr wrap="square" lIns="0" tIns="0" rIns="0" bIns="0" rtlCol="0" anchor="t"/>
          <a:lstStyle/>
          <a:p>
            <a:pPr algn="ctr" indent="0" marL="0">
              <a:buNone/>
            </a:pPr>
            <a:r>
              <a:rPr lang="en-US" sz="1050" dirty="0">
                <a:solidFill>
                  <a:srgbClr val="14213D"/>
                </a:solidFill>
                <a:latin typeface="Calibri" pitchFamily="34" charset="0"/>
                <a:ea typeface="Calibri" pitchFamily="34" charset="-122"/>
                <a:cs typeface="Calibri" pitchFamily="34" charset="-120"/>
              </a:rPr>
              <a:t>E-27 Appareil délié : informatif</a:t>
            </a:r>
            <a:endParaRPr lang="en-US" sz="1050" dirty="0"/>
          </a:p>
        </p:txBody>
      </p:sp>
      <p:pic>
        <p:nvPicPr>
          <p:cNvPr id="10" name="Image 3" descr="/home/claude/design/out/E27b.png">    </p:cNvPr>
          <p:cNvPicPr>
            <a:picLocks noChangeAspect="1"/>
          </p:cNvPicPr>
          <p:nvPr/>
        </p:nvPicPr>
        <p:blipFill>
          <a:blip r:embed="rId4"/>
          <a:stretch>
            <a:fillRect/>
          </a:stretch>
        </p:blipFill>
        <p:spPr>
          <a:xfrm>
            <a:off x="6692705" y="1417320"/>
            <a:ext cx="1804182" cy="3703320"/>
          </a:xfrm>
          <a:prstGeom prst="rect">
            <a:avLst/>
          </a:prstGeom>
        </p:spPr>
      </p:pic>
      <p:sp>
        <p:nvSpPr>
          <p:cNvPr id="11" name="Text 5"/>
          <p:cNvSpPr txBox="1"/>
          <p:nvPr/>
        </p:nvSpPr>
        <p:spPr>
          <a:xfrm>
            <a:off x="6555545" y="5166360"/>
            <a:ext cx="2078502" cy="457200"/>
          </a:xfrm>
          <a:prstGeom prst="rect">
            <a:avLst/>
          </a:prstGeom>
          <a:noFill/>
          <a:ln/>
        </p:spPr>
        <p:txBody>
          <a:bodyPr wrap="square" lIns="0" tIns="0" rIns="0" bIns="0" rtlCol="0" anchor="t"/>
          <a:lstStyle/>
          <a:p>
            <a:pPr algn="ctr" indent="0" marL="0">
              <a:buNone/>
            </a:pPr>
            <a:r>
              <a:rPr lang="en-US" sz="1050" dirty="0">
                <a:solidFill>
                  <a:srgbClr val="14213D"/>
                </a:solidFill>
                <a:latin typeface="Calibri" pitchFamily="34" charset="0"/>
                <a:ea typeface="Calibri" pitchFamily="34" charset="-122"/>
                <a:cs typeface="Calibri" pitchFamily="34" charset="-120"/>
              </a:rPr>
              <a:t>E-27 Téléphone incompatible</a:t>
            </a:r>
            <a:endParaRPr lang="en-US" sz="1050" dirty="0"/>
          </a:p>
        </p:txBody>
      </p:sp>
      <p:sp>
        <p:nvSpPr>
          <p:cNvPr id="12" name="Shape 6"/>
          <p:cNvSpPr/>
          <p:nvPr/>
        </p:nvSpPr>
        <p:spPr>
          <a:xfrm>
            <a:off x="8908366" y="1417320"/>
            <a:ext cx="2795954" cy="4754880"/>
          </a:xfrm>
          <a:prstGeom prst="roundRect">
            <a:avLst>
              <a:gd name="adj" fmla="val 3925"/>
            </a:avLst>
          </a:prstGeom>
          <a:solidFill>
            <a:srgbClr val="E8F1F8"/>
          </a:solidFill>
          <a:ln w="9525">
            <a:solidFill>
              <a:srgbClr val="DCE3EC"/>
            </a:solidFill>
            <a:prstDash val="solid"/>
          </a:ln>
        </p:spPr>
      </p:sp>
      <p:sp>
        <p:nvSpPr>
          <p:cNvPr id="13" name="Text 7"/>
          <p:cNvSpPr txBox="1"/>
          <p:nvPr/>
        </p:nvSpPr>
        <p:spPr>
          <a:xfrm>
            <a:off x="9109534" y="1554480"/>
            <a:ext cx="2393618" cy="4526280"/>
          </a:xfrm>
          <a:prstGeom prst="rect">
            <a:avLst/>
          </a:prstGeom>
          <a:noFill/>
          <a:ln/>
        </p:spPr>
        <p:txBody>
          <a:bodyPr wrap="square" lIns="0" tIns="0" rIns="0" bIns="0" rtlCol="0" anchor="t"/>
          <a:lstStyle/>
          <a:p>
            <a:pPr indent="0" marL="0">
              <a:spcAft>
                <a:spcPts val="300"/>
              </a:spcAft>
              <a:buNone/>
            </a:pPr>
            <a:r>
              <a:rPr lang="en-US" sz="1300" b="1" dirty="0">
                <a:solidFill>
                  <a:srgbClr val="14213D"/>
                </a:solidFill>
                <a:latin typeface="Calibri" pitchFamily="34" charset="0"/>
                <a:ea typeface="Calibri" pitchFamily="34" charset="-122"/>
                <a:cs typeface="Calibri" pitchFamily="34" charset="-120"/>
              </a:rPr>
              <a:t>Points de design</a:t>
            </a:r>
            <a:endParaRPr lang="en-US" sz="1050" dirty="0"/>
          </a:p>
          <a:p>
            <a:pPr marL="342900" indent="-342900">
              <a:spcAft>
                <a:spcPts val="300"/>
              </a:spcAft>
              <a:buSzPct val="100000"/>
              <a:buChar char="•"/>
            </a:pPr>
            <a:r>
              <a:rPr lang="en-US" sz="1050" dirty="0">
                <a:solidFill>
                  <a:srgbClr val="14213D"/>
                </a:solidFill>
                <a:latin typeface="Calibri" pitchFamily="34" charset="0"/>
                <a:ea typeface="Calibri" pitchFamily="34" charset="-122"/>
                <a:cs typeface="Calibri" pitchFamily="34" charset="-120"/>
              </a:rPr>
              <a:t>E-25 répète l'avertissement : désinstaller détruit la clé. « Délier » ramène à un premier enrôlement (le compte n'a plus de clé).</a:t>
            </a:r>
            <a:endParaRPr lang="en-US" sz="1050" dirty="0"/>
          </a:p>
          <a:p>
            <a:pPr marL="342900" indent="-342900">
              <a:spcAft>
                <a:spcPts val="300"/>
              </a:spcAft>
              <a:buSzPct val="100000"/>
              <a:buChar char="•"/>
            </a:pPr>
            <a:r>
              <a:rPr lang="en-US" sz="1050" dirty="0">
                <a:solidFill>
                  <a:srgbClr val="14213D"/>
                </a:solidFill>
                <a:latin typeface="Calibri" pitchFamily="34" charset="0"/>
                <a:ea typeface="Calibri" pitchFamily="34" charset="-122"/>
                <a:cs typeface="Calibri" pitchFamily="34" charset="-120"/>
              </a:rPr>
              <a:t>E-26 ne promet rien que le système ne sait pas faire : la procédure « clé perdue » est un point ouvert (QM-05), écrit comme tel.</a:t>
            </a:r>
            <a:endParaRPr lang="en-US" sz="1050" dirty="0"/>
          </a:p>
          <a:p>
            <a:pPr marL="342900" indent="-342900">
              <a:spcAft>
                <a:spcPts val="300"/>
              </a:spcAft>
              <a:buSzPct val="100000"/>
              <a:buChar char="•"/>
            </a:pPr>
            <a:r>
              <a:rPr lang="en-US" sz="1050" dirty="0">
                <a:solidFill>
                  <a:srgbClr val="14213D"/>
                </a:solidFill>
                <a:latin typeface="Calibri" pitchFamily="34" charset="0"/>
                <a:ea typeface="Calibri" pitchFamily="34" charset="-122"/>
                <a:cs typeface="Calibri" pitchFamily="34" charset="-120"/>
              </a:rPr>
              <a:t>E-27 « n'est plus la clé » : aucune action possible depuis un téléphone révoqué (il peut être entre les mains d'un voleur) ; orientation vers un agent.</a:t>
            </a:r>
            <a:endParaRPr lang="en-US" sz="1050" dirty="0"/>
          </a:p>
          <a:p>
            <a:pPr marL="342900" indent="-342900">
              <a:spcAft>
                <a:spcPts val="300"/>
              </a:spcAft>
              <a:buSzPct val="100000"/>
              <a:buChar char="•"/>
            </a:pPr>
            <a:r>
              <a:rPr lang="en-US" sz="1050" dirty="0">
                <a:solidFill>
                  <a:srgbClr val="14213D"/>
                </a:solidFill>
                <a:latin typeface="Calibri" pitchFamily="34" charset="0"/>
                <a:ea typeface="Calibri" pitchFamily="34" charset="-122"/>
                <a:cs typeface="Calibri" pitchFamily="34" charset="-120"/>
              </a:rPr>
              <a:t>E-27 « incompatible » : Android 11 minimum et puce sécurisée ; sinon l'usager reste en USSD, surveillé par le PDP. Langues : français et anglais (MOB-F-17).</a:t>
            </a:r>
            <a:endParaRPr lang="en-US" sz="1050" dirty="0"/>
          </a:p>
        </p:txBody>
      </p:sp>
      <p:sp>
        <p:nvSpPr>
          <p:cNvPr id="14" name="Text 8"/>
          <p:cNvSpPr txBox="1"/>
          <p:nvPr/>
        </p:nvSpPr>
        <p:spPr>
          <a:xfrm>
            <a:off x="457200" y="6446520"/>
            <a:ext cx="8229600" cy="274320"/>
          </a:xfrm>
          <a:prstGeom prst="rect">
            <a:avLst/>
          </a:prstGeom>
          <a:noFill/>
          <a:ln/>
        </p:spPr>
        <p:txBody>
          <a:bodyPr wrap="square" lIns="0" tIns="0" rIns="0" bIns="0" rtlCol="0" anchor="ctr"/>
          <a:lstStyle/>
          <a:p>
            <a:pPr indent="0" marL="0">
              <a:buNone/>
            </a:pPr>
            <a:r>
              <a:rPr lang="en-US" sz="900" dirty="0">
                <a:solidFill>
                  <a:srgbClr val="5C6B7A"/>
                </a:solidFill>
                <a:latin typeface="Calibri" pitchFamily="34" charset="0"/>
                <a:ea typeface="Calibri" pitchFamily="34" charset="-122"/>
                <a:cs typeface="Calibri" pitchFamily="34" charset="-120"/>
              </a:rPr>
              <a:t>IdentiShield-CM · Dossier de design de l'application mobile · v1.0 · 25/09/2026</a:t>
            </a:r>
            <a:endParaRPr lang="en-US" sz="900" dirty="0"/>
          </a:p>
        </p:txBody>
      </p:sp>
      <p:sp>
        <p:nvSpPr>
          <p:cNvPr id="15" name="Text 9"/>
          <p:cNvSpPr txBox="1"/>
          <p:nvPr/>
        </p:nvSpPr>
        <p:spPr>
          <a:xfrm>
            <a:off x="11247120" y="6446520"/>
            <a:ext cx="548640" cy="274320"/>
          </a:xfrm>
          <a:prstGeom prst="rect">
            <a:avLst/>
          </a:prstGeom>
          <a:noFill/>
          <a:ln/>
        </p:spPr>
        <p:txBody>
          <a:bodyPr wrap="square" lIns="0" tIns="0" rIns="0" bIns="0"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3000" b="1" dirty="0">
                <a:solidFill>
                  <a:srgbClr val="10375C"/>
                </a:solidFill>
                <a:latin typeface="Calibri" pitchFamily="34" charset="0"/>
                <a:ea typeface="Calibri" pitchFamily="34" charset="-122"/>
                <a:cs typeface="Calibri" pitchFamily="34" charset="-120"/>
              </a:rPr>
              <a:t>Composants et états</a:t>
            </a:r>
            <a:endParaRPr lang="en-US" sz="3000" dirty="0"/>
          </a:p>
        </p:txBody>
      </p:sp>
      <p:sp>
        <p:nvSpPr>
          <p:cNvPr id="3" name="Text 1"/>
          <p:cNvSpPr txBox="1"/>
          <p:nvPr/>
        </p:nvSpPr>
        <p:spPr>
          <a:xfrm>
            <a:off x="457200" y="914400"/>
            <a:ext cx="11247120" cy="365760"/>
          </a:xfrm>
          <a:prstGeom prst="rect">
            <a:avLst/>
          </a:prstGeom>
          <a:noFill/>
          <a:ln/>
        </p:spPr>
        <p:txBody>
          <a:bodyPr wrap="square" lIns="0" tIns="0" rIns="0" bIns="0" rtlCol="0" anchor="ctr"/>
          <a:lstStyle/>
          <a:p>
            <a:pPr indent="0" marL="0">
              <a:buNone/>
            </a:pPr>
            <a:r>
              <a:rPr lang="en-US" sz="1400" dirty="0">
                <a:solidFill>
                  <a:srgbClr val="5C6B7A"/>
                </a:solidFill>
                <a:latin typeface="Calibri" pitchFamily="34" charset="0"/>
                <a:ea typeface="Calibri" pitchFamily="34" charset="-122"/>
                <a:cs typeface="Calibri" pitchFamily="34" charset="-120"/>
              </a:rPr>
              <a:t>Un seul système : mêmes boutons, mêmes champs, mêmes badges, mêmes encadrés sur les 27 écrans. Chaque couleur a un sens, jamais un rôle décoratif.</a:t>
            </a:r>
            <a:endParaRPr lang="en-US" sz="1400" dirty="0"/>
          </a:p>
        </p:txBody>
      </p:sp>
      <p:pic>
        <p:nvPicPr>
          <p:cNvPr id="4" name="Image 0" descr="/home/claude/design/out/components.png">    </p:cNvPr>
          <p:cNvPicPr>
            <a:picLocks noChangeAspect="1"/>
          </p:cNvPicPr>
          <p:nvPr/>
        </p:nvPicPr>
        <p:blipFill>
          <a:blip r:embed="rId1"/>
          <a:stretch>
            <a:fillRect/>
          </a:stretch>
        </p:blipFill>
        <p:spPr>
          <a:xfrm>
            <a:off x="457200" y="1417320"/>
            <a:ext cx="7680960" cy="3520440"/>
          </a:xfrm>
          <a:prstGeom prst="rect">
            <a:avLst/>
          </a:prstGeom>
        </p:spPr>
      </p:pic>
      <p:sp>
        <p:nvSpPr>
          <p:cNvPr id="5" name="Shape 2"/>
          <p:cNvSpPr/>
          <p:nvPr/>
        </p:nvSpPr>
        <p:spPr>
          <a:xfrm>
            <a:off x="8412480" y="1417320"/>
            <a:ext cx="3291840" cy="4754880"/>
          </a:xfrm>
          <a:prstGeom prst="roundRect">
            <a:avLst>
              <a:gd name="adj" fmla="val 3333"/>
            </a:avLst>
          </a:prstGeom>
          <a:solidFill>
            <a:srgbClr val="F4F7FB"/>
          </a:solidFill>
          <a:ln w="9525">
            <a:solidFill>
              <a:srgbClr val="DCE3EC"/>
            </a:solidFill>
            <a:prstDash val="solid"/>
          </a:ln>
        </p:spPr>
      </p:sp>
      <p:sp>
        <p:nvSpPr>
          <p:cNvPr id="6" name="Text 3"/>
          <p:cNvSpPr txBox="1"/>
          <p:nvPr/>
        </p:nvSpPr>
        <p:spPr>
          <a:xfrm>
            <a:off x="8641080" y="1572768"/>
            <a:ext cx="2834640" cy="4480560"/>
          </a:xfrm>
          <a:prstGeom prst="rect">
            <a:avLst/>
          </a:prstGeom>
          <a:noFill/>
          <a:ln/>
        </p:spPr>
        <p:txBody>
          <a:bodyPr wrap="square" lIns="0" tIns="0" rIns="0" bIns="0" rtlCol="0" anchor="t"/>
          <a:lstStyle/>
          <a:p>
            <a:pPr indent="0" marL="0">
              <a:spcAft>
                <a:spcPts val="400"/>
              </a:spcAft>
              <a:buNone/>
            </a:pPr>
            <a:r>
              <a:rPr lang="en-US" sz="1350" b="1" dirty="0">
                <a:solidFill>
                  <a:srgbClr val="14213D"/>
                </a:solidFill>
                <a:latin typeface="Calibri" pitchFamily="34" charset="0"/>
                <a:ea typeface="Calibri" pitchFamily="34" charset="-122"/>
                <a:cs typeface="Calibri" pitchFamily="34" charset="-120"/>
              </a:rPr>
              <a:t>Règles</a:t>
            </a:r>
            <a:endParaRPr lang="en-US" sz="1100" dirty="0"/>
          </a:p>
          <a:p>
            <a:pPr marL="342900" indent="-342900">
              <a:spcAft>
                <a:spcPts val="400"/>
              </a:spcAft>
              <a:buSzPct val="100000"/>
              <a:buChar char="•"/>
            </a:pPr>
            <a:r>
              <a:rPr lang="en-US" sz="1100" dirty="0">
                <a:solidFill>
                  <a:srgbClr val="14213D"/>
                </a:solidFill>
                <a:latin typeface="Calibri" pitchFamily="34" charset="0"/>
                <a:ea typeface="Calibri" pitchFamily="34" charset="-122"/>
                <a:cs typeface="Calibri" pitchFamily="34" charset="-120"/>
              </a:rPr>
              <a:t>Un seul bouton principal par écran ; l'action dangereuse est toujours rouge et jamais la première.</a:t>
            </a:r>
            <a:endParaRPr lang="en-US" sz="1100" dirty="0"/>
          </a:p>
          <a:p>
            <a:pPr marL="342900" indent="-342900">
              <a:spcAft>
                <a:spcPts val="400"/>
              </a:spcAft>
              <a:buSzPct val="100000"/>
              <a:buChar char="•"/>
            </a:pPr>
            <a:r>
              <a:rPr lang="en-US" sz="1100" dirty="0">
                <a:solidFill>
                  <a:srgbClr val="14213D"/>
                </a:solidFill>
                <a:latin typeface="Calibri" pitchFamily="34" charset="0"/>
                <a:ea typeface="Calibri" pitchFamily="34" charset="-122"/>
                <a:cs typeface="Calibri" pitchFamily="34" charset="-120"/>
              </a:rPr>
              <a:t>Les deux réponses d'alerte ont des couleurs opposées et des libellés complets (« Oui, c'est moi » / « Non, ce n'est pas moi ») : pas de « OK / Annuler ».</a:t>
            </a:r>
            <a:endParaRPr lang="en-US" sz="1100" dirty="0"/>
          </a:p>
          <a:p>
            <a:pPr marL="342900" indent="-342900">
              <a:spcAft>
                <a:spcPts val="400"/>
              </a:spcAft>
              <a:buSzPct val="100000"/>
              <a:buChar char="•"/>
            </a:pPr>
            <a:r>
              <a:rPr lang="en-US" sz="1100" dirty="0">
                <a:solidFill>
                  <a:srgbClr val="14213D"/>
                </a:solidFill>
                <a:latin typeface="Calibri" pitchFamily="34" charset="0"/>
                <a:ea typeface="Calibri" pitchFamily="34" charset="-122"/>
                <a:cs typeface="Calibri" pitchFamily="34" charset="-120"/>
              </a:rPr>
              <a:t>Le PIN n'est jamais affiché ; la clé de récupération est en monospace, groupée par 4, sans copie.</a:t>
            </a:r>
            <a:endParaRPr lang="en-US" sz="1100" dirty="0"/>
          </a:p>
          <a:p>
            <a:pPr marL="342900" indent="-342900">
              <a:spcAft>
                <a:spcPts val="400"/>
              </a:spcAft>
              <a:buSzPct val="100000"/>
              <a:buChar char="•"/>
            </a:pPr>
            <a:r>
              <a:rPr lang="en-US" sz="1100" dirty="0">
                <a:solidFill>
                  <a:srgbClr val="14213D"/>
                </a:solidFill>
                <a:latin typeface="Calibri" pitchFamily="34" charset="0"/>
                <a:ea typeface="Calibri" pitchFamily="34" charset="-122"/>
                <a:cs typeface="Calibri" pitchFamily="34" charset="-120"/>
              </a:rPr>
              <a:t>Les encadrés : ambre = à ne pas manquer ; vert = rassurer (« votre compte n'est pas bloqué ») ; rouge = danger + conduite à tenir.</a:t>
            </a:r>
            <a:endParaRPr lang="en-US" sz="1100" dirty="0"/>
          </a:p>
          <a:p>
            <a:pPr marL="342900" indent="-342900">
              <a:spcAft>
                <a:spcPts val="400"/>
              </a:spcAft>
              <a:buSzPct val="100000"/>
              <a:buChar char="•"/>
            </a:pPr>
            <a:r>
              <a:rPr lang="en-US" sz="1100" dirty="0">
                <a:solidFill>
                  <a:srgbClr val="14213D"/>
                </a:solidFill>
                <a:latin typeface="Calibri" pitchFamily="34" charset="0"/>
                <a:ea typeface="Calibri" pitchFamily="34" charset="-122"/>
                <a:cs typeface="Calibri" pitchFamily="34" charset="-120"/>
              </a:rPr>
              <a:t>Le mode démonstration ajoute une ligne monospace sombre sous les écrans d'attente ; il ne montre jamais de secret.</a:t>
            </a:r>
            <a:endParaRPr lang="en-US" sz="1100" dirty="0"/>
          </a:p>
        </p:txBody>
      </p:sp>
      <p:sp>
        <p:nvSpPr>
          <p:cNvPr id="7" name="Text 4"/>
          <p:cNvSpPr txBox="1"/>
          <p:nvPr/>
        </p:nvSpPr>
        <p:spPr>
          <a:xfrm>
            <a:off x="457200" y="6446520"/>
            <a:ext cx="8229600" cy="274320"/>
          </a:xfrm>
          <a:prstGeom prst="rect">
            <a:avLst/>
          </a:prstGeom>
          <a:noFill/>
          <a:ln/>
        </p:spPr>
        <p:txBody>
          <a:bodyPr wrap="square" lIns="0" tIns="0" rIns="0" bIns="0" rtlCol="0" anchor="ctr"/>
          <a:lstStyle/>
          <a:p>
            <a:pPr indent="0" marL="0">
              <a:buNone/>
            </a:pPr>
            <a:r>
              <a:rPr lang="en-US" sz="900" dirty="0">
                <a:solidFill>
                  <a:srgbClr val="5C6B7A"/>
                </a:solidFill>
                <a:latin typeface="Calibri" pitchFamily="34" charset="0"/>
                <a:ea typeface="Calibri" pitchFamily="34" charset="-122"/>
                <a:cs typeface="Calibri" pitchFamily="34" charset="-120"/>
              </a:rPr>
              <a:t>IdentiShield-CM · Dossier de design de l'application mobile · v1.0 · 25/09/2026</a:t>
            </a:r>
            <a:endParaRPr lang="en-US" sz="900" dirty="0"/>
          </a:p>
        </p:txBody>
      </p:sp>
      <p:sp>
        <p:nvSpPr>
          <p:cNvPr id="8" name="Text 5"/>
          <p:cNvSpPr txBox="1"/>
          <p:nvPr/>
        </p:nvSpPr>
        <p:spPr>
          <a:xfrm>
            <a:off x="11247120" y="6446520"/>
            <a:ext cx="548640" cy="274320"/>
          </a:xfrm>
          <a:prstGeom prst="rect">
            <a:avLst/>
          </a:prstGeom>
          <a:noFill/>
          <a:ln/>
        </p:spPr>
        <p:txBody>
          <a:bodyPr wrap="square" lIns="0" tIns="0" rIns="0" bIns="0"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3000" b="1" dirty="0">
                <a:solidFill>
                  <a:srgbClr val="10375C"/>
                </a:solidFill>
                <a:latin typeface="Calibri" pitchFamily="34" charset="0"/>
                <a:ea typeface="Calibri" pitchFamily="34" charset="-122"/>
                <a:cs typeface="Calibri" pitchFamily="34" charset="-120"/>
              </a:rPr>
              <a:t>La sécurité que l'usager voit, et celle qu'il ne voit pas</a:t>
            </a:r>
            <a:endParaRPr lang="en-US" sz="3000" dirty="0"/>
          </a:p>
        </p:txBody>
      </p:sp>
      <p:sp>
        <p:nvSpPr>
          <p:cNvPr id="3" name="Text 1"/>
          <p:cNvSpPr txBox="1"/>
          <p:nvPr/>
        </p:nvSpPr>
        <p:spPr>
          <a:xfrm>
            <a:off x="457200" y="914400"/>
            <a:ext cx="11247120" cy="365760"/>
          </a:xfrm>
          <a:prstGeom prst="rect">
            <a:avLst/>
          </a:prstGeom>
          <a:noFill/>
          <a:ln/>
        </p:spPr>
        <p:txBody>
          <a:bodyPr wrap="square" lIns="0" tIns="0" rIns="0" bIns="0" rtlCol="0" anchor="ctr"/>
          <a:lstStyle/>
          <a:p>
            <a:pPr indent="0" marL="0">
              <a:buNone/>
            </a:pPr>
            <a:r>
              <a:rPr lang="en-US" sz="1400" dirty="0">
                <a:solidFill>
                  <a:srgbClr val="5C6B7A"/>
                </a:solidFill>
                <a:latin typeface="Calibri" pitchFamily="34" charset="0"/>
                <a:ea typeface="Calibri" pitchFamily="34" charset="-122"/>
                <a:cs typeface="Calibri" pitchFamily="34" charset="-120"/>
              </a:rPr>
              <a:t>Le design rend visible ce qui rassure, et cache ce qui n'a pas à être compris pour être efficace.</a:t>
            </a:r>
            <a:endParaRPr lang="en-US" sz="1400" dirty="0"/>
          </a:p>
        </p:txBody>
      </p:sp>
      <p:sp>
        <p:nvSpPr>
          <p:cNvPr id="4" name="Shape 2"/>
          <p:cNvSpPr/>
          <p:nvPr/>
        </p:nvSpPr>
        <p:spPr>
          <a:xfrm>
            <a:off x="457200" y="1371600"/>
            <a:ext cx="5486400" cy="4846320"/>
          </a:xfrm>
          <a:prstGeom prst="roundRect">
            <a:avLst>
              <a:gd name="adj" fmla="val 2264"/>
            </a:avLst>
          </a:prstGeom>
          <a:solidFill>
            <a:srgbClr val="E3F5F2"/>
          </a:solidFill>
          <a:ln w="9525">
            <a:solidFill>
              <a:srgbClr val="DCE3EC"/>
            </a:solidFill>
            <a:prstDash val="solid"/>
          </a:ln>
        </p:spPr>
      </p:sp>
      <p:sp>
        <p:nvSpPr>
          <p:cNvPr id="5" name="Shape 3"/>
          <p:cNvSpPr/>
          <p:nvPr/>
        </p:nvSpPr>
        <p:spPr>
          <a:xfrm>
            <a:off x="6245352" y="1371600"/>
            <a:ext cx="5486400" cy="4846320"/>
          </a:xfrm>
          <a:prstGeom prst="roundRect">
            <a:avLst>
              <a:gd name="adj" fmla="val 2264"/>
            </a:avLst>
          </a:prstGeom>
          <a:solidFill>
            <a:srgbClr val="E8F1F8"/>
          </a:solidFill>
          <a:ln w="9525">
            <a:solidFill>
              <a:srgbClr val="DCE3EC"/>
            </a:solidFill>
            <a:prstDash val="solid"/>
          </a:ln>
        </p:spPr>
      </p:sp>
      <p:sp>
        <p:nvSpPr>
          <p:cNvPr id="6" name="Text 4"/>
          <p:cNvSpPr txBox="1"/>
          <p:nvPr/>
        </p:nvSpPr>
        <p:spPr>
          <a:xfrm>
            <a:off x="731520" y="1508760"/>
            <a:ext cx="5029200" cy="457200"/>
          </a:xfrm>
          <a:prstGeom prst="rect">
            <a:avLst/>
          </a:prstGeom>
          <a:noFill/>
          <a:ln/>
        </p:spPr>
        <p:txBody>
          <a:bodyPr wrap="square" lIns="0" tIns="0" rIns="0" bIns="0" rtlCol="0" anchor="ctr"/>
          <a:lstStyle/>
          <a:p>
            <a:pPr indent="0" marL="0">
              <a:buNone/>
            </a:pPr>
            <a:r>
              <a:rPr lang="en-US" sz="1800" b="1" dirty="0">
                <a:solidFill>
                  <a:srgbClr val="12776C"/>
                </a:solidFill>
                <a:latin typeface="Calibri" pitchFamily="34" charset="0"/>
                <a:ea typeface="Calibri" pitchFamily="34" charset="-122"/>
                <a:cs typeface="Calibri" pitchFamily="34" charset="-120"/>
              </a:rPr>
              <a:t>Visible</a:t>
            </a:r>
            <a:endParaRPr lang="en-US" sz="1800" dirty="0"/>
          </a:p>
        </p:txBody>
      </p:sp>
      <p:sp>
        <p:nvSpPr>
          <p:cNvPr id="7" name="Text 5"/>
          <p:cNvSpPr txBox="1"/>
          <p:nvPr/>
        </p:nvSpPr>
        <p:spPr>
          <a:xfrm>
            <a:off x="6519672" y="1508760"/>
            <a:ext cx="5029200" cy="457200"/>
          </a:xfrm>
          <a:prstGeom prst="rect">
            <a:avLst/>
          </a:prstGeom>
          <a:noFill/>
          <a:ln/>
        </p:spPr>
        <p:txBody>
          <a:bodyPr wrap="square" lIns="0" tIns="0" rIns="0" bIns="0" rtlCol="0" anchor="ctr"/>
          <a:lstStyle/>
          <a:p>
            <a:pPr indent="0" marL="0">
              <a:buNone/>
            </a:pPr>
            <a:r>
              <a:rPr lang="en-US" sz="1800" b="1" dirty="0">
                <a:solidFill>
                  <a:srgbClr val="10375C"/>
                </a:solidFill>
                <a:latin typeface="Calibri" pitchFamily="34" charset="0"/>
                <a:ea typeface="Calibri" pitchFamily="34" charset="-122"/>
                <a:cs typeface="Calibri" pitchFamily="34" charset="-120"/>
              </a:rPr>
              <a:t>Invisible</a:t>
            </a:r>
            <a:endParaRPr lang="en-US" sz="1800" dirty="0"/>
          </a:p>
        </p:txBody>
      </p:sp>
      <p:sp>
        <p:nvSpPr>
          <p:cNvPr id="8" name="Text 6"/>
          <p:cNvSpPr txBox="1"/>
          <p:nvPr/>
        </p:nvSpPr>
        <p:spPr>
          <a:xfrm>
            <a:off x="731520" y="2057400"/>
            <a:ext cx="5029200" cy="402336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4213D"/>
                </a:solidFill>
                <a:latin typeface="Calibri" pitchFamily="34" charset="0"/>
                <a:ea typeface="Calibri" pitchFamily="34" charset="-122"/>
                <a:cs typeface="Calibri" pitchFamily="34" charset="-120"/>
              </a:rPr>
              <a:t>Le badge « Appareil protégé », avec le modèle du téléphone lié.</a:t>
            </a:r>
            <a:endParaRPr lang="en-US" sz="1250" dirty="0"/>
          </a:p>
          <a:p>
            <a:pPr marL="342900" indent="-342900">
              <a:spcAft>
                <a:spcPts val="600"/>
              </a:spcAft>
              <a:buSzPct val="100000"/>
              <a:buChar char="•"/>
            </a:pPr>
            <a:r>
              <a:rPr lang="en-US" sz="1250" dirty="0">
                <a:solidFill>
                  <a:srgbClr val="14213D"/>
                </a:solidFill>
                <a:latin typeface="Calibri" pitchFamily="34" charset="0"/>
                <a:ea typeface="Calibri" pitchFamily="34" charset="-122"/>
                <a:cs typeface="Calibri" pitchFamily="34" charset="-120"/>
              </a:rPr>
              <a:t>Le cadenas « capture bloquée » sur les écrans sensibles (PIN, clé, confirmation, autorisation) : FLAG_SECURE, aperçu masqué dans le sélecteur d'apps.</a:t>
            </a:r>
            <a:endParaRPr lang="en-US" sz="1250" dirty="0"/>
          </a:p>
          <a:p>
            <a:pPr marL="342900" indent="-342900">
              <a:spcAft>
                <a:spcPts val="600"/>
              </a:spcAft>
              <a:buSzPct val="100000"/>
              <a:buChar char="•"/>
            </a:pPr>
            <a:r>
              <a:rPr lang="en-US" sz="1250" dirty="0">
                <a:solidFill>
                  <a:srgbClr val="14213D"/>
                </a:solidFill>
                <a:latin typeface="Calibri" pitchFamily="34" charset="0"/>
                <a:ea typeface="Calibri" pitchFamily="34" charset="-122"/>
                <a:cs typeface="Calibri" pitchFamily="34" charset="-120"/>
              </a:rPr>
              <a:t>Le nom du titulaire du bénéficiaire et le badge « nouveau bénéficiaire ».</a:t>
            </a:r>
            <a:endParaRPr lang="en-US" sz="1250" dirty="0"/>
          </a:p>
          <a:p>
            <a:pPr marL="342900" indent="-342900">
              <a:spcAft>
                <a:spcPts val="600"/>
              </a:spcAft>
              <a:buSzPct val="100000"/>
              <a:buChar char="•"/>
            </a:pPr>
            <a:r>
              <a:rPr lang="en-US" sz="1250" dirty="0">
                <a:solidFill>
                  <a:srgbClr val="14213D"/>
                </a:solidFill>
                <a:latin typeface="Calibri" pitchFamily="34" charset="0"/>
                <a:ea typeface="Calibri" pitchFamily="34" charset="-122"/>
                <a:cs typeface="Calibri" pitchFamily="34" charset="-120"/>
              </a:rPr>
              <a:t>« Votre compte n'est pas bloqué » à chaque délai imposé.</a:t>
            </a:r>
            <a:endParaRPr lang="en-US" sz="1250" dirty="0"/>
          </a:p>
          <a:p>
            <a:pPr marL="342900" indent="-342900">
              <a:spcAft>
                <a:spcPts val="600"/>
              </a:spcAft>
              <a:buSzPct val="100000"/>
              <a:buChar char="•"/>
            </a:pPr>
            <a:r>
              <a:rPr lang="en-US" sz="1250" dirty="0">
                <a:solidFill>
                  <a:srgbClr val="14213D"/>
                </a:solidFill>
                <a:latin typeface="Calibri" pitchFamily="34" charset="0"/>
                <a:ea typeface="Calibri" pitchFamily="34" charset="-122"/>
                <a:cs typeface="Calibri" pitchFamily="34" charset="-120"/>
              </a:rPr>
              <a:t>« Nous ne vous demanderons jamais de code dans une alerte. »</a:t>
            </a:r>
            <a:endParaRPr lang="en-US" sz="1250" dirty="0"/>
          </a:p>
          <a:p>
            <a:pPr marL="342900" indent="-342900">
              <a:spcAft>
                <a:spcPts val="600"/>
              </a:spcAft>
              <a:buSzPct val="100000"/>
              <a:buChar char="•"/>
            </a:pPr>
            <a:r>
              <a:rPr lang="en-US" sz="1250" dirty="0">
                <a:solidFill>
                  <a:srgbClr val="14213D"/>
                </a:solidFill>
                <a:latin typeface="Calibri" pitchFamily="34" charset="0"/>
                <a:ea typeface="Calibri" pitchFamily="34" charset="-122"/>
                <a:cs typeface="Calibri" pitchFamily="34" charset="-120"/>
              </a:rPr>
              <a:t>Le mode démonstration, pour le jury, désactivable.</a:t>
            </a:r>
            <a:endParaRPr lang="en-US" sz="1250" dirty="0"/>
          </a:p>
        </p:txBody>
      </p:sp>
      <p:sp>
        <p:nvSpPr>
          <p:cNvPr id="9" name="Text 7"/>
          <p:cNvSpPr txBox="1"/>
          <p:nvPr/>
        </p:nvSpPr>
        <p:spPr>
          <a:xfrm>
            <a:off x="6519672" y="2057400"/>
            <a:ext cx="5029200" cy="402336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4213D"/>
                </a:solidFill>
                <a:latin typeface="Calibri" pitchFamily="34" charset="0"/>
                <a:ea typeface="Calibri" pitchFamily="34" charset="-122"/>
                <a:cs typeface="Calibri" pitchFamily="34" charset="-120"/>
              </a:rPr>
              <a:t>Clé EC P-256 dans la puce (TEE ou StrongBox), non exportable, attestée avec le défi du serveur ; clé logicielle refusée.</a:t>
            </a:r>
            <a:endParaRPr lang="en-US" sz="1250" dirty="0"/>
          </a:p>
          <a:p>
            <a:pPr marL="342900" indent="-342900">
              <a:spcAft>
                <a:spcPts val="600"/>
              </a:spcAft>
              <a:buSzPct val="100000"/>
              <a:buChar char="•"/>
            </a:pPr>
            <a:r>
              <a:rPr lang="en-US" sz="1250" dirty="0">
                <a:solidFill>
                  <a:srgbClr val="14213D"/>
                </a:solidFill>
                <a:latin typeface="Calibri" pitchFamily="34" charset="0"/>
                <a:ea typeface="Calibri" pitchFamily="34" charset="-122"/>
                <a:cs typeface="Calibri" pitchFamily="34" charset="-120"/>
              </a:rPr>
              <a:t>Usage de la clé conditionné au déverrouillage local ; clé invalidée si une nouvelle biométrie est enregistrée.</a:t>
            </a:r>
            <a:endParaRPr lang="en-US" sz="1250" dirty="0"/>
          </a:p>
          <a:p>
            <a:pPr marL="342900" indent="-342900">
              <a:spcAft>
                <a:spcPts val="600"/>
              </a:spcAft>
              <a:buSzPct val="100000"/>
              <a:buChar char="•"/>
            </a:pPr>
            <a:r>
              <a:rPr lang="en-US" sz="1250" dirty="0">
                <a:solidFill>
                  <a:srgbClr val="14213D"/>
                </a:solidFill>
                <a:latin typeface="Calibri" pitchFamily="34" charset="0"/>
                <a:ea typeface="Calibri" pitchFamily="34" charset="-122"/>
                <a:cs typeface="Calibri" pitchFamily="34" charset="-120"/>
              </a:rPr>
              <a:t>Signature de la chaîne ADR-018 avec nonce unique, vérifiée par le PDP ; rejeu impossible.</a:t>
            </a:r>
            <a:endParaRPr lang="en-US" sz="1250" dirty="0"/>
          </a:p>
          <a:p>
            <a:pPr marL="342900" indent="-342900">
              <a:spcAft>
                <a:spcPts val="600"/>
              </a:spcAft>
              <a:buSzPct val="100000"/>
              <a:buChar char="•"/>
            </a:pPr>
            <a:r>
              <a:rPr lang="en-US" sz="1250" dirty="0">
                <a:solidFill>
                  <a:srgbClr val="14213D"/>
                </a:solidFill>
                <a:latin typeface="Calibri" pitchFamily="34" charset="0"/>
                <a:ea typeface="Calibri" pitchFamily="34" charset="-122"/>
                <a:cs typeface="Calibri" pitchFamily="34" charset="-120"/>
              </a:rPr>
              <a:t>TLS avec la CA du bac à sable épinglée ; aucune CA utilisateur ; aucun trafic en clair.</a:t>
            </a:r>
            <a:endParaRPr lang="en-US" sz="1250" dirty="0"/>
          </a:p>
          <a:p>
            <a:pPr marL="342900" indent="-342900">
              <a:spcAft>
                <a:spcPts val="600"/>
              </a:spcAft>
              <a:buSzPct val="100000"/>
              <a:buChar char="•"/>
            </a:pPr>
            <a:r>
              <a:rPr lang="en-US" sz="1250" dirty="0">
                <a:solidFill>
                  <a:srgbClr val="14213D"/>
                </a:solidFill>
                <a:latin typeface="Calibri" pitchFamily="34" charset="0"/>
                <a:ea typeface="Calibri" pitchFamily="34" charset="-122"/>
                <a:cs typeface="Calibri" pitchFamily="34" charset="-120"/>
              </a:rPr>
              <a:t>Aucun secret au repos : ni PIN, ni OTP, ni clé de récupération, ni jeton persistant ; sauvegarde Android désactivée.</a:t>
            </a:r>
            <a:endParaRPr lang="en-US" sz="1250" dirty="0"/>
          </a:p>
          <a:p>
            <a:pPr marL="342900" indent="-342900">
              <a:spcAft>
                <a:spcPts val="600"/>
              </a:spcAft>
              <a:buSzPct val="100000"/>
              <a:buChar char="•"/>
            </a:pPr>
            <a:r>
              <a:rPr lang="en-US" sz="1250" dirty="0">
                <a:solidFill>
                  <a:srgbClr val="14213D"/>
                </a:solidFill>
                <a:latin typeface="Calibri" pitchFamily="34" charset="0"/>
                <a:ea typeface="Calibri" pitchFamily="34" charset="-122"/>
                <a:cs typeface="Calibri" pitchFamily="34" charset="-120"/>
              </a:rPr>
              <a:t>Anti-superposition (tapjacking) sur les boutons de confirmation ; build release minifié.</a:t>
            </a:r>
            <a:endParaRPr lang="en-US" sz="1250" dirty="0"/>
          </a:p>
        </p:txBody>
      </p:sp>
      <p:sp>
        <p:nvSpPr>
          <p:cNvPr id="10" name="Text 8"/>
          <p:cNvSpPr txBox="1"/>
          <p:nvPr/>
        </p:nvSpPr>
        <p:spPr>
          <a:xfrm>
            <a:off x="457200" y="6446520"/>
            <a:ext cx="8229600" cy="274320"/>
          </a:xfrm>
          <a:prstGeom prst="rect">
            <a:avLst/>
          </a:prstGeom>
          <a:noFill/>
          <a:ln/>
        </p:spPr>
        <p:txBody>
          <a:bodyPr wrap="square" lIns="0" tIns="0" rIns="0" bIns="0" rtlCol="0" anchor="ctr"/>
          <a:lstStyle/>
          <a:p>
            <a:pPr indent="0" marL="0">
              <a:buNone/>
            </a:pPr>
            <a:r>
              <a:rPr lang="en-US" sz="900" dirty="0">
                <a:solidFill>
                  <a:srgbClr val="5C6B7A"/>
                </a:solidFill>
                <a:latin typeface="Calibri" pitchFamily="34" charset="0"/>
                <a:ea typeface="Calibri" pitchFamily="34" charset="-122"/>
                <a:cs typeface="Calibri" pitchFamily="34" charset="-120"/>
              </a:rPr>
              <a:t>IdentiShield-CM · Dossier de design de l'application mobile · v1.0 · 25/09/2026</a:t>
            </a:r>
            <a:endParaRPr lang="en-US" sz="900" dirty="0"/>
          </a:p>
        </p:txBody>
      </p:sp>
      <p:sp>
        <p:nvSpPr>
          <p:cNvPr id="11" name="Text 9"/>
          <p:cNvSpPr txBox="1"/>
          <p:nvPr/>
        </p:nvSpPr>
        <p:spPr>
          <a:xfrm>
            <a:off x="11247120" y="6446520"/>
            <a:ext cx="548640" cy="274320"/>
          </a:xfrm>
          <a:prstGeom prst="rect">
            <a:avLst/>
          </a:prstGeom>
          <a:noFill/>
          <a:ln/>
        </p:spPr>
        <p:txBody>
          <a:bodyPr wrap="square" lIns="0" tIns="0" rIns="0" bIns="0"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3000" b="1" dirty="0">
                <a:solidFill>
                  <a:srgbClr val="10375C"/>
                </a:solidFill>
                <a:latin typeface="Calibri" pitchFamily="34" charset="0"/>
                <a:ea typeface="Calibri" pitchFamily="34" charset="-122"/>
                <a:cs typeface="Calibri" pitchFamily="34" charset="-120"/>
              </a:rPr>
              <a:t>Ce que le serveur vérifie — la différence avec l'application déployée</a:t>
            </a:r>
            <a:endParaRPr lang="en-US" sz="3000" dirty="0"/>
          </a:p>
        </p:txBody>
      </p:sp>
      <p:sp>
        <p:nvSpPr>
          <p:cNvPr id="3" name="Text 1"/>
          <p:cNvSpPr txBox="1"/>
          <p:nvPr/>
        </p:nvSpPr>
        <p:spPr>
          <a:xfrm>
            <a:off x="457200" y="914400"/>
            <a:ext cx="11247120" cy="365760"/>
          </a:xfrm>
          <a:prstGeom prst="rect">
            <a:avLst/>
          </a:prstGeom>
          <a:noFill/>
          <a:ln/>
        </p:spPr>
        <p:txBody>
          <a:bodyPr wrap="square" lIns="0" tIns="0" rIns="0" bIns="0" rtlCol="0" anchor="ctr"/>
          <a:lstStyle/>
          <a:p>
            <a:pPr indent="0" marL="0">
              <a:buNone/>
            </a:pPr>
            <a:r>
              <a:rPr lang="en-US" sz="1400" dirty="0">
                <a:solidFill>
                  <a:srgbClr val="5C6B7A"/>
                </a:solidFill>
                <a:latin typeface="Calibri" pitchFamily="34" charset="0"/>
                <a:ea typeface="Calibri" pitchFamily="34" charset="-122"/>
                <a:cs typeface="Calibri" pitchFamily="34" charset="-120"/>
              </a:rPr>
              <a:t>Constat du projet sur trois téléphones actifs en même temps sur un même compte : la biométrie de l'application réelle est locale, le serveur ne vérifie rien.</a:t>
            </a:r>
            <a:endParaRPr lang="en-US" sz="14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47120" cy="914400"/>
        </p:xfrm>
        <a:graphic>
          <a:graphicData uri="http://schemas.openxmlformats.org/drawingml/2006/table">
            <a:tbl>
              <a:tblPr/>
              <a:tblGrid>
                <a:gridCol w="2743200"/>
                <a:gridCol w="3931920"/>
                <a:gridCol w="4572000"/>
              </a:tblGrid>
              <a:tr h="566928">
                <a:tc>
                  <a:txBody>
                    <a:bodyPr/>
                    <a:lstStyle/>
                    <a:p>
                      <a:pPr indent="0" marL="0">
                        <a:buNone/>
                      </a:pPr>
                      <a:endParaRPr lang="en-US" sz="1200" dirty="0">
                        <a:latin typeface="Calibri" charset="0"/>
                        <a:ea typeface="Calibri" charset="0"/>
                        <a:cs typeface="Calibri" charset="0"/>
                      </a:endParaRPr>
                    </a:p>
                  </a:txBody>
                  <a:tcPr marL="73152" marR="73152" marT="73152" marB="73152">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1037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Application déployée (constat)</a:t>
                      </a:r>
                      <a:endParaRPr lang="en-US" sz="1200" dirty="0">
                        <a:latin typeface="Calibri" charset="0"/>
                        <a:ea typeface="Calibri" charset="0"/>
                        <a:cs typeface="Calibri" charset="0"/>
                      </a:endParaRPr>
                    </a:p>
                  </a:txBody>
                  <a:tcPr marL="73152" marR="73152" marT="73152" marB="73152">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1037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IdentiShield-CM</a:t>
                      </a:r>
                      <a:endParaRPr lang="en-US" sz="1200" dirty="0">
                        <a:latin typeface="Calibri" charset="0"/>
                        <a:ea typeface="Calibri" charset="0"/>
                        <a:cs typeface="Calibri" charset="0"/>
                      </a:endParaRPr>
                    </a:p>
                  </a:txBody>
                  <a:tcPr marL="73152" marR="73152" marT="73152" marB="73152">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10375C"/>
                    </a:solidFill>
                  </a:tcPr>
                </a:tc>
              </a:tr>
              <a:tr h="566928">
                <a:tc>
                  <a:txBody>
                    <a:bodyPr/>
                    <a:lstStyle/>
                    <a:p>
                      <a:pPr indent="0" marL="0">
                        <a:buNone/>
                      </a:pPr>
                      <a:r>
                        <a:rPr lang="en-US" sz="1200" b="1" dirty="0">
                          <a:solidFill>
                            <a:srgbClr val="14213D"/>
                          </a:solidFill>
                          <a:latin typeface="Calibri" pitchFamily="34" charset="0"/>
                          <a:ea typeface="Calibri" pitchFamily="34" charset="-122"/>
                          <a:cs typeface="Calibri" pitchFamily="34" charset="-120"/>
                        </a:rPr>
                        <a:t>Ce que le doigt ouvre</a:t>
                      </a:r>
                      <a:endParaRPr lang="en-US" sz="1200" dirty="0">
                        <a:latin typeface="Calibri" charset="0"/>
                        <a:ea typeface="Calibri" charset="0"/>
                        <a:cs typeface="Calibri" charset="0"/>
                      </a:endParaRPr>
                    </a:p>
                  </a:txBody>
                  <a:tcPr marL="73152" marR="73152" marT="73152" marB="73152">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Un écran</a:t>
                      </a:r>
                      <a:endParaRPr lang="en-US" sz="1200" dirty="0">
                        <a:latin typeface="Calibri" charset="0"/>
                        <a:ea typeface="Calibri" charset="0"/>
                        <a:cs typeface="Calibri" charset="0"/>
                      </a:endParaRPr>
                    </a:p>
                  </a:txBody>
                  <a:tcPr marL="73152" marR="73152" marT="73152" marB="73152">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FFFFF"/>
                    </a:solidFill>
                  </a:tcPr>
                </a:tc>
                <a:tc>
                  <a:txBody>
                    <a:bodyPr/>
                    <a:lstStyle/>
                    <a:p>
                      <a:pPr indent="0" marL="0">
                        <a:buNone/>
                      </a:pPr>
                      <a:r>
                        <a:rPr lang="en-US" sz="1200" dirty="0">
                          <a:solidFill>
                            <a:srgbClr val="12776C"/>
                          </a:solidFill>
                          <a:latin typeface="Calibri" pitchFamily="34" charset="0"/>
                          <a:ea typeface="Calibri" pitchFamily="34" charset="-122"/>
                          <a:cs typeface="Calibri" pitchFamily="34" charset="-120"/>
                        </a:rPr>
                        <a:t>La puce, qui produit une signature</a:t>
                      </a:r>
                      <a:endParaRPr lang="en-US" sz="1200" dirty="0">
                        <a:latin typeface="Calibri" charset="0"/>
                        <a:ea typeface="Calibri" charset="0"/>
                        <a:cs typeface="Calibri" charset="0"/>
                      </a:endParaRPr>
                    </a:p>
                  </a:txBody>
                  <a:tcPr marL="73152" marR="73152" marT="73152" marB="73152">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E3F5F2"/>
                    </a:solidFill>
                  </a:tcPr>
                </a:tc>
              </a:tr>
              <a:tr h="566928">
                <a:tc>
                  <a:txBody>
                    <a:bodyPr/>
                    <a:lstStyle/>
                    <a:p>
                      <a:pPr indent="0" marL="0">
                        <a:buNone/>
                      </a:pPr>
                      <a:r>
                        <a:rPr lang="en-US" sz="1200" b="1" dirty="0">
                          <a:solidFill>
                            <a:srgbClr val="14213D"/>
                          </a:solidFill>
                          <a:latin typeface="Calibri" pitchFamily="34" charset="0"/>
                          <a:ea typeface="Calibri" pitchFamily="34" charset="-122"/>
                          <a:cs typeface="Calibri" pitchFamily="34" charset="-120"/>
                        </a:rPr>
                        <a:t>Ce que le serveur vérifie</a:t>
                      </a:r>
                      <a:endParaRPr lang="en-US" sz="1200" dirty="0">
                        <a:latin typeface="Calibri" charset="0"/>
                        <a:ea typeface="Calibri" charset="0"/>
                        <a:cs typeface="Calibri" charset="0"/>
                      </a:endParaRPr>
                    </a:p>
                  </a:txBody>
                  <a:tcPr marL="73152" marR="73152" marT="73152" marB="73152">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Rien de plus que le PIN</a:t>
                      </a:r>
                      <a:endParaRPr lang="en-US" sz="1200" dirty="0">
                        <a:latin typeface="Calibri" charset="0"/>
                        <a:ea typeface="Calibri" charset="0"/>
                        <a:cs typeface="Calibri" charset="0"/>
                      </a:endParaRPr>
                    </a:p>
                  </a:txBody>
                  <a:tcPr marL="73152" marR="73152" marT="73152" marB="73152">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FFFFF"/>
                    </a:solidFill>
                  </a:tcPr>
                </a:tc>
                <a:tc>
                  <a:txBody>
                    <a:bodyPr/>
                    <a:lstStyle/>
                    <a:p>
                      <a:pPr indent="0" marL="0">
                        <a:buNone/>
                      </a:pPr>
                      <a:r>
                        <a:rPr lang="en-US" sz="1200" dirty="0">
                          <a:solidFill>
                            <a:srgbClr val="12776C"/>
                          </a:solidFill>
                          <a:latin typeface="Calibri" pitchFamily="34" charset="0"/>
                          <a:ea typeface="Calibri" pitchFamily="34" charset="-122"/>
                          <a:cs typeface="Calibri" pitchFamily="34" charset="-120"/>
                        </a:rPr>
                        <a:t>Le PIN et la signature, avec la clé publique enregistrée</a:t>
                      </a:r>
                      <a:endParaRPr lang="en-US" sz="1200" dirty="0">
                        <a:latin typeface="Calibri" charset="0"/>
                        <a:ea typeface="Calibri" charset="0"/>
                        <a:cs typeface="Calibri" charset="0"/>
                      </a:endParaRPr>
                    </a:p>
                  </a:txBody>
                  <a:tcPr marL="73152" marR="73152" marT="73152" marB="73152">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E3F5F2"/>
                    </a:solidFill>
                  </a:tcPr>
                </a:tc>
              </a:tr>
              <a:tr h="566928">
                <a:tc>
                  <a:txBody>
                    <a:bodyPr/>
                    <a:lstStyle/>
                    <a:p>
                      <a:pPr indent="0" marL="0">
                        <a:buNone/>
                      </a:pPr>
                      <a:r>
                        <a:rPr lang="en-US" sz="1200" b="1" dirty="0">
                          <a:solidFill>
                            <a:srgbClr val="14213D"/>
                          </a:solidFill>
                          <a:latin typeface="Calibri" pitchFamily="34" charset="0"/>
                          <a:ea typeface="Calibri" pitchFamily="34" charset="-122"/>
                          <a:cs typeface="Calibri" pitchFamily="34" charset="-120"/>
                        </a:rPr>
                        <a:t>Plusieurs téléphones sur un compte</a:t>
                      </a:r>
                      <a:endParaRPr lang="en-US" sz="1200" dirty="0">
                        <a:latin typeface="Calibri" charset="0"/>
                        <a:ea typeface="Calibri" charset="0"/>
                        <a:cs typeface="Calibri" charset="0"/>
                      </a:endParaRPr>
                    </a:p>
                  </a:txBody>
                  <a:tcPr marL="73152" marR="73152" marT="73152" marB="73152">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Oui, sans notification</a:t>
                      </a:r>
                      <a:endParaRPr lang="en-US" sz="1200" dirty="0">
                        <a:latin typeface="Calibri" charset="0"/>
                        <a:ea typeface="Calibri" charset="0"/>
                        <a:cs typeface="Calibri" charset="0"/>
                      </a:endParaRPr>
                    </a:p>
                  </a:txBody>
                  <a:tcPr marL="73152" marR="73152" marT="73152" marB="73152">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FFFFF"/>
                    </a:solidFill>
                  </a:tcPr>
                </a:tc>
                <a:tc>
                  <a:txBody>
                    <a:bodyPr/>
                    <a:lstStyle/>
                    <a:p>
                      <a:pPr indent="0" marL="0">
                        <a:buNone/>
                      </a:pPr>
                      <a:r>
                        <a:rPr lang="en-US" sz="1200" dirty="0">
                          <a:solidFill>
                            <a:srgbClr val="12776C"/>
                          </a:solidFill>
                          <a:latin typeface="Calibri" pitchFamily="34" charset="0"/>
                          <a:ea typeface="Calibri" pitchFamily="34" charset="-122"/>
                          <a:cs typeface="Calibri" pitchFamily="34" charset="-120"/>
                        </a:rPr>
                        <a:t>Non : une seule clé active ; l'ancien est prévenu</a:t>
                      </a:r>
                      <a:endParaRPr lang="en-US" sz="1200" dirty="0">
                        <a:latin typeface="Calibri" charset="0"/>
                        <a:ea typeface="Calibri" charset="0"/>
                        <a:cs typeface="Calibri" charset="0"/>
                      </a:endParaRPr>
                    </a:p>
                  </a:txBody>
                  <a:tcPr marL="73152" marR="73152" marT="73152" marB="73152">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E3F5F2"/>
                    </a:solidFill>
                  </a:tcPr>
                </a:tc>
              </a:tr>
              <a:tr h="566928">
                <a:tc>
                  <a:txBody>
                    <a:bodyPr/>
                    <a:lstStyle/>
                    <a:p>
                      <a:pPr indent="0" marL="0">
                        <a:buNone/>
                      </a:pPr>
                      <a:r>
                        <a:rPr lang="en-US" sz="1200" b="1" dirty="0">
                          <a:solidFill>
                            <a:srgbClr val="14213D"/>
                          </a:solidFill>
                          <a:latin typeface="Calibri" pitchFamily="34" charset="0"/>
                          <a:ea typeface="Calibri" pitchFamily="34" charset="-122"/>
                          <a:cs typeface="Calibri" pitchFamily="34" charset="-120"/>
                        </a:rPr>
                        <a:t>Preuve pour envoyer de l'argent</a:t>
                      </a:r>
                      <a:endParaRPr lang="en-US" sz="1200" dirty="0">
                        <a:latin typeface="Calibri" charset="0"/>
                        <a:ea typeface="Calibri" charset="0"/>
                        <a:cs typeface="Calibri" charset="0"/>
                      </a:endParaRPr>
                    </a:p>
                  </a:txBody>
                  <a:tcPr marL="73152" marR="73152" marT="73152" marB="73152">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PIN (et OTP par SMS pour certaines actions)</a:t>
                      </a:r>
                      <a:endParaRPr lang="en-US" sz="1200" dirty="0">
                        <a:latin typeface="Calibri" charset="0"/>
                        <a:ea typeface="Calibri" charset="0"/>
                        <a:cs typeface="Calibri" charset="0"/>
                      </a:endParaRPr>
                    </a:p>
                  </a:txBody>
                  <a:tcPr marL="73152" marR="73152" marT="73152" marB="73152">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FFFFF"/>
                    </a:solidFill>
                  </a:tcPr>
                </a:tc>
                <a:tc>
                  <a:txBody>
                    <a:bodyPr/>
                    <a:lstStyle/>
                    <a:p>
                      <a:pPr indent="0" marL="0">
                        <a:buNone/>
                      </a:pPr>
                      <a:r>
                        <a:rPr lang="en-US" sz="1200" dirty="0">
                          <a:solidFill>
                            <a:srgbClr val="12776C"/>
                          </a:solidFill>
                          <a:latin typeface="Calibri" pitchFamily="34" charset="0"/>
                          <a:ea typeface="Calibri" pitchFamily="34" charset="-122"/>
                          <a:cs typeface="Calibri" pitchFamily="34" charset="-120"/>
                        </a:rPr>
                        <a:t>PIN + signature de la clé du téléphone ; aucun SMS</a:t>
                      </a:r>
                      <a:endParaRPr lang="en-US" sz="1200" dirty="0">
                        <a:latin typeface="Calibri" charset="0"/>
                        <a:ea typeface="Calibri" charset="0"/>
                        <a:cs typeface="Calibri" charset="0"/>
                      </a:endParaRPr>
                    </a:p>
                  </a:txBody>
                  <a:tcPr marL="73152" marR="73152" marT="73152" marB="73152">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E3F5F2"/>
                    </a:solidFill>
                  </a:tcPr>
                </a:tc>
              </a:tr>
              <a:tr h="566928">
                <a:tc>
                  <a:txBody>
                    <a:bodyPr/>
                    <a:lstStyle/>
                    <a:p>
                      <a:pPr indent="0" marL="0">
                        <a:buNone/>
                      </a:pPr>
                      <a:r>
                        <a:rPr lang="en-US" sz="1200" b="1" dirty="0">
                          <a:solidFill>
                            <a:srgbClr val="14213D"/>
                          </a:solidFill>
                          <a:latin typeface="Calibri" pitchFamily="34" charset="0"/>
                          <a:ea typeface="Calibri" pitchFamily="34" charset="-122"/>
                          <a:cs typeface="Calibri" pitchFamily="34" charset="-120"/>
                        </a:rPr>
                        <a:t>Nouveau téléphone</a:t>
                      </a:r>
                      <a:endParaRPr lang="en-US" sz="1200" dirty="0">
                        <a:latin typeface="Calibri" charset="0"/>
                        <a:ea typeface="Calibri" charset="0"/>
                        <a:cs typeface="Calibri" charset="0"/>
                      </a:endParaRPr>
                    </a:p>
                  </a:txBody>
                  <a:tcPr marL="73152" marR="73152" marT="73152" marB="73152">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Numéro + OTP (suit la SIM)</a:t>
                      </a:r>
                      <a:endParaRPr lang="en-US" sz="1200" dirty="0">
                        <a:latin typeface="Calibri" charset="0"/>
                        <a:ea typeface="Calibri" charset="0"/>
                        <a:cs typeface="Calibri" charset="0"/>
                      </a:endParaRPr>
                    </a:p>
                  </a:txBody>
                  <a:tcPr marL="73152" marR="73152" marT="73152" marB="73152">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FFFFF"/>
                    </a:solidFill>
                  </a:tcPr>
                </a:tc>
                <a:tc>
                  <a:txBody>
                    <a:bodyPr/>
                    <a:lstStyle/>
                    <a:p>
                      <a:pPr indent="0" marL="0">
                        <a:buNone/>
                      </a:pPr>
                      <a:r>
                        <a:rPr lang="en-US" sz="1200" dirty="0">
                          <a:solidFill>
                            <a:srgbClr val="12776C"/>
                          </a:solidFill>
                          <a:latin typeface="Calibri" pitchFamily="34" charset="0"/>
                          <a:ea typeface="Calibri" pitchFamily="34" charset="-122"/>
                          <a:cs typeface="Calibri" pitchFamily="34" charset="-120"/>
                        </a:rPr>
                        <a:t>Numéro + PIN + clé de récupération ; aucun OTP</a:t>
                      </a:r>
                      <a:endParaRPr lang="en-US" sz="1200" dirty="0">
                        <a:latin typeface="Calibri" charset="0"/>
                        <a:ea typeface="Calibri" charset="0"/>
                        <a:cs typeface="Calibri" charset="0"/>
                      </a:endParaRPr>
                    </a:p>
                  </a:txBody>
                  <a:tcPr marL="73152" marR="73152" marT="73152" marB="73152">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E3F5F2"/>
                    </a:solidFill>
                  </a:tcPr>
                </a:tc>
              </a:tr>
              <a:tr h="566928">
                <a:tc>
                  <a:txBody>
                    <a:bodyPr/>
                    <a:lstStyle/>
                    <a:p>
                      <a:pPr indent="0" marL="0">
                        <a:buNone/>
                      </a:pPr>
                      <a:r>
                        <a:rPr lang="en-US" sz="1200" b="1" dirty="0">
                          <a:solidFill>
                            <a:srgbClr val="14213D"/>
                          </a:solidFill>
                          <a:latin typeface="Calibri" pitchFamily="34" charset="0"/>
                          <a:ea typeface="Calibri" pitchFamily="34" charset="-122"/>
                          <a:cs typeface="Calibri" pitchFamily="34" charset="-120"/>
                        </a:rPr>
                        <a:t>Si la SIM est volée</a:t>
                      </a:r>
                      <a:endParaRPr lang="en-US" sz="1200" dirty="0">
                        <a:latin typeface="Calibri" charset="0"/>
                        <a:ea typeface="Calibri" charset="0"/>
                        <a:cs typeface="Calibri" charset="0"/>
                      </a:endParaRPr>
                    </a:p>
                  </a:txBody>
                  <a:tcPr marL="73152" marR="73152" marT="73152" marB="73152">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L'attaquant reçoit les OTP et opère</a:t>
                      </a:r>
                      <a:endParaRPr lang="en-US" sz="1200" dirty="0">
                        <a:latin typeface="Calibri" charset="0"/>
                        <a:ea typeface="Calibri" charset="0"/>
                        <a:cs typeface="Calibri" charset="0"/>
                      </a:endParaRPr>
                    </a:p>
                  </a:txBody>
                  <a:tcPr marL="73152" marR="73152" marT="73152" marB="73152">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FFFFFF"/>
                    </a:solidFill>
                  </a:tcPr>
                </a:tc>
                <a:tc>
                  <a:txBody>
                    <a:bodyPr/>
                    <a:lstStyle/>
                    <a:p>
                      <a:pPr indent="0" marL="0">
                        <a:buNone/>
                      </a:pPr>
                      <a:r>
                        <a:rPr lang="en-US" sz="1200" dirty="0">
                          <a:solidFill>
                            <a:srgbClr val="12776C"/>
                          </a:solidFill>
                          <a:latin typeface="Calibri" pitchFamily="34" charset="0"/>
                          <a:ea typeface="Calibri" pitchFamily="34" charset="-122"/>
                          <a:cs typeface="Calibri" pitchFamily="34" charset="-120"/>
                        </a:rPr>
                        <a:t>Les OTP ne servent à rien ; sans la clé, l'attaquant attend, la victime est alertée</a:t>
                      </a:r>
                      <a:endParaRPr lang="en-US" sz="1200" dirty="0">
                        <a:latin typeface="Calibri" charset="0"/>
                        <a:ea typeface="Calibri" charset="0"/>
                        <a:cs typeface="Calibri" charset="0"/>
                      </a:endParaRPr>
                    </a:p>
                  </a:txBody>
                  <a:tcPr marL="73152" marR="73152" marT="73152" marB="73152">
                    <a:lnL w="9525" cap="flat" cmpd="sng" algn="ctr">
                      <a:solidFill>
                        <a:srgbClr val="DCE3EC"/>
                      </a:solidFill>
                      <a:prstDash val="solid"/>
                      <a:round/>
                      <a:headEnd type="none" w="med" len="med"/>
                      <a:tailEnd type="none" w="med" len="med"/>
                    </a:lnL>
                    <a:lnR w="9525" cap="flat" cmpd="sng" algn="ctr">
                      <a:solidFill>
                        <a:srgbClr val="DCE3EC"/>
                      </a:solidFill>
                      <a:prstDash val="solid"/>
                      <a:round/>
                      <a:headEnd type="none" w="med" len="med"/>
                      <a:tailEnd type="none" w="med" len="med"/>
                    </a:lnR>
                    <a:lnT w="9525" cap="flat" cmpd="sng" algn="ctr">
                      <a:solidFill>
                        <a:srgbClr val="DCE3EC"/>
                      </a:solidFill>
                      <a:prstDash val="solid"/>
                      <a:round/>
                      <a:headEnd type="none" w="med" len="med"/>
                      <a:tailEnd type="none" w="med" len="med"/>
                    </a:lnT>
                    <a:lnB w="9525" cap="flat" cmpd="sng" algn="ctr">
                      <a:solidFill>
                        <a:srgbClr val="DCE3EC"/>
                      </a:solidFill>
                      <a:prstDash val="solid"/>
                      <a:round/>
                      <a:headEnd type="none" w="med" len="med"/>
                      <a:tailEnd type="none" w="med" len="med"/>
                    </a:lnB>
                    <a:solidFill>
                      <a:srgbClr val="E3F5F2"/>
                    </a:solidFill>
                  </a:tcPr>
                </a:tc>
              </a:tr>
            </a:tbl>
          </a:graphicData>
        </a:graphic>
      </p:graphicFrame>
      <p:sp>
        <p:nvSpPr>
          <p:cNvPr id="5" name="Text 2"/>
          <p:cNvSpPr txBox="1"/>
          <p:nvPr/>
        </p:nvSpPr>
        <p:spPr>
          <a:xfrm>
            <a:off x="457200" y="5623560"/>
            <a:ext cx="11247120" cy="548640"/>
          </a:xfrm>
          <a:prstGeom prst="rect">
            <a:avLst/>
          </a:prstGeom>
          <a:noFill/>
          <a:ln/>
        </p:spPr>
        <p:txBody>
          <a:bodyPr wrap="square" lIns="0" tIns="0" rIns="0" bIns="0" rtlCol="0" anchor="ctr"/>
          <a:lstStyle/>
          <a:p>
            <a:pPr indent="0" marL="0">
              <a:buNone/>
            </a:pPr>
            <a:r>
              <a:rPr lang="en-US" sz="1100" i="1" dirty="0">
                <a:solidFill>
                  <a:srgbClr val="5C6B7A"/>
                </a:solidFill>
                <a:latin typeface="Calibri" pitchFamily="34" charset="0"/>
                <a:ea typeface="Calibri" pitchFamily="34" charset="-122"/>
                <a:cs typeface="Calibri" pitchFamily="34" charset="-120"/>
              </a:rPr>
              <a:t>Le constat sur l'application réelle n'est pas publié (divulgation responsable). Les deux facteurs sont : ce que l'usager sait (PIN) et ce qu'il a (le téléphone lié, prouvé par signature). La biométrie n'en fait pas partie.</a:t>
            </a:r>
            <a:endParaRPr lang="en-US" sz="1100" dirty="0"/>
          </a:p>
        </p:txBody>
      </p:sp>
      <p:sp>
        <p:nvSpPr>
          <p:cNvPr id="6" name="Text 3"/>
          <p:cNvSpPr txBox="1"/>
          <p:nvPr/>
        </p:nvSpPr>
        <p:spPr>
          <a:xfrm>
            <a:off x="457200" y="6446520"/>
            <a:ext cx="8229600" cy="274320"/>
          </a:xfrm>
          <a:prstGeom prst="rect">
            <a:avLst/>
          </a:prstGeom>
          <a:noFill/>
          <a:ln/>
        </p:spPr>
        <p:txBody>
          <a:bodyPr wrap="square" lIns="0" tIns="0" rIns="0" bIns="0" rtlCol="0" anchor="ctr"/>
          <a:lstStyle/>
          <a:p>
            <a:pPr indent="0" marL="0">
              <a:buNone/>
            </a:pPr>
            <a:r>
              <a:rPr lang="en-US" sz="900" dirty="0">
                <a:solidFill>
                  <a:srgbClr val="5C6B7A"/>
                </a:solidFill>
                <a:latin typeface="Calibri" pitchFamily="34" charset="0"/>
                <a:ea typeface="Calibri" pitchFamily="34" charset="-122"/>
                <a:cs typeface="Calibri" pitchFamily="34" charset="-120"/>
              </a:rPr>
              <a:t>IdentiShield-CM · Dossier de design de l'application mobile · v1.0 · 25/09/2026</a:t>
            </a:r>
            <a:endParaRPr lang="en-US" sz="900" dirty="0"/>
          </a:p>
        </p:txBody>
      </p:sp>
      <p:sp>
        <p:nvSpPr>
          <p:cNvPr id="7" name="Text 4"/>
          <p:cNvSpPr txBox="1"/>
          <p:nvPr/>
        </p:nvSpPr>
        <p:spPr>
          <a:xfrm>
            <a:off x="11247120" y="6446520"/>
            <a:ext cx="548640" cy="274320"/>
          </a:xfrm>
          <a:prstGeom prst="rect">
            <a:avLst/>
          </a:prstGeom>
          <a:noFill/>
          <a:ln/>
        </p:spPr>
        <p:txBody>
          <a:bodyPr wrap="square" lIns="0" tIns="0" rIns="0" bIns="0"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3000" b="1" dirty="0">
                <a:solidFill>
                  <a:srgbClr val="10375C"/>
                </a:solidFill>
                <a:latin typeface="Calibri" pitchFamily="34" charset="0"/>
                <a:ea typeface="Calibri" pitchFamily="34" charset="-122"/>
                <a:cs typeface="Calibri" pitchFamily="34" charset="-120"/>
              </a:rPr>
              <a:t>Accessibilité, langues, téléphones d'entrée de gamme</a:t>
            </a:r>
            <a:endParaRPr lang="en-US" sz="3000" dirty="0"/>
          </a:p>
        </p:txBody>
      </p:sp>
      <p:sp>
        <p:nvSpPr>
          <p:cNvPr id="3" name="Text 1"/>
          <p:cNvSpPr txBox="1"/>
          <p:nvPr/>
        </p:nvSpPr>
        <p:spPr>
          <a:xfrm>
            <a:off x="457200" y="914400"/>
            <a:ext cx="11247120" cy="365760"/>
          </a:xfrm>
          <a:prstGeom prst="rect">
            <a:avLst/>
          </a:prstGeom>
          <a:noFill/>
          <a:ln/>
        </p:spPr>
        <p:txBody>
          <a:bodyPr wrap="square" lIns="0" tIns="0" rIns="0" bIns="0" rtlCol="0" anchor="ctr"/>
          <a:lstStyle/>
          <a:p>
            <a:pPr indent="0" marL="0">
              <a:buNone/>
            </a:pPr>
            <a:r>
              <a:rPr lang="en-US" sz="1400" dirty="0">
                <a:solidFill>
                  <a:srgbClr val="5C6B7A"/>
                </a:solidFill>
                <a:latin typeface="Calibri" pitchFamily="34" charset="0"/>
                <a:ea typeface="Calibri" pitchFamily="34" charset="-122"/>
                <a:cs typeface="Calibri" pitchFamily="34" charset="-120"/>
              </a:rPr>
              <a:t>L'usager cible a un téléphone Android modeste, parfois une vue fatiguée, et lit le français ou l'anglais.</a:t>
            </a:r>
            <a:endParaRPr lang="en-US" sz="1400" dirty="0"/>
          </a:p>
        </p:txBody>
      </p:sp>
      <p:sp>
        <p:nvSpPr>
          <p:cNvPr id="4" name="Shape 2"/>
          <p:cNvSpPr/>
          <p:nvPr/>
        </p:nvSpPr>
        <p:spPr>
          <a:xfrm>
            <a:off x="457200" y="1463040"/>
            <a:ext cx="3566160" cy="2103120"/>
          </a:xfrm>
          <a:prstGeom prst="roundRect">
            <a:avLst>
              <a:gd name="adj" fmla="val 5217"/>
            </a:avLst>
          </a:prstGeom>
          <a:solidFill>
            <a:srgbClr val="FFFFFF"/>
          </a:solidFill>
          <a:ln w="9525">
            <a:solidFill>
              <a:srgbClr val="DCE3EC"/>
            </a:solidFill>
            <a:prstDash val="solid"/>
          </a:ln>
        </p:spPr>
      </p:sp>
      <p:sp>
        <p:nvSpPr>
          <p:cNvPr id="5" name="Shape 3"/>
          <p:cNvSpPr/>
          <p:nvPr/>
        </p:nvSpPr>
        <p:spPr>
          <a:xfrm>
            <a:off x="685800" y="1691640"/>
            <a:ext cx="822960" cy="822960"/>
          </a:xfrm>
          <a:prstGeom prst="ellipse">
            <a:avLst/>
          </a:prstGeom>
          <a:solidFill>
            <a:srgbClr val="E8F1F8"/>
          </a:solidFill>
          <a:ln w="12700">
            <a:solidFill>
              <a:srgbClr val="E8F1F8"/>
            </a:solidFill>
            <a:prstDash val="solid"/>
          </a:ln>
        </p:spPr>
      </p:sp>
      <p:sp>
        <p:nvSpPr>
          <p:cNvPr id="6" name="Text 4"/>
          <p:cNvSpPr txBox="1"/>
          <p:nvPr/>
        </p:nvSpPr>
        <p:spPr>
          <a:xfrm>
            <a:off x="685800" y="1691640"/>
            <a:ext cx="822960" cy="822960"/>
          </a:xfrm>
          <a:prstGeom prst="rect">
            <a:avLst/>
          </a:prstGeom>
          <a:noFill/>
          <a:ln/>
        </p:spPr>
        <p:txBody>
          <a:bodyPr wrap="square" lIns="0" tIns="0" rIns="0" bIns="0" rtlCol="0" anchor="ctr"/>
          <a:lstStyle/>
          <a:p>
            <a:pPr algn="ctr" indent="0" marL="0">
              <a:buNone/>
            </a:pPr>
            <a:r>
              <a:rPr lang="en-US" sz="1400" b="1" dirty="0">
                <a:solidFill>
                  <a:srgbClr val="10375C"/>
                </a:solidFill>
                <a:latin typeface="Calibri" pitchFamily="34" charset="0"/>
                <a:ea typeface="Calibri" pitchFamily="34" charset="-122"/>
                <a:cs typeface="Calibri" pitchFamily="34" charset="-120"/>
              </a:rPr>
              <a:t>Aa</a:t>
            </a:r>
            <a:endParaRPr lang="en-US" sz="1400" dirty="0"/>
          </a:p>
        </p:txBody>
      </p:sp>
      <p:sp>
        <p:nvSpPr>
          <p:cNvPr id="7" name="Text 5"/>
          <p:cNvSpPr txBox="1"/>
          <p:nvPr/>
        </p:nvSpPr>
        <p:spPr>
          <a:xfrm>
            <a:off x="1645920" y="1737360"/>
            <a:ext cx="2240280" cy="73152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Taille de police système respectée</a:t>
            </a:r>
            <a:endParaRPr lang="en-US" sz="1300" dirty="0"/>
          </a:p>
        </p:txBody>
      </p:sp>
      <p:sp>
        <p:nvSpPr>
          <p:cNvPr id="8" name="Text 6"/>
          <p:cNvSpPr txBox="1"/>
          <p:nvPr/>
        </p:nvSpPr>
        <p:spPr>
          <a:xfrm>
            <a:off x="685800" y="2606040"/>
            <a:ext cx="3108960" cy="914400"/>
          </a:xfrm>
          <a:prstGeom prst="rect">
            <a:avLst/>
          </a:prstGeom>
          <a:noFill/>
          <a:ln/>
        </p:spPr>
        <p:txBody>
          <a:bodyPr wrap="square" lIns="0" tIns="0" rIns="0" bIns="0" rtlCol="0" anchor="t"/>
          <a:lstStyle/>
          <a:p>
            <a:pPr indent="0" marL="0">
              <a:buNone/>
            </a:pPr>
            <a:r>
              <a:rPr lang="en-US" sz="1150" dirty="0">
                <a:solidFill>
                  <a:srgbClr val="14213D"/>
                </a:solidFill>
                <a:latin typeface="Calibri" pitchFamily="34" charset="0"/>
                <a:ea typeface="Calibri" pitchFamily="34" charset="-122"/>
                <a:cs typeface="Calibri" pitchFamily="34" charset="-120"/>
              </a:rPr>
              <a:t>Tous les écrans supportent l'agrandissement ; les montants restent lisibles sans troncature.</a:t>
            </a:r>
            <a:endParaRPr lang="en-US" sz="1150" dirty="0"/>
          </a:p>
        </p:txBody>
      </p:sp>
      <p:sp>
        <p:nvSpPr>
          <p:cNvPr id="9" name="Shape 7"/>
          <p:cNvSpPr/>
          <p:nvPr/>
        </p:nvSpPr>
        <p:spPr>
          <a:xfrm>
            <a:off x="4297680" y="1463040"/>
            <a:ext cx="3566160" cy="2103120"/>
          </a:xfrm>
          <a:prstGeom prst="roundRect">
            <a:avLst>
              <a:gd name="adj" fmla="val 5217"/>
            </a:avLst>
          </a:prstGeom>
          <a:solidFill>
            <a:srgbClr val="FFFFFF"/>
          </a:solidFill>
          <a:ln w="9525">
            <a:solidFill>
              <a:srgbClr val="DCE3EC"/>
            </a:solidFill>
            <a:prstDash val="solid"/>
          </a:ln>
        </p:spPr>
      </p:sp>
      <p:sp>
        <p:nvSpPr>
          <p:cNvPr id="10" name="Shape 8"/>
          <p:cNvSpPr/>
          <p:nvPr/>
        </p:nvSpPr>
        <p:spPr>
          <a:xfrm>
            <a:off x="4526280" y="1691640"/>
            <a:ext cx="822960" cy="822960"/>
          </a:xfrm>
          <a:prstGeom prst="ellipse">
            <a:avLst/>
          </a:prstGeom>
          <a:solidFill>
            <a:srgbClr val="E8F1F8"/>
          </a:solidFill>
          <a:ln w="12700">
            <a:solidFill>
              <a:srgbClr val="E8F1F8"/>
            </a:solidFill>
            <a:prstDash val="solid"/>
          </a:ln>
        </p:spPr>
      </p:sp>
      <p:sp>
        <p:nvSpPr>
          <p:cNvPr id="11" name="Text 9"/>
          <p:cNvSpPr txBox="1"/>
          <p:nvPr/>
        </p:nvSpPr>
        <p:spPr>
          <a:xfrm>
            <a:off x="4526280" y="1691640"/>
            <a:ext cx="822960" cy="822960"/>
          </a:xfrm>
          <a:prstGeom prst="rect">
            <a:avLst/>
          </a:prstGeom>
          <a:noFill/>
          <a:ln/>
        </p:spPr>
        <p:txBody>
          <a:bodyPr wrap="square" lIns="0" tIns="0" rIns="0" bIns="0" rtlCol="0" anchor="ctr"/>
          <a:lstStyle/>
          <a:p>
            <a:pPr algn="ctr" indent="0" marL="0">
              <a:buNone/>
            </a:pPr>
            <a:r>
              <a:rPr lang="en-US" sz="1400" b="1" dirty="0">
                <a:solidFill>
                  <a:srgbClr val="10375C"/>
                </a:solidFill>
                <a:latin typeface="Calibri" pitchFamily="34" charset="0"/>
                <a:ea typeface="Calibri" pitchFamily="34" charset="-122"/>
                <a:cs typeface="Calibri" pitchFamily="34" charset="-120"/>
              </a:rPr>
              <a:t>◐</a:t>
            </a:r>
            <a:endParaRPr lang="en-US" sz="1400" dirty="0"/>
          </a:p>
        </p:txBody>
      </p:sp>
      <p:sp>
        <p:nvSpPr>
          <p:cNvPr id="12" name="Text 10"/>
          <p:cNvSpPr txBox="1"/>
          <p:nvPr/>
        </p:nvSpPr>
        <p:spPr>
          <a:xfrm>
            <a:off x="5486400" y="1737360"/>
            <a:ext cx="2240280" cy="73152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Contraste 4,5:1 minimum</a:t>
            </a:r>
            <a:endParaRPr lang="en-US" sz="1300" dirty="0"/>
          </a:p>
        </p:txBody>
      </p:sp>
      <p:sp>
        <p:nvSpPr>
          <p:cNvPr id="13" name="Text 11"/>
          <p:cNvSpPr txBox="1"/>
          <p:nvPr/>
        </p:nvSpPr>
        <p:spPr>
          <a:xfrm>
            <a:off x="4526280" y="2606040"/>
            <a:ext cx="3108960" cy="914400"/>
          </a:xfrm>
          <a:prstGeom prst="rect">
            <a:avLst/>
          </a:prstGeom>
          <a:noFill/>
          <a:ln/>
        </p:spPr>
        <p:txBody>
          <a:bodyPr wrap="square" lIns="0" tIns="0" rIns="0" bIns="0" rtlCol="0" anchor="t"/>
          <a:lstStyle/>
          <a:p>
            <a:pPr indent="0" marL="0">
              <a:buNone/>
            </a:pPr>
            <a:r>
              <a:rPr lang="en-US" sz="1150" dirty="0">
                <a:solidFill>
                  <a:srgbClr val="14213D"/>
                </a:solidFill>
                <a:latin typeface="Calibri" pitchFamily="34" charset="0"/>
                <a:ea typeface="Calibri" pitchFamily="34" charset="-122"/>
                <a:cs typeface="Calibri" pitchFamily="34" charset="-120"/>
              </a:rPr>
              <a:t>Texte marine sur fond clair, blanc sur marine ; jamais de gris clair sur blanc.</a:t>
            </a:r>
            <a:endParaRPr lang="en-US" sz="1150" dirty="0"/>
          </a:p>
        </p:txBody>
      </p:sp>
      <p:sp>
        <p:nvSpPr>
          <p:cNvPr id="14" name="Shape 12"/>
          <p:cNvSpPr/>
          <p:nvPr/>
        </p:nvSpPr>
        <p:spPr>
          <a:xfrm>
            <a:off x="8138160" y="1463040"/>
            <a:ext cx="3566160" cy="2103120"/>
          </a:xfrm>
          <a:prstGeom prst="roundRect">
            <a:avLst>
              <a:gd name="adj" fmla="val 5217"/>
            </a:avLst>
          </a:prstGeom>
          <a:solidFill>
            <a:srgbClr val="FFFFFF"/>
          </a:solidFill>
          <a:ln w="9525">
            <a:solidFill>
              <a:srgbClr val="DCE3EC"/>
            </a:solidFill>
            <a:prstDash val="solid"/>
          </a:ln>
        </p:spPr>
      </p:sp>
      <p:sp>
        <p:nvSpPr>
          <p:cNvPr id="15" name="Shape 13"/>
          <p:cNvSpPr/>
          <p:nvPr/>
        </p:nvSpPr>
        <p:spPr>
          <a:xfrm>
            <a:off x="8366760" y="1691640"/>
            <a:ext cx="822960" cy="822960"/>
          </a:xfrm>
          <a:prstGeom prst="ellipse">
            <a:avLst/>
          </a:prstGeom>
          <a:solidFill>
            <a:srgbClr val="E8F1F8"/>
          </a:solidFill>
          <a:ln w="12700">
            <a:solidFill>
              <a:srgbClr val="E8F1F8"/>
            </a:solidFill>
            <a:prstDash val="solid"/>
          </a:ln>
        </p:spPr>
      </p:sp>
      <p:sp>
        <p:nvSpPr>
          <p:cNvPr id="16" name="Text 14"/>
          <p:cNvSpPr txBox="1"/>
          <p:nvPr/>
        </p:nvSpPr>
        <p:spPr>
          <a:xfrm>
            <a:off x="8366760" y="1691640"/>
            <a:ext cx="822960" cy="822960"/>
          </a:xfrm>
          <a:prstGeom prst="rect">
            <a:avLst/>
          </a:prstGeom>
          <a:noFill/>
          <a:ln/>
        </p:spPr>
        <p:txBody>
          <a:bodyPr wrap="square" lIns="0" tIns="0" rIns="0" bIns="0" rtlCol="0" anchor="ctr"/>
          <a:lstStyle/>
          <a:p>
            <a:pPr algn="ctr" indent="0" marL="0">
              <a:buNone/>
            </a:pPr>
            <a:r>
              <a:rPr lang="en-US" sz="1400" b="1" dirty="0">
                <a:solidFill>
                  <a:srgbClr val="10375C"/>
                </a:solidFill>
                <a:latin typeface="Calibri" pitchFamily="34" charset="0"/>
                <a:ea typeface="Calibri" pitchFamily="34" charset="-122"/>
                <a:cs typeface="Calibri" pitchFamily="34" charset="-120"/>
              </a:rPr>
              <a:t>FR/EN</a:t>
            </a:r>
            <a:endParaRPr lang="en-US" sz="1400" dirty="0"/>
          </a:p>
        </p:txBody>
      </p:sp>
      <p:sp>
        <p:nvSpPr>
          <p:cNvPr id="17" name="Text 15"/>
          <p:cNvSpPr txBox="1"/>
          <p:nvPr/>
        </p:nvSpPr>
        <p:spPr>
          <a:xfrm>
            <a:off x="9326880" y="1737360"/>
            <a:ext cx="2240280" cy="73152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Français et anglais</a:t>
            </a:r>
            <a:endParaRPr lang="en-US" sz="1300" dirty="0"/>
          </a:p>
        </p:txBody>
      </p:sp>
      <p:sp>
        <p:nvSpPr>
          <p:cNvPr id="18" name="Text 16"/>
          <p:cNvSpPr txBox="1"/>
          <p:nvPr/>
        </p:nvSpPr>
        <p:spPr>
          <a:xfrm>
            <a:off x="8366760" y="2606040"/>
            <a:ext cx="3108960" cy="914400"/>
          </a:xfrm>
          <a:prstGeom prst="rect">
            <a:avLst/>
          </a:prstGeom>
          <a:noFill/>
          <a:ln/>
        </p:spPr>
        <p:txBody>
          <a:bodyPr wrap="square" lIns="0" tIns="0" rIns="0" bIns="0" rtlCol="0" anchor="t"/>
          <a:lstStyle/>
          <a:p>
            <a:pPr indent="0" marL="0">
              <a:buNone/>
            </a:pPr>
            <a:r>
              <a:rPr lang="en-US" sz="1150" dirty="0">
                <a:solidFill>
                  <a:srgbClr val="14213D"/>
                </a:solidFill>
                <a:latin typeface="Calibri" pitchFamily="34" charset="0"/>
                <a:ea typeface="Calibri" pitchFamily="34" charset="-122"/>
                <a:cs typeface="Calibri" pitchFamily="34" charset="-120"/>
              </a:rPr>
              <a:t>Libellés courts et complets ; pas de jargon (« déverrouillez votre téléphone », pas « biométrie »).</a:t>
            </a:r>
            <a:endParaRPr lang="en-US" sz="1150" dirty="0"/>
          </a:p>
        </p:txBody>
      </p:sp>
      <p:sp>
        <p:nvSpPr>
          <p:cNvPr id="19" name="Shape 17"/>
          <p:cNvSpPr/>
          <p:nvPr/>
        </p:nvSpPr>
        <p:spPr>
          <a:xfrm>
            <a:off x="457200" y="3794760"/>
            <a:ext cx="3566160" cy="2103120"/>
          </a:xfrm>
          <a:prstGeom prst="roundRect">
            <a:avLst>
              <a:gd name="adj" fmla="val 5217"/>
            </a:avLst>
          </a:prstGeom>
          <a:solidFill>
            <a:srgbClr val="FFFFFF"/>
          </a:solidFill>
          <a:ln w="9525">
            <a:solidFill>
              <a:srgbClr val="DCE3EC"/>
            </a:solidFill>
            <a:prstDash val="solid"/>
          </a:ln>
        </p:spPr>
      </p:sp>
      <p:sp>
        <p:nvSpPr>
          <p:cNvPr id="20" name="Shape 18"/>
          <p:cNvSpPr/>
          <p:nvPr/>
        </p:nvSpPr>
        <p:spPr>
          <a:xfrm>
            <a:off x="685800" y="4023360"/>
            <a:ext cx="822960" cy="822960"/>
          </a:xfrm>
          <a:prstGeom prst="ellipse">
            <a:avLst/>
          </a:prstGeom>
          <a:solidFill>
            <a:srgbClr val="E8F1F8"/>
          </a:solidFill>
          <a:ln w="12700">
            <a:solidFill>
              <a:srgbClr val="E8F1F8"/>
            </a:solidFill>
            <a:prstDash val="solid"/>
          </a:ln>
        </p:spPr>
      </p:sp>
      <p:sp>
        <p:nvSpPr>
          <p:cNvPr id="21" name="Text 19"/>
          <p:cNvSpPr txBox="1"/>
          <p:nvPr/>
        </p:nvSpPr>
        <p:spPr>
          <a:xfrm>
            <a:off x="685800" y="4023360"/>
            <a:ext cx="822960" cy="822960"/>
          </a:xfrm>
          <a:prstGeom prst="rect">
            <a:avLst/>
          </a:prstGeom>
          <a:noFill/>
          <a:ln/>
        </p:spPr>
        <p:txBody>
          <a:bodyPr wrap="square" lIns="0" tIns="0" rIns="0" bIns="0" rtlCol="0" anchor="ctr"/>
          <a:lstStyle/>
          <a:p>
            <a:pPr algn="ctr" indent="0" marL="0">
              <a:buNone/>
            </a:pPr>
            <a:r>
              <a:rPr lang="en-US" sz="1400" b="1" dirty="0">
                <a:solidFill>
                  <a:srgbClr val="10375C"/>
                </a:solidFill>
                <a:latin typeface="Calibri" pitchFamily="34" charset="0"/>
                <a:ea typeface="Calibri" pitchFamily="34" charset="-122"/>
                <a:cs typeface="Calibri" pitchFamily="34" charset="-120"/>
              </a:rPr>
              <a:t>2 Go</a:t>
            </a:r>
            <a:endParaRPr lang="en-US" sz="1400" dirty="0"/>
          </a:p>
        </p:txBody>
      </p:sp>
      <p:sp>
        <p:nvSpPr>
          <p:cNvPr id="22" name="Text 20"/>
          <p:cNvSpPr txBox="1"/>
          <p:nvPr/>
        </p:nvSpPr>
        <p:spPr>
          <a:xfrm>
            <a:off x="1645920" y="4069080"/>
            <a:ext cx="2240280" cy="73152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Téléphone d'entrée de gamme</a:t>
            </a:r>
            <a:endParaRPr lang="en-US" sz="1300" dirty="0"/>
          </a:p>
        </p:txBody>
      </p:sp>
      <p:sp>
        <p:nvSpPr>
          <p:cNvPr id="23" name="Text 21"/>
          <p:cNvSpPr txBox="1"/>
          <p:nvPr/>
        </p:nvSpPr>
        <p:spPr>
          <a:xfrm>
            <a:off x="685800" y="4937760"/>
            <a:ext cx="3108960" cy="914400"/>
          </a:xfrm>
          <a:prstGeom prst="rect">
            <a:avLst/>
          </a:prstGeom>
          <a:noFill/>
          <a:ln/>
        </p:spPr>
        <p:txBody>
          <a:bodyPr wrap="square" lIns="0" tIns="0" rIns="0" bIns="0" rtlCol="0" anchor="t"/>
          <a:lstStyle/>
          <a:p>
            <a:pPr indent="0" marL="0">
              <a:buNone/>
            </a:pPr>
            <a:r>
              <a:rPr lang="en-US" sz="1150" dirty="0">
                <a:solidFill>
                  <a:srgbClr val="14213D"/>
                </a:solidFill>
                <a:latin typeface="Calibri" pitchFamily="34" charset="0"/>
                <a:ea typeface="Calibri" pitchFamily="34" charset="-122"/>
                <a:cs typeface="Calibri" pitchFamily="34" charset="-120"/>
              </a:rPr>
              <a:t>Android 11 minimum (85 % du parc africain) ; APK &lt; 15 Mo ; aucune police à télécharger.</a:t>
            </a:r>
            <a:endParaRPr lang="en-US" sz="1150" dirty="0"/>
          </a:p>
        </p:txBody>
      </p:sp>
      <p:sp>
        <p:nvSpPr>
          <p:cNvPr id="24" name="Shape 22"/>
          <p:cNvSpPr/>
          <p:nvPr/>
        </p:nvSpPr>
        <p:spPr>
          <a:xfrm>
            <a:off x="4297680" y="3794760"/>
            <a:ext cx="3566160" cy="2103120"/>
          </a:xfrm>
          <a:prstGeom prst="roundRect">
            <a:avLst>
              <a:gd name="adj" fmla="val 5217"/>
            </a:avLst>
          </a:prstGeom>
          <a:solidFill>
            <a:srgbClr val="FFFFFF"/>
          </a:solidFill>
          <a:ln w="9525">
            <a:solidFill>
              <a:srgbClr val="DCE3EC"/>
            </a:solidFill>
            <a:prstDash val="solid"/>
          </a:ln>
        </p:spPr>
      </p:sp>
      <p:sp>
        <p:nvSpPr>
          <p:cNvPr id="25" name="Shape 23"/>
          <p:cNvSpPr/>
          <p:nvPr/>
        </p:nvSpPr>
        <p:spPr>
          <a:xfrm>
            <a:off x="4526280" y="4023360"/>
            <a:ext cx="822960" cy="822960"/>
          </a:xfrm>
          <a:prstGeom prst="ellipse">
            <a:avLst/>
          </a:prstGeom>
          <a:solidFill>
            <a:srgbClr val="E8F1F8"/>
          </a:solidFill>
          <a:ln w="12700">
            <a:solidFill>
              <a:srgbClr val="E8F1F8"/>
            </a:solidFill>
            <a:prstDash val="solid"/>
          </a:ln>
        </p:spPr>
      </p:sp>
      <p:sp>
        <p:nvSpPr>
          <p:cNvPr id="26" name="Text 24"/>
          <p:cNvSpPr txBox="1"/>
          <p:nvPr/>
        </p:nvSpPr>
        <p:spPr>
          <a:xfrm>
            <a:off x="4526280" y="4023360"/>
            <a:ext cx="822960" cy="822960"/>
          </a:xfrm>
          <a:prstGeom prst="rect">
            <a:avLst/>
          </a:prstGeom>
          <a:noFill/>
          <a:ln/>
        </p:spPr>
        <p:txBody>
          <a:bodyPr wrap="square" lIns="0" tIns="0" rIns="0" bIns="0" rtlCol="0" anchor="ctr"/>
          <a:lstStyle/>
          <a:p>
            <a:pPr algn="ctr" indent="0" marL="0">
              <a:buNone/>
            </a:pPr>
            <a:r>
              <a:rPr lang="en-US" sz="1400" b="1" dirty="0">
                <a:solidFill>
                  <a:srgbClr val="10375C"/>
                </a:solidFill>
                <a:latin typeface="Calibri" pitchFamily="34" charset="0"/>
                <a:ea typeface="Calibri" pitchFamily="34" charset="-122"/>
                <a:cs typeface="Calibri" pitchFamily="34" charset="-120"/>
              </a:rPr>
              <a:t>⌛</a:t>
            </a:r>
            <a:endParaRPr lang="en-US" sz="1400" dirty="0"/>
          </a:p>
        </p:txBody>
      </p:sp>
      <p:sp>
        <p:nvSpPr>
          <p:cNvPr id="27" name="Text 25"/>
          <p:cNvSpPr txBox="1"/>
          <p:nvPr/>
        </p:nvSpPr>
        <p:spPr>
          <a:xfrm>
            <a:off x="5486400" y="4069080"/>
            <a:ext cx="2240280" cy="73152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Réseau lent ou coupé</a:t>
            </a:r>
            <a:endParaRPr lang="en-US" sz="1300" dirty="0"/>
          </a:p>
        </p:txBody>
      </p:sp>
      <p:sp>
        <p:nvSpPr>
          <p:cNvPr id="28" name="Text 26"/>
          <p:cNvSpPr txBox="1"/>
          <p:nvPr/>
        </p:nvSpPr>
        <p:spPr>
          <a:xfrm>
            <a:off x="4526280" y="4937760"/>
            <a:ext cx="3108960" cy="914400"/>
          </a:xfrm>
          <a:prstGeom prst="rect">
            <a:avLst/>
          </a:prstGeom>
          <a:noFill/>
          <a:ln/>
        </p:spPr>
        <p:txBody>
          <a:bodyPr wrap="square" lIns="0" tIns="0" rIns="0" bIns="0" rtlCol="0" anchor="t"/>
          <a:lstStyle/>
          <a:p>
            <a:pPr indent="0" marL="0">
              <a:buNone/>
            </a:pPr>
            <a:r>
              <a:rPr lang="en-US" sz="1150" dirty="0">
                <a:solidFill>
                  <a:srgbClr val="14213D"/>
                </a:solidFill>
                <a:latin typeface="Calibri" pitchFamily="34" charset="0"/>
                <a:ea typeface="Calibri" pitchFamily="34" charset="-122"/>
                <a:cs typeface="Calibri" pitchFamily="34" charset="-120"/>
              </a:rPr>
              <a:t>Délai 10 s avec message clair ; aucun envoi mis en file d'attente hors ligne.</a:t>
            </a:r>
            <a:endParaRPr lang="en-US" sz="1150" dirty="0"/>
          </a:p>
        </p:txBody>
      </p:sp>
      <p:sp>
        <p:nvSpPr>
          <p:cNvPr id="29" name="Shape 27"/>
          <p:cNvSpPr/>
          <p:nvPr/>
        </p:nvSpPr>
        <p:spPr>
          <a:xfrm>
            <a:off x="8138160" y="3794760"/>
            <a:ext cx="3566160" cy="2103120"/>
          </a:xfrm>
          <a:prstGeom prst="roundRect">
            <a:avLst>
              <a:gd name="adj" fmla="val 5217"/>
            </a:avLst>
          </a:prstGeom>
          <a:solidFill>
            <a:srgbClr val="FFFFFF"/>
          </a:solidFill>
          <a:ln w="9525">
            <a:solidFill>
              <a:srgbClr val="DCE3EC"/>
            </a:solidFill>
            <a:prstDash val="solid"/>
          </a:ln>
        </p:spPr>
      </p:sp>
      <p:sp>
        <p:nvSpPr>
          <p:cNvPr id="30" name="Shape 28"/>
          <p:cNvSpPr/>
          <p:nvPr/>
        </p:nvSpPr>
        <p:spPr>
          <a:xfrm>
            <a:off x="8366760" y="4023360"/>
            <a:ext cx="822960" cy="822960"/>
          </a:xfrm>
          <a:prstGeom prst="ellipse">
            <a:avLst/>
          </a:prstGeom>
          <a:solidFill>
            <a:srgbClr val="E8F1F8"/>
          </a:solidFill>
          <a:ln w="12700">
            <a:solidFill>
              <a:srgbClr val="E8F1F8"/>
            </a:solidFill>
            <a:prstDash val="solid"/>
          </a:ln>
        </p:spPr>
      </p:sp>
      <p:sp>
        <p:nvSpPr>
          <p:cNvPr id="31" name="Text 29"/>
          <p:cNvSpPr txBox="1"/>
          <p:nvPr/>
        </p:nvSpPr>
        <p:spPr>
          <a:xfrm>
            <a:off x="8366760" y="4023360"/>
            <a:ext cx="822960" cy="822960"/>
          </a:xfrm>
          <a:prstGeom prst="rect">
            <a:avLst/>
          </a:prstGeom>
          <a:noFill/>
          <a:ln/>
        </p:spPr>
        <p:txBody>
          <a:bodyPr wrap="square" lIns="0" tIns="0" rIns="0" bIns="0" rtlCol="0" anchor="ctr"/>
          <a:lstStyle/>
          <a:p>
            <a:pPr algn="ctr" indent="0" marL="0">
              <a:buNone/>
            </a:pPr>
            <a:r>
              <a:rPr lang="en-US" sz="1400" b="1" dirty="0">
                <a:solidFill>
                  <a:srgbClr val="10375C"/>
                </a:solidFill>
                <a:latin typeface="Calibri" pitchFamily="34" charset="0"/>
                <a:ea typeface="Calibri" pitchFamily="34" charset="-122"/>
                <a:cs typeface="Calibri" pitchFamily="34" charset="-120"/>
              </a:rPr>
              <a:t>👆</a:t>
            </a:r>
            <a:endParaRPr lang="en-US" sz="1400" dirty="0"/>
          </a:p>
        </p:txBody>
      </p:sp>
      <p:sp>
        <p:nvSpPr>
          <p:cNvPr id="32" name="Text 30"/>
          <p:cNvSpPr txBox="1"/>
          <p:nvPr/>
        </p:nvSpPr>
        <p:spPr>
          <a:xfrm>
            <a:off x="9326880" y="4069080"/>
            <a:ext cx="2240280" cy="73152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Cibles de 48 dp</a:t>
            </a:r>
            <a:endParaRPr lang="en-US" sz="1300" dirty="0"/>
          </a:p>
        </p:txBody>
      </p:sp>
      <p:sp>
        <p:nvSpPr>
          <p:cNvPr id="33" name="Text 31"/>
          <p:cNvSpPr txBox="1"/>
          <p:nvPr/>
        </p:nvSpPr>
        <p:spPr>
          <a:xfrm>
            <a:off x="8366760" y="4937760"/>
            <a:ext cx="3108960" cy="914400"/>
          </a:xfrm>
          <a:prstGeom prst="rect">
            <a:avLst/>
          </a:prstGeom>
          <a:noFill/>
          <a:ln/>
        </p:spPr>
        <p:txBody>
          <a:bodyPr wrap="square" lIns="0" tIns="0" rIns="0" bIns="0" rtlCol="0" anchor="t"/>
          <a:lstStyle/>
          <a:p>
            <a:pPr indent="0" marL="0">
              <a:buNone/>
            </a:pPr>
            <a:r>
              <a:rPr lang="en-US" sz="1150" dirty="0">
                <a:solidFill>
                  <a:srgbClr val="14213D"/>
                </a:solidFill>
                <a:latin typeface="Calibri" pitchFamily="34" charset="0"/>
                <a:ea typeface="Calibri" pitchFamily="34" charset="-122"/>
                <a:cs typeface="Calibri" pitchFamily="34" charset="-120"/>
              </a:rPr>
              <a:t>Boutons pleine largeur, pavé numérique large, un seul geste principal par écran.</a:t>
            </a:r>
            <a:endParaRPr lang="en-US" sz="1150" dirty="0"/>
          </a:p>
        </p:txBody>
      </p:sp>
      <p:sp>
        <p:nvSpPr>
          <p:cNvPr id="34" name="Text 32"/>
          <p:cNvSpPr txBox="1"/>
          <p:nvPr/>
        </p:nvSpPr>
        <p:spPr>
          <a:xfrm>
            <a:off x="457200" y="6446520"/>
            <a:ext cx="8229600" cy="274320"/>
          </a:xfrm>
          <a:prstGeom prst="rect">
            <a:avLst/>
          </a:prstGeom>
          <a:noFill/>
          <a:ln/>
        </p:spPr>
        <p:txBody>
          <a:bodyPr wrap="square" lIns="0" tIns="0" rIns="0" bIns="0" rtlCol="0" anchor="ctr"/>
          <a:lstStyle/>
          <a:p>
            <a:pPr indent="0" marL="0">
              <a:buNone/>
            </a:pPr>
            <a:r>
              <a:rPr lang="en-US" sz="900" dirty="0">
                <a:solidFill>
                  <a:srgbClr val="5C6B7A"/>
                </a:solidFill>
                <a:latin typeface="Calibri" pitchFamily="34" charset="0"/>
                <a:ea typeface="Calibri" pitchFamily="34" charset="-122"/>
                <a:cs typeface="Calibri" pitchFamily="34" charset="-120"/>
              </a:rPr>
              <a:t>IdentiShield-CM · Dossier de design de l'application mobile · v1.0 · 25/09/2026</a:t>
            </a:r>
            <a:endParaRPr lang="en-US" sz="900" dirty="0"/>
          </a:p>
        </p:txBody>
      </p:sp>
      <p:sp>
        <p:nvSpPr>
          <p:cNvPr id="35" name="Text 33"/>
          <p:cNvSpPr txBox="1"/>
          <p:nvPr/>
        </p:nvSpPr>
        <p:spPr>
          <a:xfrm>
            <a:off x="11247120" y="6446520"/>
            <a:ext cx="548640" cy="274320"/>
          </a:xfrm>
          <a:prstGeom prst="rect">
            <a:avLst/>
          </a:prstGeom>
          <a:noFill/>
          <a:ln/>
        </p:spPr>
        <p:txBody>
          <a:bodyPr wrap="square" lIns="0" tIns="0" rIns="0" bIns="0"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3000" b="1" dirty="0">
                <a:solidFill>
                  <a:srgbClr val="10375C"/>
                </a:solidFill>
                <a:latin typeface="Calibri" pitchFamily="34" charset="0"/>
                <a:ea typeface="Calibri" pitchFamily="34" charset="-122"/>
                <a:cs typeface="Calibri" pitchFamily="34" charset="-120"/>
              </a:rPr>
              <a:t>Décisions encore ouvertes</a:t>
            </a:r>
            <a:endParaRPr lang="en-US" sz="3000" dirty="0"/>
          </a:p>
        </p:txBody>
      </p:sp>
      <p:sp>
        <p:nvSpPr>
          <p:cNvPr id="3" name="Text 1"/>
          <p:cNvSpPr txBox="1"/>
          <p:nvPr/>
        </p:nvSpPr>
        <p:spPr>
          <a:xfrm>
            <a:off x="457200" y="914400"/>
            <a:ext cx="11247120" cy="365760"/>
          </a:xfrm>
          <a:prstGeom prst="rect">
            <a:avLst/>
          </a:prstGeom>
          <a:noFill/>
          <a:ln/>
        </p:spPr>
        <p:txBody>
          <a:bodyPr wrap="square" lIns="0" tIns="0" rIns="0" bIns="0" rtlCol="0" anchor="ctr"/>
          <a:lstStyle/>
          <a:p>
            <a:pPr indent="0" marL="0">
              <a:buNone/>
            </a:pPr>
            <a:r>
              <a:rPr lang="en-US" sz="1400" dirty="0">
                <a:solidFill>
                  <a:srgbClr val="5C6B7A"/>
                </a:solidFill>
                <a:latin typeface="Calibri" pitchFamily="34" charset="0"/>
                <a:ea typeface="Calibri" pitchFamily="34" charset="-122"/>
                <a:cs typeface="Calibri" pitchFamily="34" charset="-120"/>
              </a:rPr>
              <a:t>Trois points, écrits comme tels dans les documents. Aucun ne bloque le début du code.</a:t>
            </a:r>
            <a:endParaRPr lang="en-US" sz="1400" dirty="0"/>
          </a:p>
        </p:txBody>
      </p:sp>
      <p:sp>
        <p:nvSpPr>
          <p:cNvPr id="4" name="Shape 2"/>
          <p:cNvSpPr/>
          <p:nvPr/>
        </p:nvSpPr>
        <p:spPr>
          <a:xfrm>
            <a:off x="457200" y="1463040"/>
            <a:ext cx="11247120" cy="1371600"/>
          </a:xfrm>
          <a:prstGeom prst="roundRect">
            <a:avLst>
              <a:gd name="adj" fmla="val 8000"/>
            </a:avLst>
          </a:prstGeom>
          <a:solidFill>
            <a:srgbClr val="FDF1DC"/>
          </a:solidFill>
          <a:ln w="9525">
            <a:solidFill>
              <a:srgbClr val="DCE3EC"/>
            </a:solidFill>
            <a:prstDash val="solid"/>
          </a:ln>
        </p:spPr>
      </p:sp>
      <p:sp>
        <p:nvSpPr>
          <p:cNvPr id="5" name="Shape 3"/>
          <p:cNvSpPr/>
          <p:nvPr/>
        </p:nvSpPr>
        <p:spPr>
          <a:xfrm>
            <a:off x="731520" y="1874520"/>
            <a:ext cx="1097280" cy="502920"/>
          </a:xfrm>
          <a:prstGeom prst="roundRect">
            <a:avLst>
              <a:gd name="adj" fmla="val 36364"/>
            </a:avLst>
          </a:prstGeom>
          <a:solidFill>
            <a:srgbClr val="10375C"/>
          </a:solidFill>
          <a:ln w="12700">
            <a:solidFill>
              <a:srgbClr val="10375C"/>
            </a:solidFill>
            <a:prstDash val="solid"/>
          </a:ln>
        </p:spPr>
      </p:sp>
      <p:sp>
        <p:nvSpPr>
          <p:cNvPr id="6" name="Text 4"/>
          <p:cNvSpPr txBox="1"/>
          <p:nvPr/>
        </p:nvSpPr>
        <p:spPr>
          <a:xfrm>
            <a:off x="731520" y="1874520"/>
            <a:ext cx="10972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QM-05</a:t>
            </a:r>
            <a:endParaRPr lang="en-US" sz="1300" dirty="0"/>
          </a:p>
        </p:txBody>
      </p:sp>
      <p:sp>
        <p:nvSpPr>
          <p:cNvPr id="7" name="Text 5"/>
          <p:cNvSpPr txBox="1"/>
          <p:nvPr/>
        </p:nvSpPr>
        <p:spPr>
          <a:xfrm>
            <a:off x="2103120" y="1645920"/>
            <a:ext cx="9144000" cy="411480"/>
          </a:xfrm>
          <a:prstGeom prst="rect">
            <a:avLst/>
          </a:prstGeom>
          <a:noFill/>
          <a:ln/>
        </p:spPr>
        <p:txBody>
          <a:bodyPr wrap="square" lIns="0" tIns="0" rIns="0" bIns="0" rtlCol="0" anchor="ctr"/>
          <a:lstStyle/>
          <a:p>
            <a:pPr indent="0" marL="0">
              <a:buNone/>
            </a:pPr>
            <a:r>
              <a:rPr lang="en-US" sz="1500" b="1" dirty="0">
                <a:solidFill>
                  <a:srgbClr val="10375C"/>
                </a:solidFill>
                <a:latin typeface="Calibri" pitchFamily="34" charset="0"/>
                <a:ea typeface="Calibri" pitchFamily="34" charset="-122"/>
                <a:cs typeface="Calibri" pitchFamily="34" charset="-120"/>
              </a:rPr>
              <a:t>Clé de récupération perdue</a:t>
            </a:r>
            <a:endParaRPr lang="en-US" sz="1500" dirty="0"/>
          </a:p>
        </p:txBody>
      </p:sp>
      <p:sp>
        <p:nvSpPr>
          <p:cNvPr id="8" name="Text 6"/>
          <p:cNvSpPr txBox="1"/>
          <p:nvPr/>
        </p:nvSpPr>
        <p:spPr>
          <a:xfrm>
            <a:off x="2103120" y="2057400"/>
            <a:ext cx="9326880" cy="731520"/>
          </a:xfrm>
          <a:prstGeom prst="rect">
            <a:avLst/>
          </a:prstGeom>
          <a:noFill/>
          <a:ln/>
        </p:spPr>
        <p:txBody>
          <a:bodyPr wrap="square" lIns="0" tIns="0" rIns="0" bIns="0" rtlCol="0" anchor="t"/>
          <a:lstStyle/>
          <a:p>
            <a:pPr indent="0" marL="0">
              <a:buNone/>
            </a:pPr>
            <a:r>
              <a:rPr lang="en-US" sz="1200" dirty="0">
                <a:solidFill>
                  <a:srgbClr val="14213D"/>
                </a:solidFill>
                <a:latin typeface="Calibri" pitchFamily="34" charset="0"/>
                <a:ea typeface="Calibri" pitchFamily="34" charset="-122"/>
                <a:cs typeface="Calibri" pitchFamily="34" charset="-120"/>
              </a:rPr>
              <a:t>L'application n'affiche qu'un écran d'orientation (E-26). La procédure (agent, pièce d'identité, quatre yeux ?) reste à trancher. Point G1 de l'audit du 30/08.</a:t>
            </a:r>
            <a:endParaRPr lang="en-US" sz="1200" dirty="0"/>
          </a:p>
        </p:txBody>
      </p:sp>
      <p:sp>
        <p:nvSpPr>
          <p:cNvPr id="9" name="Shape 7"/>
          <p:cNvSpPr/>
          <p:nvPr/>
        </p:nvSpPr>
        <p:spPr>
          <a:xfrm>
            <a:off x="457200" y="3017520"/>
            <a:ext cx="11247120" cy="1371600"/>
          </a:xfrm>
          <a:prstGeom prst="roundRect">
            <a:avLst>
              <a:gd name="adj" fmla="val 8000"/>
            </a:avLst>
          </a:prstGeom>
          <a:solidFill>
            <a:srgbClr val="F4F7FB"/>
          </a:solidFill>
          <a:ln w="9525">
            <a:solidFill>
              <a:srgbClr val="DCE3EC"/>
            </a:solidFill>
            <a:prstDash val="solid"/>
          </a:ln>
        </p:spPr>
      </p:sp>
      <p:sp>
        <p:nvSpPr>
          <p:cNvPr id="10" name="Shape 8"/>
          <p:cNvSpPr/>
          <p:nvPr/>
        </p:nvSpPr>
        <p:spPr>
          <a:xfrm>
            <a:off x="731520" y="3429000"/>
            <a:ext cx="1097280" cy="502920"/>
          </a:xfrm>
          <a:prstGeom prst="roundRect">
            <a:avLst>
              <a:gd name="adj" fmla="val 36364"/>
            </a:avLst>
          </a:prstGeom>
          <a:solidFill>
            <a:srgbClr val="10375C"/>
          </a:solidFill>
          <a:ln w="12700">
            <a:solidFill>
              <a:srgbClr val="10375C"/>
            </a:solidFill>
            <a:prstDash val="solid"/>
          </a:ln>
        </p:spPr>
      </p:sp>
      <p:sp>
        <p:nvSpPr>
          <p:cNvPr id="11" name="Text 9"/>
          <p:cNvSpPr txBox="1"/>
          <p:nvPr/>
        </p:nvSpPr>
        <p:spPr>
          <a:xfrm>
            <a:off x="731520" y="3429000"/>
            <a:ext cx="10972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QM-14</a:t>
            </a:r>
            <a:endParaRPr lang="en-US" sz="1300" dirty="0"/>
          </a:p>
        </p:txBody>
      </p:sp>
      <p:sp>
        <p:nvSpPr>
          <p:cNvPr id="12" name="Text 10"/>
          <p:cNvSpPr txBox="1"/>
          <p:nvPr/>
        </p:nvSpPr>
        <p:spPr>
          <a:xfrm>
            <a:off x="2103120" y="3200400"/>
            <a:ext cx="9144000" cy="411480"/>
          </a:xfrm>
          <a:prstGeom prst="rect">
            <a:avLst/>
          </a:prstGeom>
          <a:noFill/>
          <a:ln/>
        </p:spPr>
        <p:txBody>
          <a:bodyPr wrap="square" lIns="0" tIns="0" rIns="0" bIns="0" rtlCol="0" anchor="ctr"/>
          <a:lstStyle/>
          <a:p>
            <a:pPr indent="0" marL="0">
              <a:buNone/>
            </a:pPr>
            <a:r>
              <a:rPr lang="en-US" sz="1500" b="1" dirty="0">
                <a:solidFill>
                  <a:srgbClr val="10375C"/>
                </a:solidFill>
                <a:latin typeface="Calibri" pitchFamily="34" charset="0"/>
                <a:ea typeface="Calibri" pitchFamily="34" charset="-122"/>
                <a:cs typeface="Calibri" pitchFamily="34" charset="-120"/>
              </a:rPr>
              <a:t>Anti-force-brute du PIN</a:t>
            </a:r>
            <a:endParaRPr lang="en-US" sz="1500" dirty="0"/>
          </a:p>
        </p:txBody>
      </p:sp>
      <p:sp>
        <p:nvSpPr>
          <p:cNvPr id="13" name="Text 11"/>
          <p:cNvSpPr txBox="1"/>
          <p:nvPr/>
        </p:nvSpPr>
        <p:spPr>
          <a:xfrm>
            <a:off x="2103120" y="3611880"/>
            <a:ext cx="9326880" cy="731520"/>
          </a:xfrm>
          <a:prstGeom prst="rect">
            <a:avLst/>
          </a:prstGeom>
          <a:noFill/>
          <a:ln/>
        </p:spPr>
        <p:txBody>
          <a:bodyPr wrap="square" lIns="0" tIns="0" rIns="0" bIns="0" rtlCol="0" anchor="t"/>
          <a:lstStyle/>
          <a:p>
            <a:pPr indent="0" marL="0">
              <a:buNone/>
            </a:pPr>
            <a:r>
              <a:rPr lang="en-US" sz="1200" dirty="0">
                <a:solidFill>
                  <a:srgbClr val="14213D"/>
                </a:solidFill>
                <a:latin typeface="Calibri" pitchFamily="34" charset="0"/>
                <a:ea typeface="Calibri" pitchFamily="34" charset="-122"/>
                <a:cs typeface="Calibri" pitchFamily="34" charset="-120"/>
              </a:rPr>
              <a:t>Recommandation : trois essais, puis délai croissant par origine ; jamais de blocage du compte, pour ne pas offrir un déni de service à l'attaquant.</a:t>
            </a:r>
            <a:endParaRPr lang="en-US" sz="1200" dirty="0"/>
          </a:p>
        </p:txBody>
      </p:sp>
      <p:sp>
        <p:nvSpPr>
          <p:cNvPr id="14" name="Shape 12"/>
          <p:cNvSpPr/>
          <p:nvPr/>
        </p:nvSpPr>
        <p:spPr>
          <a:xfrm>
            <a:off x="457200" y="4572000"/>
            <a:ext cx="11247120" cy="1371600"/>
          </a:xfrm>
          <a:prstGeom prst="roundRect">
            <a:avLst>
              <a:gd name="adj" fmla="val 8000"/>
            </a:avLst>
          </a:prstGeom>
          <a:solidFill>
            <a:srgbClr val="F4F7FB"/>
          </a:solidFill>
          <a:ln w="9525">
            <a:solidFill>
              <a:srgbClr val="DCE3EC"/>
            </a:solidFill>
            <a:prstDash val="solid"/>
          </a:ln>
        </p:spPr>
      </p:sp>
      <p:sp>
        <p:nvSpPr>
          <p:cNvPr id="15" name="Shape 13"/>
          <p:cNvSpPr/>
          <p:nvPr/>
        </p:nvSpPr>
        <p:spPr>
          <a:xfrm>
            <a:off x="731520" y="4983480"/>
            <a:ext cx="1097280" cy="502920"/>
          </a:xfrm>
          <a:prstGeom prst="roundRect">
            <a:avLst>
              <a:gd name="adj" fmla="val 36364"/>
            </a:avLst>
          </a:prstGeom>
          <a:solidFill>
            <a:srgbClr val="10375C"/>
          </a:solidFill>
          <a:ln w="12700">
            <a:solidFill>
              <a:srgbClr val="10375C"/>
            </a:solidFill>
            <a:prstDash val="solid"/>
          </a:ln>
        </p:spPr>
      </p:sp>
      <p:sp>
        <p:nvSpPr>
          <p:cNvPr id="16" name="Text 14"/>
          <p:cNvSpPr txBox="1"/>
          <p:nvPr/>
        </p:nvSpPr>
        <p:spPr>
          <a:xfrm>
            <a:off x="731520" y="4983480"/>
            <a:ext cx="10972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QF-01</a:t>
            </a:r>
            <a:endParaRPr lang="en-US" sz="1300" dirty="0"/>
          </a:p>
        </p:txBody>
      </p:sp>
      <p:sp>
        <p:nvSpPr>
          <p:cNvPr id="17" name="Text 15"/>
          <p:cNvSpPr txBox="1"/>
          <p:nvPr/>
        </p:nvSpPr>
        <p:spPr>
          <a:xfrm>
            <a:off x="2103120" y="4754880"/>
            <a:ext cx="9144000" cy="411480"/>
          </a:xfrm>
          <a:prstGeom prst="rect">
            <a:avLst/>
          </a:prstGeom>
          <a:noFill/>
          <a:ln/>
        </p:spPr>
        <p:txBody>
          <a:bodyPr wrap="square" lIns="0" tIns="0" rIns="0" bIns="0" rtlCol="0" anchor="ctr"/>
          <a:lstStyle/>
          <a:p>
            <a:pPr indent="0" marL="0">
              <a:buNone/>
            </a:pPr>
            <a:r>
              <a:rPr lang="en-US" sz="1500" b="1" dirty="0">
                <a:solidFill>
                  <a:srgbClr val="10375C"/>
                </a:solidFill>
                <a:latin typeface="Calibri" pitchFamily="34" charset="0"/>
                <a:ea typeface="Calibri" pitchFamily="34" charset="-122"/>
                <a:cs typeface="Calibri" pitchFamily="34" charset="-120"/>
              </a:rPr>
              <a:t>Quarantaine après le premier enrôlement</a:t>
            </a:r>
            <a:endParaRPr lang="en-US" sz="1500" dirty="0"/>
          </a:p>
        </p:txBody>
      </p:sp>
      <p:sp>
        <p:nvSpPr>
          <p:cNvPr id="18" name="Text 16"/>
          <p:cNvSpPr txBox="1"/>
          <p:nvPr/>
        </p:nvSpPr>
        <p:spPr>
          <a:xfrm>
            <a:off x="2103120" y="5166360"/>
            <a:ext cx="9326880" cy="731520"/>
          </a:xfrm>
          <a:prstGeom prst="rect">
            <a:avLst/>
          </a:prstGeom>
          <a:noFill/>
          <a:ln/>
        </p:spPr>
        <p:txBody>
          <a:bodyPr wrap="square" lIns="0" tIns="0" rIns="0" bIns="0" rtlCol="0" anchor="t"/>
          <a:lstStyle/>
          <a:p>
            <a:pPr indent="0" marL="0">
              <a:buNone/>
            </a:pPr>
            <a:r>
              <a:rPr lang="en-US" sz="1200" dirty="0">
                <a:solidFill>
                  <a:srgbClr val="14213D"/>
                </a:solidFill>
                <a:latin typeface="Calibri" pitchFamily="34" charset="0"/>
                <a:ea typeface="Calibri" pitchFamily="34" charset="-122"/>
                <a:cs typeface="Calibri" pitchFamily="34" charset="-120"/>
              </a:rPr>
              <a:t>Pour : limite les dégâts d'un SIM-swap antérieur à tout enrôlement. Contre : pénalise tous les nouveaux usagers. Non retenue par défaut ; risque déclaré.</a:t>
            </a:r>
            <a:endParaRPr lang="en-US" sz="1200" dirty="0"/>
          </a:p>
        </p:txBody>
      </p:sp>
      <p:sp>
        <p:nvSpPr>
          <p:cNvPr id="19" name="Text 17"/>
          <p:cNvSpPr txBox="1"/>
          <p:nvPr/>
        </p:nvSpPr>
        <p:spPr>
          <a:xfrm>
            <a:off x="457200" y="6446520"/>
            <a:ext cx="8229600" cy="274320"/>
          </a:xfrm>
          <a:prstGeom prst="rect">
            <a:avLst/>
          </a:prstGeom>
          <a:noFill/>
          <a:ln/>
        </p:spPr>
        <p:txBody>
          <a:bodyPr wrap="square" lIns="0" tIns="0" rIns="0" bIns="0" rtlCol="0" anchor="ctr"/>
          <a:lstStyle/>
          <a:p>
            <a:pPr indent="0" marL="0">
              <a:buNone/>
            </a:pPr>
            <a:r>
              <a:rPr lang="en-US" sz="900" dirty="0">
                <a:solidFill>
                  <a:srgbClr val="5C6B7A"/>
                </a:solidFill>
                <a:latin typeface="Calibri" pitchFamily="34" charset="0"/>
                <a:ea typeface="Calibri" pitchFamily="34" charset="-122"/>
                <a:cs typeface="Calibri" pitchFamily="34" charset="-120"/>
              </a:rPr>
              <a:t>IdentiShield-CM · Dossier de design de l'application mobile · v1.0 · 25/09/2026</a:t>
            </a:r>
            <a:endParaRPr lang="en-US" sz="900" dirty="0"/>
          </a:p>
        </p:txBody>
      </p:sp>
      <p:sp>
        <p:nvSpPr>
          <p:cNvPr id="20" name="Text 18"/>
          <p:cNvSpPr txBox="1"/>
          <p:nvPr/>
        </p:nvSpPr>
        <p:spPr>
          <a:xfrm>
            <a:off x="11247120" y="6446520"/>
            <a:ext cx="548640" cy="274320"/>
          </a:xfrm>
          <a:prstGeom prst="rect">
            <a:avLst/>
          </a:prstGeom>
          <a:noFill/>
          <a:ln/>
        </p:spPr>
        <p:txBody>
          <a:bodyPr wrap="square" lIns="0" tIns="0" rIns="0" bIns="0"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3000" b="1" dirty="0">
                <a:solidFill>
                  <a:srgbClr val="10375C"/>
                </a:solidFill>
                <a:latin typeface="Calibri" pitchFamily="34" charset="0"/>
                <a:ea typeface="Calibri" pitchFamily="34" charset="-122"/>
                <a:cs typeface="Calibri" pitchFamily="34" charset="-120"/>
              </a:rPr>
              <a:t>Du design au code : les prochaines étapes</a:t>
            </a:r>
            <a:endParaRPr lang="en-US" sz="3000" dirty="0"/>
          </a:p>
        </p:txBody>
      </p:sp>
      <p:sp>
        <p:nvSpPr>
          <p:cNvPr id="3" name="Text 1"/>
          <p:cNvSpPr txBox="1"/>
          <p:nvPr/>
        </p:nvSpPr>
        <p:spPr>
          <a:xfrm>
            <a:off x="457200" y="914400"/>
            <a:ext cx="11247120" cy="365760"/>
          </a:xfrm>
          <a:prstGeom prst="rect">
            <a:avLst/>
          </a:prstGeom>
          <a:noFill/>
          <a:ln/>
        </p:spPr>
        <p:txBody>
          <a:bodyPr wrap="square" lIns="0" tIns="0" rIns="0" bIns="0" rtlCol="0" anchor="ctr"/>
          <a:lstStyle/>
          <a:p>
            <a:pPr indent="0" marL="0">
              <a:buNone/>
            </a:pPr>
            <a:r>
              <a:rPr lang="en-US" sz="1400" dirty="0">
                <a:solidFill>
                  <a:srgbClr val="5C6B7A"/>
                </a:solidFill>
                <a:latin typeface="Calibri" pitchFamily="34" charset="0"/>
                <a:ea typeface="Calibri" pitchFamily="34" charset="-122"/>
                <a:cs typeface="Calibri" pitchFamily="34" charset="-120"/>
              </a:rPr>
              <a:t>La conception est figée (CDC v1.2, SPEC v1.2, diagrammes v1.2). Le code démarre contre un faux serveur, sans attendre le cœur.</a:t>
            </a:r>
            <a:endParaRPr lang="en-US" sz="1400" dirty="0"/>
          </a:p>
        </p:txBody>
      </p:sp>
      <p:sp>
        <p:nvSpPr>
          <p:cNvPr id="4" name="Shape 2"/>
          <p:cNvSpPr/>
          <p:nvPr/>
        </p:nvSpPr>
        <p:spPr>
          <a:xfrm>
            <a:off x="457200" y="1463040"/>
            <a:ext cx="3566160" cy="2103120"/>
          </a:xfrm>
          <a:prstGeom prst="roundRect">
            <a:avLst>
              <a:gd name="adj" fmla="val 5217"/>
            </a:avLst>
          </a:prstGeom>
          <a:solidFill>
            <a:srgbClr val="FFFFFF"/>
          </a:solidFill>
          <a:ln w="9525">
            <a:solidFill>
              <a:srgbClr val="DCE3EC"/>
            </a:solidFill>
            <a:prstDash val="solid"/>
          </a:ln>
        </p:spPr>
      </p:sp>
      <p:sp>
        <p:nvSpPr>
          <p:cNvPr id="5" name="Shape 3"/>
          <p:cNvSpPr/>
          <p:nvPr/>
        </p:nvSpPr>
        <p:spPr>
          <a:xfrm>
            <a:off x="640080" y="1645920"/>
            <a:ext cx="1234440" cy="384048"/>
          </a:xfrm>
          <a:prstGeom prst="roundRect">
            <a:avLst>
              <a:gd name="adj" fmla="val 47619"/>
            </a:avLst>
          </a:prstGeom>
          <a:solidFill>
            <a:srgbClr val="10375C"/>
          </a:solidFill>
          <a:ln w="12700">
            <a:solidFill>
              <a:srgbClr val="10375C"/>
            </a:solidFill>
            <a:prstDash val="solid"/>
          </a:ln>
        </p:spPr>
      </p:sp>
      <p:sp>
        <p:nvSpPr>
          <p:cNvPr id="6" name="Text 4"/>
          <p:cNvSpPr txBox="1"/>
          <p:nvPr/>
        </p:nvSpPr>
        <p:spPr>
          <a:xfrm>
            <a:off x="640080" y="1645920"/>
            <a:ext cx="123444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M-03</a:t>
            </a:r>
            <a:endParaRPr lang="en-US" sz="1150" dirty="0"/>
          </a:p>
        </p:txBody>
      </p:sp>
      <p:sp>
        <p:nvSpPr>
          <p:cNvPr id="7" name="Text 5"/>
          <p:cNvSpPr txBox="1"/>
          <p:nvPr/>
        </p:nvSpPr>
        <p:spPr>
          <a:xfrm>
            <a:off x="640080" y="2121408"/>
            <a:ext cx="3200400" cy="411480"/>
          </a:xfrm>
          <a:prstGeom prst="rect">
            <a:avLst/>
          </a:prstGeom>
          <a:noFill/>
          <a:ln/>
        </p:spPr>
        <p:txBody>
          <a:bodyPr wrap="square" lIns="0" tIns="0" rIns="0" bIns="0" rtlCol="0" anchor="ctr"/>
          <a:lstStyle/>
          <a:p>
            <a:pPr indent="0" marL="0">
              <a:buNone/>
            </a:pPr>
            <a:r>
              <a:rPr lang="en-US" sz="1400" b="1" dirty="0">
                <a:solidFill>
                  <a:srgbClr val="10375C"/>
                </a:solidFill>
                <a:latin typeface="Calibri" pitchFamily="34" charset="0"/>
                <a:ea typeface="Calibri" pitchFamily="34" charset="-122"/>
                <a:cs typeface="Calibri" pitchFamily="34" charset="-120"/>
              </a:rPr>
              <a:t>Contrat d'API et faux serveur</a:t>
            </a:r>
            <a:endParaRPr lang="en-US" sz="1400" dirty="0"/>
          </a:p>
        </p:txBody>
      </p:sp>
      <p:sp>
        <p:nvSpPr>
          <p:cNvPr id="8" name="Text 6"/>
          <p:cNvSpPr txBox="1"/>
          <p:nvPr/>
        </p:nvSpPr>
        <p:spPr>
          <a:xfrm>
            <a:off x="640080" y="2560320"/>
            <a:ext cx="3200400" cy="960120"/>
          </a:xfrm>
          <a:prstGeom prst="rect">
            <a:avLst/>
          </a:prstGeom>
          <a:noFill/>
          <a:ln/>
        </p:spPr>
        <p:txBody>
          <a:bodyPr wrap="square" lIns="0" tIns="0" rIns="0" bIns="0" rtlCol="0" anchor="t"/>
          <a:lstStyle/>
          <a:p>
            <a:pPr indent="0" marL="0">
              <a:buNone/>
            </a:pPr>
            <a:r>
              <a:rPr lang="en-US" sz="1150" dirty="0">
                <a:solidFill>
                  <a:srgbClr val="14213D"/>
                </a:solidFill>
                <a:latin typeface="Calibri" pitchFamily="34" charset="0"/>
                <a:ea typeface="Calibri" pitchFamily="34" charset="-122"/>
                <a:cs typeface="Calibri" pitchFamily="34" charset="-120"/>
              </a:rPr>
              <a:t>contracts/mobile-api.yaml (18 routes) ; serveur factice généré ; même porte de validation que /evaluate.</a:t>
            </a:r>
            <a:endParaRPr lang="en-US" sz="1150" dirty="0"/>
          </a:p>
        </p:txBody>
      </p:sp>
      <p:sp>
        <p:nvSpPr>
          <p:cNvPr id="9" name="Shape 7"/>
          <p:cNvSpPr/>
          <p:nvPr/>
        </p:nvSpPr>
        <p:spPr>
          <a:xfrm>
            <a:off x="4297680" y="1463040"/>
            <a:ext cx="3566160" cy="2103120"/>
          </a:xfrm>
          <a:prstGeom prst="roundRect">
            <a:avLst>
              <a:gd name="adj" fmla="val 5217"/>
            </a:avLst>
          </a:prstGeom>
          <a:solidFill>
            <a:srgbClr val="FFFFFF"/>
          </a:solidFill>
          <a:ln w="9525">
            <a:solidFill>
              <a:srgbClr val="DCE3EC"/>
            </a:solidFill>
            <a:prstDash val="solid"/>
          </a:ln>
        </p:spPr>
      </p:sp>
      <p:sp>
        <p:nvSpPr>
          <p:cNvPr id="10" name="Shape 8"/>
          <p:cNvSpPr/>
          <p:nvPr/>
        </p:nvSpPr>
        <p:spPr>
          <a:xfrm>
            <a:off x="4480560" y="1645920"/>
            <a:ext cx="1234440" cy="384048"/>
          </a:xfrm>
          <a:prstGeom prst="roundRect">
            <a:avLst>
              <a:gd name="adj" fmla="val 47619"/>
            </a:avLst>
          </a:prstGeom>
          <a:solidFill>
            <a:srgbClr val="10375C"/>
          </a:solidFill>
          <a:ln w="12700">
            <a:solidFill>
              <a:srgbClr val="10375C"/>
            </a:solidFill>
            <a:prstDash val="solid"/>
          </a:ln>
        </p:spPr>
      </p:sp>
      <p:sp>
        <p:nvSpPr>
          <p:cNvPr id="11" name="Text 9"/>
          <p:cNvSpPr txBox="1"/>
          <p:nvPr/>
        </p:nvSpPr>
        <p:spPr>
          <a:xfrm>
            <a:off x="4480560" y="1645920"/>
            <a:ext cx="123444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M-05</a:t>
            </a:r>
            <a:endParaRPr lang="en-US" sz="1150" dirty="0"/>
          </a:p>
        </p:txBody>
      </p:sp>
      <p:sp>
        <p:nvSpPr>
          <p:cNvPr id="12" name="Text 10"/>
          <p:cNvSpPr txBox="1"/>
          <p:nvPr/>
        </p:nvSpPr>
        <p:spPr>
          <a:xfrm>
            <a:off x="4480560" y="2121408"/>
            <a:ext cx="3200400" cy="411480"/>
          </a:xfrm>
          <a:prstGeom prst="rect">
            <a:avLst/>
          </a:prstGeom>
          <a:noFill/>
          <a:ln/>
        </p:spPr>
        <p:txBody>
          <a:bodyPr wrap="square" lIns="0" tIns="0" rIns="0" bIns="0" rtlCol="0" anchor="ctr"/>
          <a:lstStyle/>
          <a:p>
            <a:pPr indent="0" marL="0">
              <a:buNone/>
            </a:pPr>
            <a:r>
              <a:rPr lang="en-US" sz="1400" b="1" dirty="0">
                <a:solidFill>
                  <a:srgbClr val="10375C"/>
                </a:solidFill>
                <a:latin typeface="Calibri" pitchFamily="34" charset="0"/>
                <a:ea typeface="Calibri" pitchFamily="34" charset="-122"/>
                <a:cs typeface="Calibri" pitchFamily="34" charset="-120"/>
              </a:rPr>
              <a:t>Échafaudage mobile/</a:t>
            </a:r>
            <a:endParaRPr lang="en-US" sz="1400" dirty="0"/>
          </a:p>
        </p:txBody>
      </p:sp>
      <p:sp>
        <p:nvSpPr>
          <p:cNvPr id="13" name="Text 11"/>
          <p:cNvSpPr txBox="1"/>
          <p:nvPr/>
        </p:nvSpPr>
        <p:spPr>
          <a:xfrm>
            <a:off x="4480560" y="2560320"/>
            <a:ext cx="3200400" cy="960120"/>
          </a:xfrm>
          <a:prstGeom prst="rect">
            <a:avLst/>
          </a:prstGeom>
          <a:noFill/>
          <a:ln/>
        </p:spPr>
        <p:txBody>
          <a:bodyPr wrap="square" lIns="0" tIns="0" rIns="0" bIns="0" rtlCol="0" anchor="t"/>
          <a:lstStyle/>
          <a:p>
            <a:pPr indent="0" marL="0">
              <a:buNone/>
            </a:pPr>
            <a:r>
              <a:rPr lang="en-US" sz="1150" dirty="0">
                <a:solidFill>
                  <a:srgbClr val="14213D"/>
                </a:solidFill>
                <a:latin typeface="Calibri" pitchFamily="34" charset="0"/>
                <a:ea typeface="Calibri" pitchFamily="34" charset="-122"/>
                <a:cs typeface="Calibri" pitchFamily="34" charset="-120"/>
              </a:rPr>
              <a:t>Projet Android (Kotlin, Compose), Android 11 min., ADR-037 fermé avec les versions. Android Studio sur le poste.</a:t>
            </a:r>
            <a:endParaRPr lang="en-US" sz="1150" dirty="0"/>
          </a:p>
        </p:txBody>
      </p:sp>
      <p:sp>
        <p:nvSpPr>
          <p:cNvPr id="14" name="Shape 12"/>
          <p:cNvSpPr/>
          <p:nvPr/>
        </p:nvSpPr>
        <p:spPr>
          <a:xfrm>
            <a:off x="8138160" y="1463040"/>
            <a:ext cx="3566160" cy="2103120"/>
          </a:xfrm>
          <a:prstGeom prst="roundRect">
            <a:avLst>
              <a:gd name="adj" fmla="val 5217"/>
            </a:avLst>
          </a:prstGeom>
          <a:solidFill>
            <a:srgbClr val="FFFFFF"/>
          </a:solidFill>
          <a:ln w="9525">
            <a:solidFill>
              <a:srgbClr val="DCE3EC"/>
            </a:solidFill>
            <a:prstDash val="solid"/>
          </a:ln>
        </p:spPr>
      </p:sp>
      <p:sp>
        <p:nvSpPr>
          <p:cNvPr id="15" name="Shape 13"/>
          <p:cNvSpPr/>
          <p:nvPr/>
        </p:nvSpPr>
        <p:spPr>
          <a:xfrm>
            <a:off x="8321040" y="1645920"/>
            <a:ext cx="1234440" cy="384048"/>
          </a:xfrm>
          <a:prstGeom prst="roundRect">
            <a:avLst>
              <a:gd name="adj" fmla="val 47619"/>
            </a:avLst>
          </a:prstGeom>
          <a:solidFill>
            <a:srgbClr val="10375C"/>
          </a:solidFill>
          <a:ln w="12700">
            <a:solidFill>
              <a:srgbClr val="10375C"/>
            </a:solidFill>
            <a:prstDash val="solid"/>
          </a:ln>
        </p:spPr>
      </p:sp>
      <p:sp>
        <p:nvSpPr>
          <p:cNvPr id="16" name="Text 14"/>
          <p:cNvSpPr txBox="1"/>
          <p:nvPr/>
        </p:nvSpPr>
        <p:spPr>
          <a:xfrm>
            <a:off x="8321040" y="1645920"/>
            <a:ext cx="123444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M-06</a:t>
            </a:r>
            <a:endParaRPr lang="en-US" sz="1150" dirty="0"/>
          </a:p>
        </p:txBody>
      </p:sp>
      <p:sp>
        <p:nvSpPr>
          <p:cNvPr id="17" name="Text 15"/>
          <p:cNvSpPr txBox="1"/>
          <p:nvPr/>
        </p:nvSpPr>
        <p:spPr>
          <a:xfrm>
            <a:off x="8321040" y="2121408"/>
            <a:ext cx="3200400" cy="411480"/>
          </a:xfrm>
          <a:prstGeom prst="rect">
            <a:avLst/>
          </a:prstGeom>
          <a:noFill/>
          <a:ln/>
        </p:spPr>
        <p:txBody>
          <a:bodyPr wrap="square" lIns="0" tIns="0" rIns="0" bIns="0" rtlCol="0" anchor="ctr"/>
          <a:lstStyle/>
          <a:p>
            <a:pPr indent="0" marL="0">
              <a:buNone/>
            </a:pPr>
            <a:r>
              <a:rPr lang="en-US" sz="1400" b="1" dirty="0">
                <a:solidFill>
                  <a:srgbClr val="10375C"/>
                </a:solidFill>
                <a:latin typeface="Calibri" pitchFamily="34" charset="0"/>
                <a:ea typeface="Calibri" pitchFamily="34" charset="-122"/>
                <a:cs typeface="Calibri" pitchFamily="34" charset="-120"/>
              </a:rPr>
              <a:t>Premier enrôlement</a:t>
            </a:r>
            <a:endParaRPr lang="en-US" sz="1400" dirty="0"/>
          </a:p>
        </p:txBody>
      </p:sp>
      <p:sp>
        <p:nvSpPr>
          <p:cNvPr id="18" name="Text 16"/>
          <p:cNvSpPr txBox="1"/>
          <p:nvPr/>
        </p:nvSpPr>
        <p:spPr>
          <a:xfrm>
            <a:off x="8321040" y="2560320"/>
            <a:ext cx="3200400" cy="960120"/>
          </a:xfrm>
          <a:prstGeom prst="rect">
            <a:avLst/>
          </a:prstGeom>
          <a:noFill/>
          <a:ln/>
        </p:spPr>
        <p:txBody>
          <a:bodyPr wrap="square" lIns="0" tIns="0" rIns="0" bIns="0" rtlCol="0" anchor="t"/>
          <a:lstStyle/>
          <a:p>
            <a:pPr indent="0" marL="0">
              <a:buNone/>
            </a:pPr>
            <a:r>
              <a:rPr lang="en-US" sz="1150" dirty="0">
                <a:solidFill>
                  <a:srgbClr val="14213D"/>
                </a:solidFill>
                <a:latin typeface="Calibri" pitchFamily="34" charset="0"/>
                <a:ea typeface="Calibri" pitchFamily="34" charset="-122"/>
                <a:cs typeface="Calibri" pitchFamily="34" charset="-120"/>
              </a:rPr>
              <a:t>E-02 → E-11 contre le faux serveur ; tests d'interface ; capture bloquée vérifiée.</a:t>
            </a:r>
            <a:endParaRPr lang="en-US" sz="1150" dirty="0"/>
          </a:p>
        </p:txBody>
      </p:sp>
      <p:sp>
        <p:nvSpPr>
          <p:cNvPr id="19" name="Shape 17"/>
          <p:cNvSpPr/>
          <p:nvPr/>
        </p:nvSpPr>
        <p:spPr>
          <a:xfrm>
            <a:off x="457200" y="3794760"/>
            <a:ext cx="3566160" cy="2103120"/>
          </a:xfrm>
          <a:prstGeom prst="roundRect">
            <a:avLst>
              <a:gd name="adj" fmla="val 5217"/>
            </a:avLst>
          </a:prstGeom>
          <a:solidFill>
            <a:srgbClr val="FFFFFF"/>
          </a:solidFill>
          <a:ln w="9525">
            <a:solidFill>
              <a:srgbClr val="DCE3EC"/>
            </a:solidFill>
            <a:prstDash val="solid"/>
          </a:ln>
        </p:spPr>
      </p:sp>
      <p:sp>
        <p:nvSpPr>
          <p:cNvPr id="20" name="Shape 18"/>
          <p:cNvSpPr/>
          <p:nvPr/>
        </p:nvSpPr>
        <p:spPr>
          <a:xfrm>
            <a:off x="640080" y="3977640"/>
            <a:ext cx="1234440" cy="384048"/>
          </a:xfrm>
          <a:prstGeom prst="roundRect">
            <a:avLst>
              <a:gd name="adj" fmla="val 47619"/>
            </a:avLst>
          </a:prstGeom>
          <a:solidFill>
            <a:srgbClr val="10375C"/>
          </a:solidFill>
          <a:ln w="12700">
            <a:solidFill>
              <a:srgbClr val="10375C"/>
            </a:solidFill>
            <a:prstDash val="solid"/>
          </a:ln>
        </p:spPr>
      </p:sp>
      <p:sp>
        <p:nvSpPr>
          <p:cNvPr id="21" name="Text 19"/>
          <p:cNvSpPr txBox="1"/>
          <p:nvPr/>
        </p:nvSpPr>
        <p:spPr>
          <a:xfrm>
            <a:off x="640080" y="3977640"/>
            <a:ext cx="123444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M-07</a:t>
            </a:r>
            <a:endParaRPr lang="en-US" sz="1150" dirty="0"/>
          </a:p>
        </p:txBody>
      </p:sp>
      <p:sp>
        <p:nvSpPr>
          <p:cNvPr id="22" name="Text 20"/>
          <p:cNvSpPr txBox="1"/>
          <p:nvPr/>
        </p:nvSpPr>
        <p:spPr>
          <a:xfrm>
            <a:off x="640080" y="4453128"/>
            <a:ext cx="3200400" cy="411480"/>
          </a:xfrm>
          <a:prstGeom prst="rect">
            <a:avLst/>
          </a:prstGeom>
          <a:noFill/>
          <a:ln/>
        </p:spPr>
        <p:txBody>
          <a:bodyPr wrap="square" lIns="0" tIns="0" rIns="0" bIns="0" rtlCol="0" anchor="ctr"/>
          <a:lstStyle/>
          <a:p>
            <a:pPr indent="0" marL="0">
              <a:buNone/>
            </a:pPr>
            <a:r>
              <a:rPr lang="en-US" sz="1400" b="1" dirty="0">
                <a:solidFill>
                  <a:srgbClr val="10375C"/>
                </a:solidFill>
                <a:latin typeface="Calibri" pitchFamily="34" charset="0"/>
                <a:ea typeface="Calibri" pitchFamily="34" charset="-122"/>
                <a:cs typeface="Calibri" pitchFamily="34" charset="-120"/>
              </a:rPr>
              <a:t>Quotidien et envoi signé</a:t>
            </a:r>
            <a:endParaRPr lang="en-US" sz="1400" dirty="0"/>
          </a:p>
        </p:txBody>
      </p:sp>
      <p:sp>
        <p:nvSpPr>
          <p:cNvPr id="23" name="Text 21"/>
          <p:cNvSpPr txBox="1"/>
          <p:nvPr/>
        </p:nvSpPr>
        <p:spPr>
          <a:xfrm>
            <a:off x="640080" y="4892040"/>
            <a:ext cx="3200400" cy="960120"/>
          </a:xfrm>
          <a:prstGeom prst="rect">
            <a:avLst/>
          </a:prstGeom>
          <a:noFill/>
          <a:ln/>
        </p:spPr>
        <p:txBody>
          <a:bodyPr wrap="square" lIns="0" tIns="0" rIns="0" bIns="0" rtlCol="0" anchor="t"/>
          <a:lstStyle/>
          <a:p>
            <a:pPr indent="0" marL="0">
              <a:buNone/>
            </a:pPr>
            <a:r>
              <a:rPr lang="en-US" sz="1150" dirty="0">
                <a:solidFill>
                  <a:srgbClr val="14213D"/>
                </a:solidFill>
                <a:latin typeface="Calibri" pitchFamily="34" charset="0"/>
                <a:ea typeface="Calibri" pitchFamily="34" charset="-122"/>
                <a:cs typeface="Calibri" pitchFamily="34" charset="-120"/>
              </a:rPr>
              <a:t>Session, signature ADR-018, quatre décisions ; tests négatifs (rejeu, clé révoquée).</a:t>
            </a:r>
            <a:endParaRPr lang="en-US" sz="1150" dirty="0"/>
          </a:p>
        </p:txBody>
      </p:sp>
      <p:sp>
        <p:nvSpPr>
          <p:cNvPr id="24" name="Shape 22"/>
          <p:cNvSpPr/>
          <p:nvPr/>
        </p:nvSpPr>
        <p:spPr>
          <a:xfrm>
            <a:off x="4297680" y="3794760"/>
            <a:ext cx="3566160" cy="2103120"/>
          </a:xfrm>
          <a:prstGeom prst="roundRect">
            <a:avLst>
              <a:gd name="adj" fmla="val 5217"/>
            </a:avLst>
          </a:prstGeom>
          <a:solidFill>
            <a:srgbClr val="FFFFFF"/>
          </a:solidFill>
          <a:ln w="9525">
            <a:solidFill>
              <a:srgbClr val="DCE3EC"/>
            </a:solidFill>
            <a:prstDash val="solid"/>
          </a:ln>
        </p:spPr>
      </p:sp>
      <p:sp>
        <p:nvSpPr>
          <p:cNvPr id="25" name="Shape 23"/>
          <p:cNvSpPr/>
          <p:nvPr/>
        </p:nvSpPr>
        <p:spPr>
          <a:xfrm>
            <a:off x="4480560" y="3977640"/>
            <a:ext cx="1234440" cy="384048"/>
          </a:xfrm>
          <a:prstGeom prst="roundRect">
            <a:avLst>
              <a:gd name="adj" fmla="val 47619"/>
            </a:avLst>
          </a:prstGeom>
          <a:solidFill>
            <a:srgbClr val="10375C"/>
          </a:solidFill>
          <a:ln w="12700">
            <a:solidFill>
              <a:srgbClr val="10375C"/>
            </a:solidFill>
            <a:prstDash val="solid"/>
          </a:ln>
        </p:spPr>
      </p:sp>
      <p:sp>
        <p:nvSpPr>
          <p:cNvPr id="26" name="Text 24"/>
          <p:cNvSpPr txBox="1"/>
          <p:nvPr/>
        </p:nvSpPr>
        <p:spPr>
          <a:xfrm>
            <a:off x="4480560" y="3977640"/>
            <a:ext cx="123444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M-08</a:t>
            </a:r>
            <a:endParaRPr lang="en-US" sz="1150" dirty="0"/>
          </a:p>
        </p:txBody>
      </p:sp>
      <p:sp>
        <p:nvSpPr>
          <p:cNvPr id="27" name="Text 25"/>
          <p:cNvSpPr txBox="1"/>
          <p:nvPr/>
        </p:nvSpPr>
        <p:spPr>
          <a:xfrm>
            <a:off x="4480560" y="4453128"/>
            <a:ext cx="3200400" cy="411480"/>
          </a:xfrm>
          <a:prstGeom prst="rect">
            <a:avLst/>
          </a:prstGeom>
          <a:noFill/>
          <a:ln/>
        </p:spPr>
        <p:txBody>
          <a:bodyPr wrap="square" lIns="0" tIns="0" rIns="0" bIns="0" rtlCol="0" anchor="ctr"/>
          <a:lstStyle/>
          <a:p>
            <a:pPr indent="0" marL="0">
              <a:buNone/>
            </a:pPr>
            <a:r>
              <a:rPr lang="en-US" sz="1400" b="1" dirty="0">
                <a:solidFill>
                  <a:srgbClr val="10375C"/>
                </a:solidFill>
                <a:latin typeface="Calibri" pitchFamily="34" charset="0"/>
                <a:ea typeface="Calibri" pitchFamily="34" charset="-122"/>
                <a:cs typeface="Calibri" pitchFamily="34" charset="-120"/>
              </a:rPr>
              <a:t>Réenrôlement et alertes</a:t>
            </a:r>
            <a:endParaRPr lang="en-US" sz="1400" dirty="0"/>
          </a:p>
        </p:txBody>
      </p:sp>
      <p:sp>
        <p:nvSpPr>
          <p:cNvPr id="28" name="Text 26"/>
          <p:cNvSpPr txBox="1"/>
          <p:nvPr/>
        </p:nvSpPr>
        <p:spPr>
          <a:xfrm>
            <a:off x="4480560" y="4892040"/>
            <a:ext cx="3200400" cy="960120"/>
          </a:xfrm>
          <a:prstGeom prst="rect">
            <a:avLst/>
          </a:prstGeom>
          <a:noFill/>
          <a:ln/>
        </p:spPr>
        <p:txBody>
          <a:bodyPr wrap="square" lIns="0" tIns="0" rIns="0" bIns="0" rtlCol="0" anchor="t"/>
          <a:lstStyle/>
          <a:p>
            <a:pPr indent="0" marL="0">
              <a:buNone/>
            </a:pPr>
            <a:r>
              <a:rPr lang="en-US" sz="1150" dirty="0">
                <a:solidFill>
                  <a:srgbClr val="14213D"/>
                </a:solidFill>
                <a:latin typeface="Calibri" pitchFamily="34" charset="0"/>
                <a:ea typeface="Calibri" pitchFamily="34" charset="-122"/>
                <a:cs typeface="Calibri" pitchFamily="34" charset="-120"/>
              </a:rPr>
              <a:t>Clé de récupération, freinage, alertes signées ; test sur deux téléphones.</a:t>
            </a:r>
            <a:endParaRPr lang="en-US" sz="1150" dirty="0"/>
          </a:p>
        </p:txBody>
      </p:sp>
      <p:sp>
        <p:nvSpPr>
          <p:cNvPr id="29" name="Shape 27"/>
          <p:cNvSpPr/>
          <p:nvPr/>
        </p:nvSpPr>
        <p:spPr>
          <a:xfrm>
            <a:off x="8138160" y="3794760"/>
            <a:ext cx="3566160" cy="2103120"/>
          </a:xfrm>
          <a:prstGeom prst="roundRect">
            <a:avLst>
              <a:gd name="adj" fmla="val 5217"/>
            </a:avLst>
          </a:prstGeom>
          <a:solidFill>
            <a:srgbClr val="E3F5F2"/>
          </a:solidFill>
          <a:ln w="9525">
            <a:solidFill>
              <a:srgbClr val="DCE3EC"/>
            </a:solidFill>
            <a:prstDash val="solid"/>
          </a:ln>
        </p:spPr>
      </p:sp>
      <p:sp>
        <p:nvSpPr>
          <p:cNvPr id="30" name="Shape 28"/>
          <p:cNvSpPr/>
          <p:nvPr/>
        </p:nvSpPr>
        <p:spPr>
          <a:xfrm>
            <a:off x="8321040" y="3977640"/>
            <a:ext cx="1234440" cy="384048"/>
          </a:xfrm>
          <a:prstGeom prst="roundRect">
            <a:avLst>
              <a:gd name="adj" fmla="val 47619"/>
            </a:avLst>
          </a:prstGeom>
          <a:solidFill>
            <a:srgbClr val="10375C"/>
          </a:solidFill>
          <a:ln w="12700">
            <a:solidFill>
              <a:srgbClr val="10375C"/>
            </a:solidFill>
            <a:prstDash val="solid"/>
          </a:ln>
        </p:spPr>
      </p:sp>
      <p:sp>
        <p:nvSpPr>
          <p:cNvPr id="31" name="Text 29"/>
          <p:cNvSpPr txBox="1"/>
          <p:nvPr/>
        </p:nvSpPr>
        <p:spPr>
          <a:xfrm>
            <a:off x="8321040" y="3977640"/>
            <a:ext cx="123444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M-09 · M-10</a:t>
            </a:r>
            <a:endParaRPr lang="en-US" sz="1150" dirty="0"/>
          </a:p>
        </p:txBody>
      </p:sp>
      <p:sp>
        <p:nvSpPr>
          <p:cNvPr id="32" name="Text 30"/>
          <p:cNvSpPr txBox="1"/>
          <p:nvPr/>
        </p:nvSpPr>
        <p:spPr>
          <a:xfrm>
            <a:off x="8321040" y="4453128"/>
            <a:ext cx="3200400" cy="411480"/>
          </a:xfrm>
          <a:prstGeom prst="rect">
            <a:avLst/>
          </a:prstGeom>
          <a:noFill/>
          <a:ln/>
        </p:spPr>
        <p:txBody>
          <a:bodyPr wrap="square" lIns="0" tIns="0" rIns="0" bIns="0" rtlCol="0" anchor="ctr"/>
          <a:lstStyle/>
          <a:p>
            <a:pPr indent="0" marL="0">
              <a:buNone/>
            </a:pPr>
            <a:r>
              <a:rPr lang="en-US" sz="1400" b="1" dirty="0">
                <a:solidFill>
                  <a:srgbClr val="10375C"/>
                </a:solidFill>
                <a:latin typeface="Calibri" pitchFamily="34" charset="0"/>
                <a:ea typeface="Calibri" pitchFamily="34" charset="-122"/>
                <a:cs typeface="Calibri" pitchFamily="34" charset="-120"/>
              </a:rPr>
              <a:t>Cœur et intégration (Mois 4)</a:t>
            </a:r>
            <a:endParaRPr lang="en-US" sz="1400" dirty="0"/>
          </a:p>
        </p:txBody>
      </p:sp>
      <p:sp>
        <p:nvSpPr>
          <p:cNvPr id="33" name="Text 31"/>
          <p:cNvSpPr txBox="1"/>
          <p:nvPr/>
        </p:nvSpPr>
        <p:spPr>
          <a:xfrm>
            <a:off x="8321040" y="4892040"/>
            <a:ext cx="3200400" cy="960120"/>
          </a:xfrm>
          <a:prstGeom prst="rect">
            <a:avLst/>
          </a:prstGeom>
          <a:noFill/>
          <a:ln/>
        </p:spPr>
        <p:txBody>
          <a:bodyPr wrap="square" lIns="0" tIns="0" rIns="0" bIns="0" rtlCol="0" anchor="t"/>
          <a:lstStyle/>
          <a:p>
            <a:pPr indent="0" marL="0">
              <a:buNone/>
            </a:pPr>
            <a:r>
              <a:rPr lang="en-US" sz="1150" dirty="0">
                <a:solidFill>
                  <a:srgbClr val="14213D"/>
                </a:solidFill>
                <a:latin typeface="Calibri" pitchFamily="34" charset="0"/>
                <a:ea typeface="Calibri" pitchFamily="34" charset="-122"/>
                <a:cs typeface="Calibri" pitchFamily="34" charset="-120"/>
              </a:rPr>
              <a:t>Routes réelles, attestation, nonces ; acte 2 de la démonstration : l'attaquant échoue, la victime est alertée.</a:t>
            </a:r>
            <a:endParaRPr lang="en-US" sz="1150" dirty="0"/>
          </a:p>
        </p:txBody>
      </p:sp>
      <p:sp>
        <p:nvSpPr>
          <p:cNvPr id="34" name="Text 32"/>
          <p:cNvSpPr txBox="1"/>
          <p:nvPr/>
        </p:nvSpPr>
        <p:spPr>
          <a:xfrm>
            <a:off x="457200" y="6446520"/>
            <a:ext cx="8229600" cy="274320"/>
          </a:xfrm>
          <a:prstGeom prst="rect">
            <a:avLst/>
          </a:prstGeom>
          <a:noFill/>
          <a:ln/>
        </p:spPr>
        <p:txBody>
          <a:bodyPr wrap="square" lIns="0" tIns="0" rIns="0" bIns="0" rtlCol="0" anchor="ctr"/>
          <a:lstStyle/>
          <a:p>
            <a:pPr indent="0" marL="0">
              <a:buNone/>
            </a:pPr>
            <a:r>
              <a:rPr lang="en-US" sz="900" dirty="0">
                <a:solidFill>
                  <a:srgbClr val="5C6B7A"/>
                </a:solidFill>
                <a:latin typeface="Calibri" pitchFamily="34" charset="0"/>
                <a:ea typeface="Calibri" pitchFamily="34" charset="-122"/>
                <a:cs typeface="Calibri" pitchFamily="34" charset="-120"/>
              </a:rPr>
              <a:t>IdentiShield-CM · Dossier de design de l'application mobile · v1.0 · 25/09/2026</a:t>
            </a:r>
            <a:endParaRPr lang="en-US" sz="900" dirty="0"/>
          </a:p>
        </p:txBody>
      </p:sp>
      <p:sp>
        <p:nvSpPr>
          <p:cNvPr id="35" name="Text 33"/>
          <p:cNvSpPr txBox="1"/>
          <p:nvPr/>
        </p:nvSpPr>
        <p:spPr>
          <a:xfrm>
            <a:off x="11247120" y="6446520"/>
            <a:ext cx="548640" cy="274320"/>
          </a:xfrm>
          <a:prstGeom prst="rect">
            <a:avLst/>
          </a:prstGeom>
          <a:noFill/>
          <a:ln/>
        </p:spPr>
        <p:txBody>
          <a:bodyPr wrap="square" lIns="0" tIns="0" rIns="0" bIns="0"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B2540"/>
        </a:solidFill>
      </p:bgPr>
    </p:bg>
    <p:spTree>
      <p:nvGrpSpPr>
        <p:cNvPr id="1" name=""/>
        <p:cNvGrpSpPr/>
        <p:nvPr/>
      </p:nvGrpSpPr>
      <p:grpSpPr>
        <a:xfrm>
          <a:off x="0" y="0"/>
          <a:ext cx="0" cy="0"/>
          <a:chOff x="0" y="0"/>
          <a:chExt cx="0" cy="0"/>
        </a:xfrm>
      </p:grpSpPr>
      <p:pic>
        <p:nvPicPr>
          <p:cNvPr id="2" name="Image 0" descr="/home/claude/design/out/logo_dark.png">    </p:cNvPr>
          <p:cNvPicPr>
            <a:picLocks noChangeAspect="1"/>
          </p:cNvPicPr>
          <p:nvPr/>
        </p:nvPicPr>
        <p:blipFill>
          <a:blip r:embed="rId1"/>
          <a:stretch>
            <a:fillRect/>
          </a:stretch>
        </p:blipFill>
        <p:spPr>
          <a:xfrm>
            <a:off x="640080" y="1280160"/>
            <a:ext cx="6583680" cy="978408"/>
          </a:xfrm>
          <a:prstGeom prst="rect">
            <a:avLst/>
          </a:prstGeom>
        </p:spPr>
      </p:pic>
      <p:sp>
        <p:nvSpPr>
          <p:cNvPr id="3" name="Text 0"/>
          <p:cNvSpPr txBox="1"/>
          <p:nvPr/>
        </p:nvSpPr>
        <p:spPr>
          <a:xfrm>
            <a:off x="640080" y="2743200"/>
            <a:ext cx="8595360" cy="82296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Votre téléphone est votre clé.</a:t>
            </a:r>
            <a:endParaRPr lang="en-US" sz="3600" dirty="0"/>
          </a:p>
        </p:txBody>
      </p:sp>
      <p:sp>
        <p:nvSpPr>
          <p:cNvPr id="4" name="Text 1"/>
          <p:cNvSpPr txBox="1"/>
          <p:nvPr/>
        </p:nvSpPr>
        <p:spPr>
          <a:xfrm>
            <a:off x="640080" y="3566160"/>
            <a:ext cx="8503920" cy="109728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Le numéro ne suffit plus. Pour opérer, il faut le téléphone lié ; pour lier un téléphone, il faut la clé de récupération ; et le titulaire est prévenu à chaque tentative.</a:t>
            </a:r>
            <a:endParaRPr lang="en-US" sz="1600" dirty="0"/>
          </a:p>
        </p:txBody>
      </p:sp>
      <p:sp>
        <p:nvSpPr>
          <p:cNvPr id="5" name="Text 2"/>
          <p:cNvSpPr txBox="1"/>
          <p:nvPr/>
        </p:nvSpPr>
        <p:spPr>
          <a:xfrm>
            <a:off x="640080" y="4846320"/>
            <a:ext cx="8503920" cy="1371600"/>
          </a:xfrm>
          <a:prstGeom prst="rect">
            <a:avLst/>
          </a:prstGeom>
          <a:noFill/>
          <a:ln/>
        </p:spPr>
        <p:txBody>
          <a:bodyPr wrap="square" lIns="0" tIns="0" rIns="0" bIns="0" rtlCol="0" anchor="ctr"/>
          <a:lstStyle/>
          <a:p>
            <a:pPr indent="0" marL="0">
              <a:spcAft>
                <a:spcPts val="400"/>
              </a:spcAft>
              <a:buNone/>
            </a:pPr>
            <a:r>
              <a:rPr lang="en-US" sz="1150" b="1" dirty="0">
                <a:solidFill>
                  <a:srgbClr val="A9BCD6"/>
                </a:solidFill>
                <a:latin typeface="Calibri" pitchFamily="34" charset="0"/>
                <a:ea typeface="Calibri" pitchFamily="34" charset="-122"/>
                <a:cs typeface="Calibri" pitchFamily="34" charset="-120"/>
              </a:rPr>
              <a:t>Documents de référence</a:t>
            </a:r>
            <a:endParaRPr lang="en-US" sz="1150" dirty="0"/>
          </a:p>
          <a:p>
            <a:pPr indent="0" marL="0">
              <a:spcAft>
                <a:spcPts val="400"/>
              </a:spcAft>
              <a:buNone/>
            </a:pPr>
            <a:r>
              <a:rPr lang="en-US" sz="1150" dirty="0">
                <a:solidFill>
                  <a:srgbClr val="A9BCD6"/>
                </a:solidFill>
                <a:latin typeface="Calibri" pitchFamily="34" charset="0"/>
                <a:ea typeface="Calibri" pitchFamily="34" charset="-122"/>
                <a:cs typeface="Calibri" pitchFamily="34" charset="-120"/>
              </a:rPr>
              <a:t>ISC-MOB-CDC v1.2 (cahier des charges) · ISC-MOB-SPEC v1.2 (spécification, diagrammes) · ISC-SRS-FR v1.4 · ISC-SAD v1.3 · Modèle de menace v1.3 · ADR-029 à 037</a:t>
            </a:r>
            <a:endParaRPr lang="en-US" sz="1150" dirty="0"/>
          </a:p>
          <a:p>
            <a:pPr indent="0" marL="0">
              <a:spcAft>
                <a:spcPts val="400"/>
              </a:spcAft>
              <a:buNone/>
            </a:pPr>
            <a:r>
              <a:rPr lang="en-US" sz="1150" dirty="0">
                <a:solidFill>
                  <a:srgbClr val="A9BCD6"/>
                </a:solidFill>
                <a:latin typeface="Calibri" pitchFamily="34" charset="0"/>
                <a:ea typeface="Calibri" pitchFamily="34" charset="-122"/>
                <a:cs typeface="Calibri" pitchFamily="34" charset="-120"/>
              </a:rPr>
              <a:t>Toutes les données de ce dossier sont fictives (plage 677 000 000 – 677 009 999, IMSI 624-01). Le constat sur l'application déployée n'est pas publié.</a:t>
            </a:r>
            <a:endParaRPr lang="en-US" sz="1150" dirty="0"/>
          </a:p>
        </p:txBody>
      </p:sp>
      <p:pic>
        <p:nvPicPr>
          <p:cNvPr id="6" name="Image 1" descr="/home/claude/design/out/E24.png">    </p:cNvPr>
          <p:cNvPicPr>
            <a:picLocks noChangeAspect="1"/>
          </p:cNvPicPr>
          <p:nvPr/>
        </p:nvPicPr>
        <p:blipFill>
          <a:blip r:embed="rId2"/>
          <a:stretch>
            <a:fillRect/>
          </a:stretch>
        </p:blipFill>
        <p:spPr>
          <a:xfrm>
            <a:off x="9418320" y="548640"/>
            <a:ext cx="2194560" cy="4507992"/>
          </a:xfrm>
          <a:prstGeom prst="rect">
            <a:avLst/>
          </a:prstGeom>
        </p:spPr>
      </p:pic>
      <p:sp>
        <p:nvSpPr>
          <p:cNvPr id="7" name="Text 3"/>
          <p:cNvSpPr txBox="1"/>
          <p:nvPr/>
        </p:nvSpPr>
        <p:spPr>
          <a:xfrm>
            <a:off x="457200" y="6446520"/>
            <a:ext cx="8229600" cy="274320"/>
          </a:xfrm>
          <a:prstGeom prst="rect">
            <a:avLst/>
          </a:prstGeom>
          <a:noFill/>
          <a:ln/>
        </p:spPr>
        <p:txBody>
          <a:bodyPr wrap="square" lIns="0" tIns="0" rIns="0" bIns="0" rtlCol="0" anchor="ctr"/>
          <a:lstStyle/>
          <a:p>
            <a:pPr indent="0" marL="0">
              <a:buNone/>
            </a:pPr>
            <a:r>
              <a:rPr lang="en-US" sz="900" dirty="0">
                <a:solidFill>
                  <a:srgbClr val="A9BCD6"/>
                </a:solidFill>
                <a:latin typeface="Calibri" pitchFamily="34" charset="0"/>
                <a:ea typeface="Calibri" pitchFamily="34" charset="-122"/>
                <a:cs typeface="Calibri" pitchFamily="34" charset="-120"/>
              </a:rPr>
              <a:t>IdentiShield-CM · Dossier de design de l'application mobile · v1.0 · 25/09/2026</a:t>
            </a:r>
            <a:endParaRPr lang="en-US" sz="900" dirty="0"/>
          </a:p>
        </p:txBody>
      </p:sp>
      <p:sp>
        <p:nvSpPr>
          <p:cNvPr id="8" name="Text 4"/>
          <p:cNvSpPr txBox="1"/>
          <p:nvPr/>
        </p:nvSpPr>
        <p:spPr>
          <a:xfrm>
            <a:off x="11247120" y="6446520"/>
            <a:ext cx="548640" cy="274320"/>
          </a:xfrm>
          <a:prstGeom prst="rect">
            <a:avLst/>
          </a:prstGeom>
          <a:noFill/>
          <a:ln/>
        </p:spPr>
        <p:txBody>
          <a:bodyPr wrap="square" lIns="0" tIns="0" rIns="0" bIns="0" rtlCol="0" anchor="ctr"/>
          <a:lstStyle/>
          <a:p>
            <a:pPr algn="r" indent="0" marL="0">
              <a:buNone/>
            </a:pPr>
            <a:r>
              <a:rPr lang="en-US" sz="900" dirty="0">
                <a:solidFill>
                  <a:srgbClr val="A9BCD6"/>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IdentiShield-CM — Dossier de design de l'application mobile</dc:title>
  <dc:subject>PptxGenJS Presentation</dc:subject>
  <dc:creator>YENGUE MESSAH KATE YVANA</dc:creator>
  <cp:lastModifiedBy>YENGUE MESSAH KATE YVANA</cp:lastModifiedBy>
  <cp:revision>1</cp:revision>
  <dcterms:created xsi:type="dcterms:W3CDTF">2026-09-25T17:36:38Z</dcterms:created>
  <dcterms:modified xsi:type="dcterms:W3CDTF">2026-09-25T17:36:38Z</dcterms:modified>
</cp:coreProperties>
</file>